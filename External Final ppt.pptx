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 id="2147483672" r:id="rId4"/>
    <p:sldMasterId id="2147483684" r:id="rId5"/>
    <p:sldMasterId id="2147483696" r:id="rId6"/>
  </p:sldMasterIdLst>
  <p:sldIdLst>
    <p:sldId id="256" r:id="rId7"/>
    <p:sldId id="269" r:id="rId8"/>
    <p:sldId id="265" r:id="rId9"/>
    <p:sldId id="261" r:id="rId10"/>
    <p:sldId id="267" r:id="rId11"/>
    <p:sldId id="262" r:id="rId12"/>
    <p:sldId id="327" r:id="rId13"/>
    <p:sldId id="264" r:id="rId14"/>
    <p:sldId id="273" r:id="rId15"/>
    <p:sldId id="276" r:id="rId16"/>
    <p:sldId id="274" r:id="rId17"/>
    <p:sldId id="302" r:id="rId18"/>
    <p:sldId id="277" r:id="rId19"/>
    <p:sldId id="278" r:id="rId20"/>
    <p:sldId id="308" r:id="rId21"/>
    <p:sldId id="319" r:id="rId22"/>
    <p:sldId id="326" r:id="rId23"/>
    <p:sldId id="310" r:id="rId24"/>
    <p:sldId id="321" r:id="rId25"/>
    <p:sldId id="322" r:id="rId26"/>
    <p:sldId id="323" r:id="rId27"/>
    <p:sldId id="324" r:id="rId28"/>
    <p:sldId id="290" r:id="rId29"/>
    <p:sldId id="291" r:id="rId30"/>
    <p:sldId id="292" r:id="rId31"/>
    <p:sldId id="293" r:id="rId32"/>
    <p:sldId id="294" r:id="rId33"/>
    <p:sldId id="295" r:id="rId34"/>
    <p:sldId id="296" r:id="rId35"/>
    <p:sldId id="297" r:id="rId36"/>
    <p:sldId id="298" r:id="rId37"/>
    <p:sldId id="299" r:id="rId38"/>
    <p:sldId id="300" r:id="rId39"/>
    <p:sldId id="325" r:id="rId40"/>
    <p:sldId id="301" r:id="rId41"/>
    <p:sldId id="266" r:id="rId42"/>
    <p:sldId id="260" r:id="rId43"/>
    <p:sldId id="270"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66CCFF"/>
    <a:srgbClr val="0033CC"/>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6247" autoAdjust="0"/>
  </p:normalViewPr>
  <p:slideViewPr>
    <p:cSldViewPr snapToGrid="0" showGuides="1">
      <p:cViewPr varScale="1">
        <p:scale>
          <a:sx n="82" d="100"/>
          <a:sy n="82" d="100"/>
        </p:scale>
        <p:origin x="720" y="72"/>
      </p:cViewPr>
      <p:guideLst>
        <p:guide orient="horz" pos="2159"/>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645.000 59.000 24575,'18.000'0.000'0,"0.000"0.000"0,0.000-2.000 0,0.000 0.000 0,0.000-1.000 0,0.000-1.000 0,18.000-7.000 0,-36.000 11.000 0,0.000 0.000 0,-1.000 0.000 0,1.000 0.000 0,0.000 0.000 0,0.000 0.000 0,0.000 0.000 0,0.000 0.000 0,0.000 0.000 0,0.000 0.000 0,0.000 0.000 0,0.000 0.000 0,0.000 0.000 0,0.000 0.000 0,0.000 0.000 0,0.000 0.000 0,0.000 0.000 0,0.000 0.000 0,0.000 0.000 0,-1.000 0.000 0,1.000 0.000 0,0.000 0.000 0,0.000 0.000 0,0.000 0.000 0,0.000 0.000 0,0.000 0.000 0,0.000 0.000 0,0.000 0.000 0,0.000-1.000 0,0.000 1.000 0,0.000 0.000 0,0.000 0.000 0,0.000 0.000 0,0.000 0.000 0,0.000 0.000 0,0.000 0.000 0,0.000 0.000 0,0.000 0.000 0,0.000 0.000 0,0.000 0.000 0,0.000 0.000 0,0.000 0.000 0,0.000 0.000 0,0.000 0.000 0,0.000-1.000 0,0.000 1.000 0,0.000 0.000 0,0.000 0.000 0,0.000 0.000 0,0.000 0.000 0,0.000 0.000 0,0.000 0.000 0,0.000 0.000 0,0.000 0.000 0,0.000 0.000 0,0.000 0.000 0,0.000 0.000 0,0.000 0.000 0,0.000 0.000 0,1.000 0.000 0,-13.000-3.000 0,-14.000 2.000 0,-280.000 2.000 0,467.000 11.000 0,144.000 4.000 0,-195.000-14.000 0,108.000-5.000 0,-198.000-2.000 0,-20.000 5.000 0,0.000 0.000 0,0.000-1.000 0,0.000 1.000 0,0.000 0.000 0,0.000 0.000 0,0.000 0.000 0,0.000-1.000 0,0.000 1.000 0,0.000 0.000 0,0.000 0.000 0,0.000-1.000 0,0.000 1.000 0,0.000 0.000 0,0.000 0.000 0,0.000-1.000 0,0.000 1.000 0,0.000 0.000 0,0.000 0.000 0,0.000 0.000 0,-1.000-1.000 0,1.000 1.000 0,0.000 0.000 0,0.000 0.000 0,0.000 0.000 0,0.000-1.000 0,0.000 1.000 0,0.000 0.000 0,-1.000 0.000 0,1.000 0.000 0,0.000 0.000 0,0.000-1.000 0,0.000 1.000 0,-1.000 0.000 0,1.000 0.000 0,0.000 0.000 0,0.000 0.000 0,0.000 0.000 0,-1.000 0.000 0,1.000 0.000 0,-4.000-2.000 0,0.000 0.000 0,0.000 0.000 0,0.000 0.000 0,0.000 1.000 0,0.000 0.000 0,-7.000-1.000 0,-64.000-4.000 0,-120.000 6.000 0,77.000 2.000 0,2.000 0.000 0,-120.000-4.000 0,156.000-4.000 0,-53.000-2.000 0,-11.000-7.000 0,108.000 16.000-47,22.000 0.000-283,-1.000 0.000 1,1.000-1.000-1,-28.000-5.000 1</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156.000 0.000 24575,'-2.000'0.000'0,"-4.000"0.000"0,-3.000 3.000 0,-2.000 0.000 0,-1.000 0.000 0,-2.000 2.000 0,-1.000 0.000 0,0.000 1.000 0,1.000 3.000 0,-1.000 2.000 0,1.000 1.000 0,-1.000 1.000 0,1.000 1.000 0</inkml:trace>
</inkml:ink>
</file>

<file path=ppt/ink/ink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1.000 52.000 24575,'2.000'-2.000'0,"3.000"-2.000"0,4.000 1.000 0,2.000 1.000 0,2.000 0.000 0,3.000-2.000 0,2.000 1.000 0,0.000-1.000 0,-1.000 2.000 0,-1.000 0.000 0,0.000 1.000 0,-1.000-2.000 0,-1.000 0.000 0,0.000-5.000 0,0.000 0.000 0</inkml:trace>
</inkml:ink>
</file>

<file path=ppt/ink/ink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1.000 0.000 24575,'0.000'0.000'-8191</inkml:trace>
</inkml:ink>
</file>

<file path=ppt/ink/ink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645.000 59.000 24575,'18.000'0.000'0,"0.000"0.000"0,0.000-2.000 0,0.000 0.000 0,0.000-1.000 0,0.000-1.000 0,18.000-7.000 0,-36.000 11.000 0,0.000 0.000 0,-1.000 0.000 0,1.000 0.000 0,0.000 0.000 0,0.000 0.000 0,0.000 0.000 0,0.000 0.000 0,0.000 0.000 0,0.000 0.000 0,0.000 0.000 0,0.000 0.000 0,0.000 0.000 0,0.000 0.000 0,0.000 0.000 0,0.000 0.000 0,0.000 0.000 0,0.000 0.000 0,0.000 0.000 0,-1.000 0.000 0,1.000 0.000 0,0.000 0.000 0,0.000 0.000 0,0.000 0.000 0,0.000 0.000 0,0.000 0.000 0,0.000 0.000 0,0.000 0.000 0,0.000-1.000 0,0.000 1.000 0,0.000 0.000 0,0.000 0.000 0,0.000 0.000 0,0.000 0.000 0,0.000 0.000 0,0.000 0.000 0,0.000 0.000 0,0.000 0.000 0,0.000 0.000 0,0.000 0.000 0,0.000 0.000 0,0.000 0.000 0,0.000 0.000 0,0.000 0.000 0,0.000-1.000 0,0.000 1.000 0,0.000 0.000 0,0.000 0.000 0,0.000 0.000 0,0.000 0.000 0,0.000 0.000 0,0.000 0.000 0,0.000 0.000 0,0.000 0.000 0,0.000 0.000 0,0.000 0.000 0,0.000 0.000 0,0.000 0.000 0,0.000 0.000 0,1.000 0.000 0,-13.000-3.000 0,-14.000 2.000 0,-280.000 2.000 0,467.000 11.000 0,144.000 4.000 0,-195.000-14.000 0,108.000-5.000 0,-198.000-2.000 0,-20.000 5.000 0,0.000 0.000 0,0.000-1.000 0,0.000 1.000 0,0.000 0.000 0,0.000 0.000 0,0.000 0.000 0,0.000-1.000 0,0.000 1.000 0,0.000 0.000 0,0.000 0.000 0,0.000-1.000 0,0.000 1.000 0,0.000 0.000 0,0.000 0.000 0,0.000-1.000 0,0.000 1.000 0,0.000 0.000 0,0.000 0.000 0,0.000 0.000 0,-1.000-1.000 0,1.000 1.000 0,0.000 0.000 0,0.000 0.000 0,0.000 0.000 0,0.000-1.000 0,0.000 1.000 0,0.000 0.000 0,-1.000 0.000 0,1.000 0.000 0,0.000 0.000 0,0.000-1.000 0,0.000 1.000 0,-1.000 0.000 0,1.000 0.000 0,0.000 0.000 0,0.000 0.000 0,0.000 0.000 0,-1.000 0.000 0,1.000 0.000 0,-4.000-2.000 0,0.000 0.000 0,0.000 0.000 0,0.000 0.000 0,0.000 1.000 0,0.000 0.000 0,-7.000-1.000 0,-64.000-4.000 0,-120.000 6.000 0,77.000 2.000 0,2.000 0.000 0,-120.000-4.000 0,156.000-4.000 0,-53.000-2.000 0,-11.000-7.000 0,108.000 16.000-47,22.000 0.000-283,-1.000 0.000 1,1.000-1.000-1,-28.000-5.000 1</inkml:trace>
</inkml:ink>
</file>

<file path=ppt/ink/ink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156.000 0.000 24575,'-2.000'0.000'0,"-4.000"0.000"0,-3.000 3.000 0,-2.000 0.000 0,-1.000 0.000 0,-2.000 2.000 0,-1.000 0.000 0,0.000 1.000 0,1.000 3.000 0,-1.000 2.000 0,1.000 1.000 0,-1.000 1.000 0,1.000 1.000 0</inkml:trace>
</inkml:ink>
</file>

<file path=ppt/ink/ink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1.000 52.000 24575,'2.000'-2.000'0,"3.000"-2.000"0,4.000 1.000 0,2.000 1.000 0,2.000 0.000 0,3.000-2.000 0,2.000 1.000 0,0.000-1.000 0,-1.000 2.000 0,-1.000 0.000 0,0.000 1.000 0,-1.000-2.000 0,-1.000 0.000 0,0.000-5.000 0,0.000 0.000 0</inkml:trace>
</inkml:ink>
</file>

<file path=ppt/ink/ink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1.000 0.000 24575,'0.000'0.000'-8191</inkml:trace>
</inkml:ink>
</file>

<file path=ppt/ink/ink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5T15:09:18"/>
    </inkml:context>
    <inkml:brush xml:id="br0">
      <inkml:brushProperty name="width" value="0.025" units="cm"/>
      <inkml:brushProperty name="height" value="0.025" units="cm"/>
      <inkml:brushProperty name="color" value="#000000"/>
    </inkml:brush>
  </inkml:definitions>
  <inkml:trace contextRef="#ctx0" brushRef="#br0">0.000 0.000 24575</inkml:trace>
</inkml:ink>
</file>

<file path=ppt/ink/ink1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5-03-05T15:10:18"/>
    </inkml:context>
    <inkml:brush xml:id="br0">
      <inkml:brushProperty name="width" value="0.05" units="cm"/>
      <inkml:brushProperty name="height" value="0.3" units="cm"/>
      <inkml:brushProperty name="color" value="#849398"/>
      <inkml:brushProperty name="inkEffects" value="pencil"/>
    </inkml:brush>
  </inkml:definitions>
  <inkml:trace contextRef="#ctx0" brushRef="#br0">0.000 0.000,'0.000'0.000</inkml:trace>
</inkml:ink>
</file>

<file path=ppt/ink/ink1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5T15:14:02"/>
    </inkml:context>
    <inkml:brush xml:id="br0">
      <inkml:brushProperty name="width" value="0.025" units="cm"/>
      <inkml:brushProperty name="height" value="0.025" units="cm"/>
      <inkml:brushProperty name="color" value="#000000"/>
    </inkml:brush>
  </inkml:definitions>
  <inkml:trace contextRef="#ctx0" brushRef="#br0">261.000 202.000 24575,'-7.000'0.000'0,"-3.000"-7.000"0,-6.000-3.000 0,-1.000-6.000 0,-4.000-1.000 0,-14.000 3.000 0,0.000-4.000 0,5.000-5.000 0,8.000-7.000 0,1.000 2.000 0,-4.000 6.000 0,3.000 6.000-8191</inkml:trace>
</inkml:ink>
</file>

<file path=ppt/ink/ink1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5T15:14:07"/>
    </inkml:context>
    <inkml:brush xml:id="br0">
      <inkml:brushProperty name="width" value="0.025" units="cm"/>
      <inkml:brushProperty name="height" value="0.025" units="cm"/>
      <inkml:brushProperty name="color" value="#000000"/>
    </inkml:brush>
  </inkml:definitions>
  <inkml:trace contextRef="#ctx0" brushRef="#br0">270.000 1.000 24575,'-8.000'0.000'0,"0.000"0.000"0,0.000 0.000 0,1.000 0.000 0,-1.000 1.000 0,0.000 1.000 0,0.000-1.000 0,1.000 1.000 0,-1.000 1.000 0,1.000-1.000 0,0.000 1.000 0,-14.000 8.000 0,-118.000 53.000 0,124.000-50.000 0,14.000-14.000 0,1.000 0.000 0,0.000 1.000 0,0.000-1.000 0,0.000 0.000 0,-1.000 1.000 0,1.000-1.000 0,0.000 1.000 0,0.000-1.000 0,0.000 0.000 0,0.000 1.000 0,0.000-1.000 0,0.000 1.000 0,0.000-1.000 0,0.000 0.000 0,0.000 1.000 0,0.000-1.000 0,0.000 1.000 0,0.000-1.000 0,0.000 1.000 0,0.000-1.000 0,1.000 0.000 0,-1.000 1.000 0,0.000-1.000 0,0.000 0.000 0,0.000 1.000 0,1.000 0.000 0,0.000 0.000 0,0.000 0.000 0,1.000-1.000 0,-1.000 1.000 0,1.000 0.000 0,-1.000-1.000 0,0.000 1.000 0,1.000 0.000 0,-1.000-1.000 0,1.000 0.000 0,-1.000 1.000 0,1.000-1.000 0,0.000 0.000 0,-1.000 0.000 0,1.000 0.000 0,-1.000 0.000 0,1.000 0.000 0,-1.000 0.000 0,1.000 0.000 0,-1.000 0.000 0,3.000-1.000 0,9.000-3.000 0,0.000-1.000 0,0.000 0.000 0,-1.000 0.000 0,0.000-1.000 0,17.000-11.000 0,-9.000 5.000 0,-15.000 9.000 0,0.000 0.000 0,-1.000 0.000 0,1.000-1.000 0,-1.000 1.000 0,0.000-1.000 0,4.000-5.000 0,-7.000 8.000 0,-1.000 1.000 0,1.000-1.000 0,-1.000 1.000 0,1.000-1.000 0,-1.000 1.000 0,0.000-1.000 0,1.000 1.000 0,-1.000-1.000 0,1.000 0.000 0,-1.000 1.000 0,0.000-1.000 0,0.000 0.000 0,1.000 1.000 0,-1.000-1.000 0,0.000 0.000 0,0.000 1.000 0,0.000-1.000 0,0.000 0.000 0,0.000 1.000 0,0.000-1.000 0,0.000 0.000 0,0.000 1.000 0,0.000-1.000 0,0.000 0.000 0,0.000 0.000 0,-1.000 1.000 0,1.000-1.000 0,0.000 0.000 0,0.000 1.000 0,-1.000-1.000 0,1.000 1.000 0,0.000-1.000 0,-1.000 0.000 0,1.000 1.000 0,0.000-1.000 0,-1.000 1.000 0,1.000-1.000 0,-1.000 1.000 0,1.000-1.000 0,-1.000 1.000 0,0.000-1.000 0,1.000 1.000 0,-1.000 0.000 0,1.000-1.000 0,-1.000 1.000 0,0.000 0.000 0,1.000-1.000 0,-1.000 1.000 0,0.000 0.000 0,1.000 0.000 0,-1.000 0.000 0,0.000 0.000 0,1.000-1.000 0,-1.000 1.000 0,0.000 0.000 0,1.000 0.000 0,-1.000 0.000 0,-1.000 1.000 0,-1.000-2.000 0,-1.000 1.000 0,0.000 0.000 0,0.000 1.000 0,1.000-1.000 0,-1.000 0.000 0,0.000 1.000 0,1.000 0.000 0,-1.000 0.000 0,1.000 0.000 0,-1.000 1.000 0,-3.000 1.000 0,-44.000 24.000 0,30.000-15.000 0,-11.000 8.000-1365,5.000-1.000-5461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4AAD347D-5ACD-4C99-B74B-A9C85AD731AF}" type="datetimeFigureOut">
              <a:rPr lang="en-US" smtClean="0"/>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D57F1E4F-1CFF-5643-939E-02111984F565}" type="slidenum">
              <a:rPr lang="en-US" smtClean="0"/>
            </a:fld>
            <a:endParaRPr lang="en-US" dirty="0"/>
          </a:p>
        </p:txBody>
      </p:sp>
      <p:sp>
        <p:nvSpPr>
          <p:cNvPr id="32" name="Rectangle 31"/>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412744" y="680477"/>
            <a:ext cx="6096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35876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333360"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95691"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1219200" y="4343400"/>
            <a:ext cx="10363200" cy="1975104"/>
          </a:xfrm>
        </p:spPr>
        <p:txBody>
          <a:bodyPr/>
          <a:lstStyle>
            <a:lvl1pPr marR="8890" algn="l">
              <a:defRPr sz="4000" b="1" cap="all" spc="0" baseline="0">
                <a:effectLst>
                  <a:reflection blurRad="12700" stA="34000" endA="740" endPos="53000" dir="5400000" sy="-100000" algn="bl" rotWithShape="0"/>
                </a:effectLst>
              </a:defRPr>
            </a:lvl1pPr>
          </a:lstStyle>
          <a:p>
            <a:r>
              <a:rPr kumimoji="0" lang="en-US"/>
              <a:t>Click to edit Master title style</a:t>
            </a:r>
            <a:endParaRPr kumimoji="0" lang="en-US"/>
          </a:p>
        </p:txBody>
      </p:sp>
      <p:sp>
        <p:nvSpPr>
          <p:cNvPr id="9" name="Subtitle 8"/>
          <p:cNvSpPr>
            <a:spLocks noGrp="1"/>
          </p:cNvSpPr>
          <p:nvPr>
            <p:ph type="subTitle" idx="1"/>
          </p:nvPr>
        </p:nvSpPr>
        <p:spPr>
          <a:xfrm>
            <a:off x="1219200" y="2834640"/>
            <a:ext cx="103632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56" name="Rectangle 55"/>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p:nvPr/>
        </p:nvSpPr>
        <p:spPr bwMode="auto">
          <a:xfrm>
            <a:off x="6438603" y="1073888"/>
            <a:ext cx="5762848"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p:nvPr/>
        </p:nvSpPr>
        <p:spPr bwMode="auto">
          <a:xfrm>
            <a:off x="498621" y="0"/>
            <a:ext cx="7352715"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5236414">
            <a:off x="6635304" y="1285480"/>
            <a:ext cx="4114800" cy="158496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p:nvPr/>
        </p:nvSpPr>
        <p:spPr bwMode="auto">
          <a:xfrm>
            <a:off x="7924800" y="0"/>
            <a:ext cx="36576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p:nvPr/>
        </p:nvSpPr>
        <p:spPr bwMode="auto">
          <a:xfrm>
            <a:off x="7924800" y="4267200"/>
            <a:ext cx="42672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p:nvPr/>
        </p:nvSpPr>
        <p:spPr bwMode="auto">
          <a:xfrm>
            <a:off x="7924800" y="0"/>
            <a:ext cx="18288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p:nvPr/>
        </p:nvSpPr>
        <p:spPr bwMode="auto">
          <a:xfrm>
            <a:off x="7931152" y="4246564"/>
            <a:ext cx="2787649"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p:nvPr/>
        </p:nvSpPr>
        <p:spPr bwMode="auto">
          <a:xfrm>
            <a:off x="7924800" y="4267200"/>
            <a:ext cx="21336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p:nvPr/>
        </p:nvSpPr>
        <p:spPr bwMode="auto">
          <a:xfrm>
            <a:off x="7924800" y="1371600"/>
            <a:ext cx="42672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p:nvPr/>
        </p:nvSpPr>
        <p:spPr bwMode="auto">
          <a:xfrm>
            <a:off x="7924800" y="1752600"/>
            <a:ext cx="42672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p:nvPr/>
        </p:nvSpPr>
        <p:spPr bwMode="auto">
          <a:xfrm>
            <a:off x="1320800" y="4267200"/>
            <a:ext cx="660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p:nvPr/>
        </p:nvSpPr>
        <p:spPr bwMode="auto">
          <a:xfrm>
            <a:off x="711200" y="4267200"/>
            <a:ext cx="7112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p:nvPr/>
        </p:nvSpPr>
        <p:spPr bwMode="auto">
          <a:xfrm>
            <a:off x="489099" y="2438400"/>
            <a:ext cx="75184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p:nvPr/>
        </p:nvSpPr>
        <p:spPr bwMode="auto">
          <a:xfrm>
            <a:off x="489099" y="2133600"/>
            <a:ext cx="75184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p:nvPr/>
        </p:nvSpPr>
        <p:spPr bwMode="auto">
          <a:xfrm>
            <a:off x="6096000" y="4267200"/>
            <a:ext cx="18288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942536" y="1351672"/>
            <a:ext cx="7624064" cy="977486"/>
          </a:xfrm>
        </p:spPr>
        <p:txBody>
          <a:bodyPr lIns="82296" tIns="45720" bIns="0" anchor="t"/>
          <a:lstStyle>
            <a:lvl1pPr marL="54610"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4" name="Date Placeholder 3"/>
          <p:cNvSpPr>
            <a:spLocks noGrp="1"/>
          </p:cNvSpPr>
          <p:nvPr>
            <p:ph type="dt" sz="half" idx="10"/>
          </p:nvPr>
        </p:nvSpPr>
        <p:spPr/>
        <p:txBody>
          <a:bodyPr/>
          <a:lstStyle/>
          <a:p>
            <a:fld id="{9796027F-7875-4030-9381-8BD8C4F21935}"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
        <p:nvSpPr>
          <p:cNvPr id="7" name="Rectangle 6"/>
          <p:cNvSpPr/>
          <p:nvPr/>
        </p:nvSpPr>
        <p:spPr>
          <a:xfrm>
            <a:off x="484213" y="402265"/>
            <a:ext cx="1133856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42536" y="512064"/>
            <a:ext cx="10875264" cy="777240"/>
          </a:xfrm>
        </p:spPr>
        <p:txBody>
          <a:bodyPr tIns="64008"/>
          <a:lstStyle>
            <a:lvl1pPr algn="l">
              <a:buNone/>
              <a:defRPr sz="3800" b="0" cap="none" spc="-150" baseline="0"/>
            </a:lvl1pPr>
          </a:lstStyle>
          <a:p>
            <a:r>
              <a:rPr kumimoji="0" lang="en-US"/>
              <a:t>Click to edit Master title style</a:t>
            </a:r>
            <a:endParaRPr kumimoji="0" lang="en-US"/>
          </a:p>
        </p:txBody>
      </p:sp>
      <p:sp>
        <p:nvSpPr>
          <p:cNvPr id="8" name="Rectangle 7"/>
          <p:cNvSpPr/>
          <p:nvPr/>
        </p:nvSpPr>
        <p:spPr>
          <a:xfrm flipH="1">
            <a:off x="49538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548145"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59793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63560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67304" y="680477"/>
            <a:ext cx="48768"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972800" cy="914400"/>
          </a:xfrm>
        </p:spPr>
        <p:txBody>
          <a:bodyPr/>
          <a:lstStyle/>
          <a:p>
            <a:r>
              <a:rPr kumimoji="0" lang="en-US"/>
              <a:t>Click to edit Master title style</a:t>
            </a:r>
            <a:endParaRPr kumimoji="0" lang="en-US"/>
          </a:p>
        </p:txBody>
      </p:sp>
      <p:sp>
        <p:nvSpPr>
          <p:cNvPr id="3" name="Content Placeholder 2"/>
          <p:cNvSpPr>
            <a:spLocks noGrp="1"/>
          </p:cNvSpPr>
          <p:nvPr>
            <p:ph sz="half" idx="1"/>
          </p:nvPr>
        </p:nvSpPr>
        <p:spPr>
          <a:xfrm>
            <a:off x="619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Content Placeholder 3"/>
          <p:cNvSpPr>
            <a:spLocks noGrp="1"/>
          </p:cNvSpPr>
          <p:nvPr>
            <p:ph sz="half" idx="2"/>
          </p:nvPr>
        </p:nvSpPr>
        <p:spPr>
          <a:xfrm>
            <a:off x="6207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96027F-7875-4030-9381-8BD8C4F21935}"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5" name="Rectangle 24"/>
          <p:cNvSpPr/>
          <p:nvPr/>
        </p:nvSpPr>
        <p:spPr>
          <a:xfrm>
            <a:off x="0" y="402266"/>
            <a:ext cx="11822773"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73099" y="512064"/>
            <a:ext cx="10363200" cy="914400"/>
          </a:xfrm>
        </p:spPr>
        <p:txBody>
          <a:bodyPr anchor="t"/>
          <a:lstStyle>
            <a:lvl1pPr>
              <a:defRPr sz="4000"/>
            </a:lvl1pPr>
          </a:lstStyle>
          <a:p>
            <a:r>
              <a:rPr kumimoji="0" lang="en-US"/>
              <a:t>Click to edit Master title style</a:t>
            </a:r>
            <a:endParaRPr kumimoji="0" lang="en-US"/>
          </a:p>
        </p:txBody>
      </p:sp>
      <p:sp>
        <p:nvSpPr>
          <p:cNvPr id="3" name="Text Placeholder 2"/>
          <p:cNvSpPr>
            <a:spLocks noGrp="1"/>
          </p:cNvSpPr>
          <p:nvPr>
            <p:ph type="body" idx="1"/>
          </p:nvPr>
        </p:nvSpPr>
        <p:spPr>
          <a:xfrm>
            <a:off x="609600" y="1809750"/>
            <a:ext cx="5386917" cy="639762"/>
          </a:xfrm>
        </p:spPr>
        <p:txBody>
          <a:bodyPr anchor="ctr"/>
          <a:lstStyle>
            <a:lvl1pPr marL="73025" indent="0" algn="l">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6193368" y="1809750"/>
            <a:ext cx="5389033" cy="639762"/>
          </a:xfrm>
        </p:spPr>
        <p:txBody>
          <a:bodyPr anchor="ctr"/>
          <a:lstStyle>
            <a:lvl1pPr marL="73025"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5" name="Content Placeholder 4"/>
          <p:cNvSpPr>
            <a:spLocks noGrp="1"/>
          </p:cNvSpPr>
          <p:nvPr>
            <p:ph sz="quarter" idx="2"/>
          </p:nvPr>
        </p:nvSpPr>
        <p:spPr>
          <a:xfrm>
            <a:off x="609600" y="2459037"/>
            <a:ext cx="5386917"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459037"/>
            <a:ext cx="5389033"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96027F-7875-4030-9381-8BD8C4F21935}"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fld>
            <a:endParaRPr lang="en-US" dirty="0"/>
          </a:p>
        </p:txBody>
      </p:sp>
      <p:sp>
        <p:nvSpPr>
          <p:cNvPr id="16" name="Rectangle 15"/>
          <p:cNvSpPr/>
          <p:nvPr/>
        </p:nvSpPr>
        <p:spPr>
          <a:xfrm>
            <a:off x="117053" y="680477"/>
            <a:ext cx="6096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6307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37669"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9969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252455"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302243"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339912"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371613" y="680477"/>
            <a:ext cx="48768"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12064"/>
            <a:ext cx="10363200" cy="914400"/>
          </a:xfrm>
        </p:spPr>
        <p:txBody>
          <a:bodyPr/>
          <a:lstStyle>
            <a:lvl1pPr>
              <a:defRPr sz="4000" cap="none" baseline="0"/>
            </a:lvl1p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4509A250-FF31-4206-8172-F9D3106AACB1}"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10972800" cy="1162050"/>
          </a:xfrm>
        </p:spPr>
        <p:txBody>
          <a:bodyPr anchor="ctr"/>
          <a:lstStyle>
            <a:lvl1pPr algn="l">
              <a:buNone/>
              <a:defRPr sz="3600" b="0"/>
            </a:lvl1pPr>
          </a:lstStyle>
          <a:p>
            <a:r>
              <a:rPr kumimoji="0" lang="en-US"/>
              <a:t>Click to edit Master title style</a:t>
            </a:r>
            <a:endParaRPr kumimoji="0" lang="en-US"/>
          </a:p>
        </p:txBody>
      </p:sp>
      <p:sp>
        <p:nvSpPr>
          <p:cNvPr id="3" name="Text Placeholder 2"/>
          <p:cNvSpPr>
            <a:spLocks noGrp="1"/>
          </p:cNvSpPr>
          <p:nvPr>
            <p:ph type="body" idx="2"/>
          </p:nvPr>
        </p:nvSpPr>
        <p:spPr>
          <a:xfrm>
            <a:off x="914400" y="1435100"/>
            <a:ext cx="3352800" cy="4572000"/>
          </a:xfrm>
        </p:spPr>
        <p:txBody>
          <a:bodyPr/>
          <a:lstStyle>
            <a:lvl1pPr marL="5461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4" name="Content Placeholder 3"/>
          <p:cNvSpPr>
            <a:spLocks noGrp="1"/>
          </p:cNvSpPr>
          <p:nvPr>
            <p:ph sz="half" idx="1"/>
          </p:nvPr>
        </p:nvSpPr>
        <p:spPr>
          <a:xfrm>
            <a:off x="4572000" y="1435100"/>
            <a:ext cx="7315200"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490709" y="0"/>
            <a:ext cx="1170432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484260" y="1885028"/>
            <a:ext cx="1171016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1374903" y="1197789"/>
            <a:ext cx="132763" cy="171288"/>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219200" y="441252"/>
            <a:ext cx="9144000" cy="701749"/>
          </a:xfrm>
        </p:spPr>
        <p:txBody>
          <a:bodyPr anchor="b"/>
          <a:lstStyle>
            <a:lvl1pPr algn="l">
              <a:buNone/>
              <a:defRPr sz="2100" b="0"/>
            </a:lvl1pPr>
          </a:lstStyle>
          <a:p>
            <a:r>
              <a:rPr kumimoji="0" lang="en-US"/>
              <a:t>Click to edit Master title style</a:t>
            </a:r>
            <a:endParaRPr kumimoji="0" lang="en-US"/>
          </a:p>
        </p:txBody>
      </p:sp>
      <p:sp>
        <p:nvSpPr>
          <p:cNvPr id="3" name="Picture Placeholder 2"/>
          <p:cNvSpPr>
            <a:spLocks noGrp="1"/>
          </p:cNvSpPr>
          <p:nvPr>
            <p:ph type="pic" idx="1"/>
          </p:nvPr>
        </p:nvSpPr>
        <p:spPr>
          <a:xfrm>
            <a:off x="490709" y="1893781"/>
            <a:ext cx="11704320" cy="4960144"/>
          </a:xfrm>
          <a:solidFill>
            <a:schemeClr val="bg2"/>
          </a:solidFill>
        </p:spPr>
        <p:txBody>
          <a:bodyPr/>
          <a:lstStyle>
            <a:lvl1pPr marL="0" indent="0">
              <a:buNone/>
              <a:defRPr sz="3200"/>
            </a:lvl1pPr>
          </a:lstStyle>
          <a:p>
            <a:r>
              <a:rPr kumimoji="0" lang="en-US"/>
              <a:t>Click icon to add picture</a:t>
            </a:r>
            <a:endParaRPr kumimoji="0" lang="en-US"/>
          </a:p>
        </p:txBody>
      </p:sp>
      <p:sp>
        <p:nvSpPr>
          <p:cNvPr id="4" name="Text Placeholder 3"/>
          <p:cNvSpPr>
            <a:spLocks noGrp="1"/>
          </p:cNvSpPr>
          <p:nvPr>
            <p:ph type="body" sz="half" idx="2"/>
          </p:nvPr>
        </p:nvSpPr>
        <p:spPr bwMode="grayWhite">
          <a:xfrm>
            <a:off x="1219200" y="1150144"/>
            <a:ext cx="9144000" cy="685800"/>
          </a:xfrm>
        </p:spPr>
        <p:txBody>
          <a:bodyPr/>
          <a:lstStyle>
            <a:lvl1pPr marL="27305" indent="0">
              <a:spcBef>
                <a:spcPts val="0"/>
              </a:spcBef>
              <a:buNone/>
              <a:defRPr sz="14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grpSp>
        <p:nvGrpSpPr>
          <p:cNvPr id="14" name="Group 13"/>
          <p:cNvGrpSpPr/>
          <p:nvPr/>
        </p:nvGrpSpPr>
        <p:grpSpPr>
          <a:xfrm rot="5400000">
            <a:off x="11578103" y="1350189"/>
            <a:ext cx="132763" cy="171288"/>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1115579" y="1453352"/>
            <a:ext cx="132763" cy="171288"/>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8636000" y="55499"/>
            <a:ext cx="2844800" cy="365125"/>
          </a:xfrm>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a:xfrm>
            <a:off x="1219200" y="55499"/>
            <a:ext cx="7416800" cy="365125"/>
          </a:xfrm>
        </p:spPr>
        <p:txBody>
          <a:bodyPr/>
          <a:lstStyle/>
          <a:p>
            <a:endParaRPr lang="en-US" dirty="0"/>
          </a:p>
        </p:txBody>
      </p:sp>
      <p:sp>
        <p:nvSpPr>
          <p:cNvPr id="7" name="Slide Number Placeholder 6"/>
          <p:cNvSpPr>
            <a:spLocks noGrp="1"/>
          </p:cNvSpPr>
          <p:nvPr>
            <p:ph type="sldNum" sz="quarter" idx="12"/>
          </p:nvPr>
        </p:nvSpPr>
        <p:spPr>
          <a:xfrm>
            <a:off x="11480800" y="55499"/>
            <a:ext cx="609600" cy="365125"/>
          </a:xfrm>
        </p:spPr>
        <p:txBody>
          <a:bodyPr/>
          <a:lstStyle/>
          <a:p>
            <a:fld id="{D57F1E4F-1CFF-5643-939E-02111984F56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641600" cy="5851525"/>
          </a:xfrm>
        </p:spPr>
        <p:txBody>
          <a:bodyPr vert="eaVert" anchor="ctr"/>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812800" y="274640"/>
            <a:ext cx="7823200" cy="5851525"/>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12192000" cy="4572000"/>
          </a:xfrm>
          <a:prstGeom prst="rect">
            <a:avLst/>
          </a:prstGeom>
        </p:spPr>
      </p:pic>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
        <p:nvSpPr>
          <p:cNvPr id="3" name="Subtitle 2"/>
          <p:cNvSpPr>
            <a:spLocks noGrp="1"/>
          </p:cNvSpPr>
          <p:nvPr>
            <p:ph type="subTitle" idx="1"/>
          </p:nvPr>
        </p:nvSpPr>
        <p:spPr>
          <a:xfrm>
            <a:off x="1625600" y="3886200"/>
            <a:ext cx="85344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914400" y="2007893"/>
            <a:ext cx="103632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3" y="4962530"/>
            <a:ext cx="10513484"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812803" y="3462343"/>
            <a:ext cx="10513484"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812800" y="1600200"/>
            <a:ext cx="4978400" cy="4114800"/>
          </a:xfrm>
        </p:spPr>
        <p:txBody>
          <a:bodyPr/>
          <a:lstStyle>
            <a:lvl5pPr>
              <a:defRPr/>
            </a:lvl5pPr>
            <a:lvl6pPr>
              <a:buClr>
                <a:schemeClr val="tx2"/>
              </a:buClr>
              <a:buFont typeface="Arial" panose="020B0604020202020204" pitchFamily="34" charset="0"/>
              <a:buChar char="•"/>
              <a:defRPr/>
            </a:lvl6pPr>
            <a:lvl7pPr>
              <a:buClr>
                <a:schemeClr val="tx2"/>
              </a:buClr>
              <a:buFont typeface="Arial" panose="020B0604020202020204" pitchFamily="34" charset="0"/>
              <a:buChar char="•"/>
              <a:defRPr/>
            </a:lvl7pPr>
            <a:lvl8pPr>
              <a:buClr>
                <a:schemeClr val="tx2"/>
              </a:buClr>
              <a:buFont typeface="Arial" panose="020B0604020202020204" pitchFamily="34" charset="0"/>
              <a:buChar char="•"/>
              <a:defRPr/>
            </a:lvl8pPr>
            <a:lvl9pPr>
              <a:buClr>
                <a:schemeClr val="tx2"/>
              </a:buClr>
              <a:buFont typeface="Arial" panose="020B0604020202020204" pitchFamily="34" charset="0"/>
              <a:buChar cha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3" name="Content Placeholder 12"/>
          <p:cNvSpPr>
            <a:spLocks noGrp="1"/>
          </p:cNvSpPr>
          <p:nvPr>
            <p:ph sz="quarter" idx="14"/>
          </p:nvPr>
        </p:nvSpPr>
        <p:spPr>
          <a:xfrm>
            <a:off x="6400800" y="1600200"/>
            <a:ext cx="49784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6400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1" name="Content Placeholder 10"/>
          <p:cNvSpPr>
            <a:spLocks noGrp="1"/>
          </p:cNvSpPr>
          <p:nvPr>
            <p:ph sz="quarter" idx="13"/>
          </p:nvPr>
        </p:nvSpPr>
        <p:spPr>
          <a:xfrm>
            <a:off x="812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5" name="Text Placeholder 4"/>
          <p:cNvSpPr>
            <a:spLocks noGrp="1"/>
          </p:cNvSpPr>
          <p:nvPr>
            <p:ph type="body" sz="quarter" idx="3"/>
          </p:nvPr>
        </p:nvSpPr>
        <p:spPr>
          <a:xfrm>
            <a:off x="6400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7" name="Date Placeholder 6"/>
          <p:cNvSpPr>
            <a:spLocks noGrp="1"/>
          </p:cNvSpPr>
          <p:nvPr>
            <p:ph type="dt" sz="half" idx="10"/>
          </p:nvPr>
        </p:nvSpPr>
        <p:spPr/>
        <p:txBody>
          <a:bodyPr/>
          <a:lstStyle/>
          <a:p>
            <a:fld id="{B9CA7F16-7EF7-4BAE-A533-BC5C8B1B0BE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CA7F16-7EF7-4BAE-A533-BC5C8B1B0BE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A7F16-7EF7-4BAE-A533-BC5C8B1B0BE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5283200" y="1447800"/>
            <a:ext cx="6197600" cy="4267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itle 1"/>
          <p:cNvSpPr>
            <a:spLocks noGrp="1"/>
          </p:cNvSpPr>
          <p:nvPr>
            <p:ph type="title"/>
          </p:nvPr>
        </p:nvSpPr>
        <p:spPr>
          <a:xfrm>
            <a:off x="816864"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16864" y="2547895"/>
            <a:ext cx="39624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12192000" cy="6858000"/>
          </a:xfrm>
          <a:prstGeom prst="rect">
            <a:avLst/>
          </a:prstGeom>
        </p:spPr>
      </p:pic>
      <p:sp>
        <p:nvSpPr>
          <p:cNvPr id="2" name="Title 1"/>
          <p:cNvSpPr>
            <a:spLocks noGrp="1"/>
          </p:cNvSpPr>
          <p:nvPr>
            <p:ph type="title"/>
          </p:nvPr>
        </p:nvSpPr>
        <p:spPr>
          <a:xfrm>
            <a:off x="812800"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209792" y="1447800"/>
            <a:ext cx="4559808"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1" fmla="*/ 0 w 3419856"/>
              <a:gd name="connsiteY0-2" fmla="*/ 74450 h 3429000"/>
              <a:gd name="connsiteX1-3" fmla="*/ 21806 w 3419856"/>
              <a:gd name="connsiteY1-4" fmla="*/ 21806 h 3429000"/>
              <a:gd name="connsiteX2-5" fmla="*/ 74450 w 3419856"/>
              <a:gd name="connsiteY2-6" fmla="*/ 0 h 3429000"/>
              <a:gd name="connsiteX3-7" fmla="*/ 3345406 w 3419856"/>
              <a:gd name="connsiteY3-8" fmla="*/ 0 h 3429000"/>
              <a:gd name="connsiteX4-9" fmla="*/ 3398050 w 3419856"/>
              <a:gd name="connsiteY4-10" fmla="*/ 21806 h 3429000"/>
              <a:gd name="connsiteX5-11" fmla="*/ 3419856 w 3419856"/>
              <a:gd name="connsiteY5-12" fmla="*/ 74450 h 3429000"/>
              <a:gd name="connsiteX6-13" fmla="*/ 3419856 w 3419856"/>
              <a:gd name="connsiteY6-14" fmla="*/ 3354550 h 3429000"/>
              <a:gd name="connsiteX7-15" fmla="*/ 3398050 w 3419856"/>
              <a:gd name="connsiteY7-16" fmla="*/ 3407194 h 3429000"/>
              <a:gd name="connsiteX8-17" fmla="*/ 3345406 w 3419856"/>
              <a:gd name="connsiteY8-18" fmla="*/ 3429000 h 3429000"/>
              <a:gd name="connsiteX9-19" fmla="*/ 21806 w 3419856"/>
              <a:gd name="connsiteY9-20" fmla="*/ 3407194 h 3429000"/>
              <a:gd name="connsiteX10-21" fmla="*/ 0 w 3419856"/>
              <a:gd name="connsiteY10-22" fmla="*/ 3354550 h 3429000"/>
              <a:gd name="connsiteX11-23" fmla="*/ 0 w 3419856"/>
              <a:gd name="connsiteY11-24" fmla="*/ 74450 h 3429000"/>
              <a:gd name="connsiteX0-25" fmla="*/ 0 w 3964392"/>
              <a:gd name="connsiteY0-26" fmla="*/ 74450 h 3415968"/>
              <a:gd name="connsiteX1-27" fmla="*/ 21806 w 3964392"/>
              <a:gd name="connsiteY1-28" fmla="*/ 21806 h 3415968"/>
              <a:gd name="connsiteX2-29" fmla="*/ 74450 w 3964392"/>
              <a:gd name="connsiteY2-30" fmla="*/ 0 h 3415968"/>
              <a:gd name="connsiteX3-31" fmla="*/ 3345406 w 3964392"/>
              <a:gd name="connsiteY3-32" fmla="*/ 0 h 3415968"/>
              <a:gd name="connsiteX4-33" fmla="*/ 3398050 w 3964392"/>
              <a:gd name="connsiteY4-34" fmla="*/ 21806 h 3415968"/>
              <a:gd name="connsiteX5-35" fmla="*/ 3419856 w 3964392"/>
              <a:gd name="connsiteY5-36" fmla="*/ 74450 h 3415968"/>
              <a:gd name="connsiteX6-37" fmla="*/ 3419856 w 3964392"/>
              <a:gd name="connsiteY6-38" fmla="*/ 3354550 h 3415968"/>
              <a:gd name="connsiteX7-39" fmla="*/ 3398050 w 3964392"/>
              <a:gd name="connsiteY7-40" fmla="*/ 3407194 h 3415968"/>
              <a:gd name="connsiteX8-41" fmla="*/ 21806 w 3964392"/>
              <a:gd name="connsiteY8-42" fmla="*/ 3407194 h 3415968"/>
              <a:gd name="connsiteX9-43" fmla="*/ 0 w 3964392"/>
              <a:gd name="connsiteY9-44" fmla="*/ 3354550 h 3415968"/>
              <a:gd name="connsiteX10-45" fmla="*/ 0 w 3964392"/>
              <a:gd name="connsiteY10-46" fmla="*/ 74450 h 3415968"/>
              <a:gd name="connsiteX0-47" fmla="*/ 0 w 3964392"/>
              <a:gd name="connsiteY0-48" fmla="*/ 74450 h 3415968"/>
              <a:gd name="connsiteX1-49" fmla="*/ 21806 w 3964392"/>
              <a:gd name="connsiteY1-50" fmla="*/ 21806 h 3415968"/>
              <a:gd name="connsiteX2-51" fmla="*/ 74450 w 3964392"/>
              <a:gd name="connsiteY2-52" fmla="*/ 0 h 3415968"/>
              <a:gd name="connsiteX3-53" fmla="*/ 3345406 w 3964392"/>
              <a:gd name="connsiteY3-54" fmla="*/ 0 h 3415968"/>
              <a:gd name="connsiteX4-55" fmla="*/ 3398050 w 3964392"/>
              <a:gd name="connsiteY4-56" fmla="*/ 21806 h 3415968"/>
              <a:gd name="connsiteX5-57" fmla="*/ 3419856 w 3964392"/>
              <a:gd name="connsiteY5-58" fmla="*/ 74450 h 3415968"/>
              <a:gd name="connsiteX6-59" fmla="*/ 3419856 w 3964392"/>
              <a:gd name="connsiteY6-60" fmla="*/ 3354550 h 3415968"/>
              <a:gd name="connsiteX7-61" fmla="*/ 3398050 w 3964392"/>
              <a:gd name="connsiteY7-62" fmla="*/ 3407194 h 3415968"/>
              <a:gd name="connsiteX8-63" fmla="*/ 21806 w 3964392"/>
              <a:gd name="connsiteY8-64" fmla="*/ 3407194 h 3415968"/>
              <a:gd name="connsiteX9-65" fmla="*/ 0 w 3964392"/>
              <a:gd name="connsiteY9-66" fmla="*/ 3354550 h 3415968"/>
              <a:gd name="connsiteX10-67" fmla="*/ 0 w 3964392"/>
              <a:gd name="connsiteY10-68" fmla="*/ 74450 h 3415968"/>
              <a:gd name="connsiteX0-69" fmla="*/ 0 w 3968026"/>
              <a:gd name="connsiteY0-70" fmla="*/ 74450 h 3910007"/>
              <a:gd name="connsiteX1-71" fmla="*/ 21806 w 3968026"/>
              <a:gd name="connsiteY1-72" fmla="*/ 21806 h 3910007"/>
              <a:gd name="connsiteX2-73" fmla="*/ 74450 w 3968026"/>
              <a:gd name="connsiteY2-74" fmla="*/ 0 h 3910007"/>
              <a:gd name="connsiteX3-75" fmla="*/ 3345406 w 3968026"/>
              <a:gd name="connsiteY3-76" fmla="*/ 0 h 3910007"/>
              <a:gd name="connsiteX4-77" fmla="*/ 3398050 w 3968026"/>
              <a:gd name="connsiteY4-78" fmla="*/ 21806 h 3910007"/>
              <a:gd name="connsiteX5-79" fmla="*/ 3419856 w 3968026"/>
              <a:gd name="connsiteY5-80" fmla="*/ 74450 h 3910007"/>
              <a:gd name="connsiteX6-81" fmla="*/ 3419856 w 3968026"/>
              <a:gd name="connsiteY6-82" fmla="*/ 3354550 h 3910007"/>
              <a:gd name="connsiteX7-83" fmla="*/ 3398050 w 3968026"/>
              <a:gd name="connsiteY7-84" fmla="*/ 3407194 h 3910007"/>
              <a:gd name="connsiteX8-85" fmla="*/ 0 w 3968026"/>
              <a:gd name="connsiteY8-86" fmla="*/ 3354550 h 3910007"/>
              <a:gd name="connsiteX9-87" fmla="*/ 0 w 3968026"/>
              <a:gd name="connsiteY9-88" fmla="*/ 74450 h 3910007"/>
              <a:gd name="connsiteX0-89" fmla="*/ 0 w 3419856"/>
              <a:gd name="connsiteY0-90" fmla="*/ 74450 h 3901233"/>
              <a:gd name="connsiteX1-91" fmla="*/ 21806 w 3419856"/>
              <a:gd name="connsiteY1-92" fmla="*/ 21806 h 3901233"/>
              <a:gd name="connsiteX2-93" fmla="*/ 74450 w 3419856"/>
              <a:gd name="connsiteY2-94" fmla="*/ 0 h 3901233"/>
              <a:gd name="connsiteX3-95" fmla="*/ 3345406 w 3419856"/>
              <a:gd name="connsiteY3-96" fmla="*/ 0 h 3901233"/>
              <a:gd name="connsiteX4-97" fmla="*/ 3398050 w 3419856"/>
              <a:gd name="connsiteY4-98" fmla="*/ 21806 h 3901233"/>
              <a:gd name="connsiteX5-99" fmla="*/ 3419856 w 3419856"/>
              <a:gd name="connsiteY5-100" fmla="*/ 74450 h 3901233"/>
              <a:gd name="connsiteX6-101" fmla="*/ 3419856 w 3419856"/>
              <a:gd name="connsiteY6-102" fmla="*/ 3354550 h 3901233"/>
              <a:gd name="connsiteX7-103" fmla="*/ 0 w 3419856"/>
              <a:gd name="connsiteY7-104" fmla="*/ 3354550 h 3901233"/>
              <a:gd name="connsiteX8-105" fmla="*/ 0 w 3419856"/>
              <a:gd name="connsiteY8-106" fmla="*/ 74450 h 3901233"/>
              <a:gd name="connsiteX0-107" fmla="*/ 0 w 3419856"/>
              <a:gd name="connsiteY0-108" fmla="*/ 74450 h 3354550"/>
              <a:gd name="connsiteX1-109" fmla="*/ 21806 w 3419856"/>
              <a:gd name="connsiteY1-110" fmla="*/ 21806 h 3354550"/>
              <a:gd name="connsiteX2-111" fmla="*/ 74450 w 3419856"/>
              <a:gd name="connsiteY2-112" fmla="*/ 0 h 3354550"/>
              <a:gd name="connsiteX3-113" fmla="*/ 3345406 w 3419856"/>
              <a:gd name="connsiteY3-114" fmla="*/ 0 h 3354550"/>
              <a:gd name="connsiteX4-115" fmla="*/ 3398050 w 3419856"/>
              <a:gd name="connsiteY4-116" fmla="*/ 21806 h 3354550"/>
              <a:gd name="connsiteX5-117" fmla="*/ 3419856 w 3419856"/>
              <a:gd name="connsiteY5-118" fmla="*/ 74450 h 3354550"/>
              <a:gd name="connsiteX6-119" fmla="*/ 3419856 w 3419856"/>
              <a:gd name="connsiteY6-120" fmla="*/ 3354550 h 3354550"/>
              <a:gd name="connsiteX7-121" fmla="*/ 0 w 3419856"/>
              <a:gd name="connsiteY7-122" fmla="*/ 3354550 h 3354550"/>
              <a:gd name="connsiteX8-123" fmla="*/ 0 w 3419856"/>
              <a:gd name="connsiteY8-124" fmla="*/ 74450 h 33545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12800" y="2547893"/>
            <a:ext cx="39624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28" name="Date Placeholder 27"/>
          <p:cNvSpPr>
            <a:spLocks noGrp="1"/>
          </p:cNvSpPr>
          <p:nvPr>
            <p:ph type="dt" sz="half" idx="10"/>
          </p:nvPr>
        </p:nvSpPr>
        <p:spPr/>
        <p:txBody>
          <a:bodyPr/>
          <a:lstStyle/>
          <a:p>
            <a:fld id="{B9CA7F16-7EF7-4BAE-A533-BC5C8B1B0BEB}" type="datetimeFigureOut">
              <a:rPr lang="en-US" smtClean="0"/>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9"/>
            <a:ext cx="609600" cy="441325"/>
          </a:xfrm>
        </p:spPr>
        <p:txBody>
          <a:bodyPr/>
          <a:lstStyle/>
          <a:p>
            <a:fld id="{8A3A827A-826E-4A0B-AEA4-130148450C5D}" type="slidenum">
              <a:rPr lang="en-US" smtClean="0"/>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13" name="Rectangle 12"/>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endParaRPr kumimoji="0" lang="en-US"/>
          </a:p>
        </p:txBody>
      </p:sp>
      <p:sp>
        <p:nvSpPr>
          <p:cNvPr id="5" name="Date Placeholder 4"/>
          <p:cNvSpPr>
            <a:spLocks noGrp="1"/>
          </p:cNvSpPr>
          <p:nvPr>
            <p:ph type="dt" sz="half" idx="10"/>
          </p:nvPr>
        </p:nvSpPr>
        <p:spPr>
          <a:xfrm>
            <a:off x="7721600" y="6409944"/>
            <a:ext cx="4059936" cy="365760"/>
          </a:xfrm>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8" name="Straight Connector 7"/>
          <p:cNvSpPr>
            <a:spLocks noChangeShapeType="1"/>
          </p:cNvSpPr>
          <p:nvPr/>
        </p:nvSpPr>
        <p:spPr bwMode="auto">
          <a:xfrm flipV="1">
            <a:off x="6084111" y="1575654"/>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6388445"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7" name="Date Placeholder 6"/>
          <p:cNvSpPr>
            <a:spLocks noGrp="1"/>
          </p:cNvSpPr>
          <p:nvPr>
            <p:ph type="dt" sz="half" idx="10"/>
          </p:nvPr>
        </p:nvSpPr>
        <p:spPr/>
        <p:txBody>
          <a:bodyPr/>
          <a:lstStyle/>
          <a:p>
            <a:fld id="{B9CA7F16-7EF7-4BAE-A533-BC5C8B1B0BEB}" type="datetimeFigureOut">
              <a:rPr lang="en-US" smtClean="0"/>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23"/>
            <a:ext cx="609600" cy="441325"/>
          </a:xfrm>
        </p:spPr>
        <p:txBody>
          <a:bodyPr/>
          <a:lstStyle>
            <a:lvl1pPr algn="ctr">
              <a:defRPr/>
            </a:lvl1pPr>
          </a:lstStyle>
          <a:p>
            <a:fld id="{8A3A827A-826E-4A0B-AEA4-130148450C5D}" type="slidenum">
              <a:rPr lang="en-US" smtClean="0"/>
            </a:fld>
            <a:endParaRPr lang="en-US"/>
          </a:p>
        </p:txBody>
      </p:sp>
      <p:sp>
        <p:nvSpPr>
          <p:cNvPr id="23" name="Title 22"/>
          <p:cNvSpPr>
            <a:spLocks noGrp="1"/>
          </p:cNvSpPr>
          <p:nvPr>
            <p:ph type="title"/>
          </p:nvPr>
        </p:nvSpPr>
        <p:spPr/>
        <p:txBody>
          <a:bodyPr rtlCol="0" anchor="b" anchorCtr="0"/>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B9CA7F16-7EF7-4BAE-A533-BC5C8B1B0BE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7"/>
            <a:ext cx="609600" cy="441325"/>
          </a:xfrm>
        </p:spPr>
        <p:txBody>
          <a:bodyPr/>
          <a:lstStyle/>
          <a:p>
            <a:fld id="{8A3A827A-826E-4A0B-AEA4-130148450C5D}" type="slidenum">
              <a:rPr lang="en-US" smtClean="0"/>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9CA7F16-7EF7-4BAE-A533-BC5C8B1B0BE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8A3A827A-826E-4A0B-AEA4-130148450C5D}" type="slidenum">
              <a:rPr lang="en-US" smtClean="0"/>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endParaRPr kumimoji="0" lang="en-US"/>
          </a:p>
        </p:txBody>
      </p:sp>
      <p:sp>
        <p:nvSpPr>
          <p:cNvPr id="3" name="Text Placeholder 2"/>
          <p:cNvSpPr>
            <a:spLocks noGrp="1"/>
          </p:cNvSpPr>
          <p:nvPr>
            <p:ph type="body" idx="2"/>
          </p:nvPr>
        </p:nvSpPr>
        <p:spPr>
          <a:xfrm>
            <a:off x="508000" y="1981207"/>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lvl1pPr>
              <a:defRPr>
                <a:solidFill>
                  <a:schemeClr val="accent3">
                    <a:shade val="75000"/>
                  </a:schemeClr>
                </a:solidFill>
              </a:defRPr>
            </a:lvl1pPr>
          </a:lstStyle>
          <a:p>
            <a:fld id="{8A3A827A-826E-4A0B-AEA4-130148450C5D}" type="slidenum">
              <a:rPr lang="en-US" smtClean="0"/>
            </a:fld>
            <a:endParaRPr lang="en-US"/>
          </a:p>
        </p:txBody>
      </p:sp>
      <p:sp>
        <p:nvSpPr>
          <p:cNvPr id="21" name="Rectangle 20"/>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p>
            <a:fld id="{8A3A827A-826E-4A0B-AEA4-130148450C5D}" type="slidenum">
              <a:rPr lang="en-US" smtClean="0"/>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endParaRPr kumimoji="0" lang="en-US"/>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sp>
        <p:nvSpPr>
          <p:cNvPr id="22" name="Rectangle 21"/>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8"/>
            <a:ext cx="609600" cy="441325"/>
          </a:xfrm>
        </p:spPr>
        <p:txBody>
          <a:bodyPr/>
          <a:lstStyle/>
          <a:p>
            <a:fld id="{8A3A827A-826E-4A0B-AEA4-130148450C5D}" type="slidenum">
              <a:rPr lang="en-US" smtClean="0"/>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8"/>
            <a:ext cx="1930400" cy="5851525"/>
          </a:xfrm>
        </p:spPr>
        <p:txBody>
          <a:bodyPr vert="eaVert"/>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
        <p:nvSpPr>
          <p:cNvPr id="7" name="Title 6"/>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8063257"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3492433"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7479321" y="4074183"/>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Content Placeholder 10"/>
          <p:cNvSpPr>
            <a:spLocks noGrp="1"/>
          </p:cNvSpPr>
          <p:nvPr>
            <p:ph sz="quarter" idx="14"/>
          </p:nvPr>
        </p:nvSpPr>
        <p:spPr>
          <a:xfrm>
            <a:off x="6193536" y="2679192"/>
            <a:ext cx="5096256" cy="34472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903115" y="3429009"/>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7" y="3429009"/>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9CA7F16-7EF7-4BAE-A533-BC5C8B1B0BE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B9CA7F16-7EF7-4BAE-A533-BC5C8B1B0BE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fld id="{B9CA7F16-7EF7-4BAE-A533-BC5C8B1B0BE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4" name="Text Placeholder 3"/>
          <p:cNvSpPr>
            <a:spLocks noGrp="1"/>
          </p:cNvSpPr>
          <p:nvPr>
            <p:ph type="body" sz="half" idx="2"/>
          </p:nvPr>
        </p:nvSpPr>
        <p:spPr>
          <a:xfrm>
            <a:off x="1219200" y="3581409"/>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02617"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6498879" y="338667"/>
            <a:ext cx="5083527"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1117"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8839200" y="1447803"/>
            <a:ext cx="27432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1" name="Rectangle 10"/>
          <p:cNvSpPr/>
          <p:nvPr/>
        </p:nvSpPr>
        <p:spPr>
          <a:xfrm>
            <a:off x="0" y="3866920"/>
            <a:ext cx="12192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12192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65060" y="5052546"/>
            <a:ext cx="7516013"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
        <p:nvSpPr>
          <p:cNvPr id="2" name="Title 1"/>
          <p:cNvSpPr>
            <a:spLocks noGrp="1"/>
          </p:cNvSpPr>
          <p:nvPr>
            <p:ph type="ctrTitle"/>
          </p:nvPr>
        </p:nvSpPr>
        <p:spPr>
          <a:xfrm>
            <a:off x="1090109" y="3132290"/>
            <a:ext cx="9567135"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
        <p:nvSpPr>
          <p:cNvPr id="8" name="Title 7"/>
          <p:cNvSpPr>
            <a:spLocks noGrp="1"/>
          </p:cNvSpPr>
          <p:nvPr>
            <p:ph type="title"/>
          </p:nvPr>
        </p:nvSpPr>
        <p:spPr/>
        <p:txBody>
          <a:bodyPr/>
          <a:lstStyle/>
          <a:p>
            <a:r>
              <a:rPr lang="en-US"/>
              <a:t>Click to edit Master title style</a:t>
            </a:r>
            <a:endParaRPr lang="en-US"/>
          </a:p>
        </p:txBody>
      </p:sp>
      <p:sp>
        <p:nvSpPr>
          <p:cNvPr id="10" name="Content Placeholder 9"/>
          <p:cNvSpPr>
            <a:spLocks noGrp="1"/>
          </p:cNvSpPr>
          <p:nvPr>
            <p:ph sz="quarter" idx="13"/>
          </p:nvPr>
        </p:nvSpPr>
        <p:spPr>
          <a:xfrm>
            <a:off x="1524000" y="731520"/>
            <a:ext cx="8534400" cy="34747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10927" y="2172648"/>
            <a:ext cx="7955555"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696584" y="4607511"/>
            <a:ext cx="7960659"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796027F-7875-4030-9381-8BD8C4F21935}"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796027F-7875-4030-9381-8BD8C4F21935}"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
        <p:nvSpPr>
          <p:cNvPr id="8" name="Title 7"/>
          <p:cNvSpPr>
            <a:spLocks noGrp="1"/>
          </p:cNvSpPr>
          <p:nvPr>
            <p:ph type="title"/>
          </p:nvPr>
        </p:nvSpPr>
        <p:spPr/>
        <p:txBody>
          <a:bodyPr/>
          <a:lstStyle/>
          <a:p>
            <a:r>
              <a:rPr lang="en-US"/>
              <a:t>Click to edit Master title style</a:t>
            </a:r>
            <a:endParaRPr lang="en-US"/>
          </a:p>
        </p:txBody>
      </p:sp>
      <p:sp>
        <p:nvSpPr>
          <p:cNvPr id="9" name="Content Placeholder 8"/>
          <p:cNvSpPr>
            <a:spLocks noGrp="1"/>
          </p:cNvSpPr>
          <p:nvPr>
            <p:ph sz="quarter" idx="13"/>
          </p:nvPr>
        </p:nvSpPr>
        <p:spPr>
          <a:xfrm>
            <a:off x="1523999" y="731519"/>
            <a:ext cx="4462272" cy="34747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Content Placeholder 10"/>
          <p:cNvSpPr>
            <a:spLocks noGrp="1"/>
          </p:cNvSpPr>
          <p:nvPr>
            <p:ph sz="quarter" idx="14"/>
          </p:nvPr>
        </p:nvSpPr>
        <p:spPr>
          <a:xfrm>
            <a:off x="6193536" y="731520"/>
            <a:ext cx="4462272" cy="34747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0"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541929" y="1400327"/>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96403"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None/>
            </a:pPr>
            <a:r>
              <a:rPr lang="en-US"/>
              <a:t>Click to edit Master text styles</a:t>
            </a:r>
            <a:endParaRPr lang="en-US"/>
          </a:p>
        </p:txBody>
      </p:sp>
      <p:sp>
        <p:nvSpPr>
          <p:cNvPr id="6" name="Content Placeholder 5"/>
          <p:cNvSpPr>
            <a:spLocks noGrp="1"/>
          </p:cNvSpPr>
          <p:nvPr>
            <p:ph sz="quarter" idx="4"/>
          </p:nvPr>
        </p:nvSpPr>
        <p:spPr>
          <a:xfrm>
            <a:off x="6193367" y="1399032"/>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8794" y="2209801"/>
            <a:ext cx="4848113"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6124688" y="731520"/>
            <a:ext cx="5356113"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34354" y="3497802"/>
            <a:ext cx="4518213"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966900" y="1143000"/>
            <a:ext cx="54864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70516" y="1010486"/>
            <a:ext cx="4925485" cy="2163020"/>
          </a:xfrm>
        </p:spPr>
        <p:txBody>
          <a:bodyPr anchor="b"/>
          <a:lstStyle>
            <a:lvl1pPr marL="182880" indent="-182880">
              <a:buFont typeface="Georgia" panose="02040502050405020303"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
        <p:nvSpPr>
          <p:cNvPr id="2" name="Title 1"/>
          <p:cNvSpPr>
            <a:spLocks noGrp="1"/>
          </p:cNvSpPr>
          <p:nvPr>
            <p:ph type="title"/>
          </p:nvPr>
        </p:nvSpPr>
        <p:spPr>
          <a:xfrm>
            <a:off x="969691" y="4464421"/>
            <a:ext cx="8511384"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2540000" y="731519"/>
            <a:ext cx="8534400" cy="347472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8344" y="376518"/>
            <a:ext cx="2743200" cy="5238339"/>
          </a:xfrm>
          <a:effectLst/>
        </p:spPr>
        <p:txBody>
          <a:bodyPr vert="eaVert"/>
          <a:lstStyle>
            <a:lvl1pPr algn="l">
              <a:defRPr/>
            </a:lvl1pPr>
          </a:lstStyle>
          <a:p>
            <a:r>
              <a:rPr lang="en-US"/>
              <a:t>Click to edit Master title style</a:t>
            </a:r>
            <a:endParaRPr lang="en-US"/>
          </a:p>
        </p:txBody>
      </p:sp>
      <p:sp>
        <p:nvSpPr>
          <p:cNvPr id="3" name="Vertical Text Placeholder 2"/>
          <p:cNvSpPr>
            <a:spLocks noGrp="1"/>
          </p:cNvSpPr>
          <p:nvPr>
            <p:ph type="body" orient="vert" idx="1"/>
          </p:nvPr>
        </p:nvSpPr>
        <p:spPr>
          <a:xfrm>
            <a:off x="4432151" y="731520"/>
            <a:ext cx="6439049" cy="489472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AAD347D-5ACD-4C99-B74B-A9C85AD731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3" Type="http://schemas.openxmlformats.org/officeDocument/2006/relationships/theme" Target="../theme/theme5.xml"/><Relationship Id="rId12" Type="http://schemas.openxmlformats.org/officeDocument/2006/relationships/slideLayout" Target="../slideLayouts/slideLayout56.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412744" y="680477"/>
            <a:ext cx="6096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358764" y="680477"/>
            <a:ext cx="36576"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333360"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95691"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512064"/>
            <a:ext cx="10363200" cy="914400"/>
          </a:xfrm>
          <a:prstGeom prst="rect">
            <a:avLst/>
          </a:prstGeom>
        </p:spPr>
        <p:txBody>
          <a:bodyPr vert="horz" anchor="t">
            <a:no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1219200" y="1783560"/>
            <a:ext cx="10363200" cy="4572000"/>
          </a:xfrm>
          <a:prstGeom prst="rect">
            <a:avLst/>
          </a:prstGeom>
        </p:spPr>
        <p:txBody>
          <a:bodyPr vert="horz">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4" name="Date Placeholder 13"/>
          <p:cNvSpPr>
            <a:spLocks noGrp="1"/>
          </p:cNvSpPr>
          <p:nvPr>
            <p:ph type="dt" sz="half" idx="2"/>
          </p:nvPr>
        </p:nvSpPr>
        <p:spPr>
          <a:xfrm>
            <a:off x="8636000" y="6416676"/>
            <a:ext cx="2844800" cy="365125"/>
          </a:xfrm>
          <a:prstGeom prst="rect">
            <a:avLst/>
          </a:prstGeom>
        </p:spPr>
        <p:txBody>
          <a:bodyPr vert="horz" anchor="b"/>
          <a:lstStyle>
            <a:lvl1pPr algn="l" eaLnBrk="1" latinLnBrk="0" hangingPunct="1">
              <a:defRPr kumimoji="0" sz="1100">
                <a:solidFill>
                  <a:schemeClr val="tx2"/>
                </a:solidFill>
              </a:defRPr>
            </a:lvl1pPr>
          </a:lstStyle>
          <a:p>
            <a:fld id="{4AAD347D-5ACD-4C99-B74B-A9C85AD731AF}" type="datetimeFigureOut">
              <a:rPr lang="en-US" smtClean="0"/>
            </a:fld>
            <a:endParaRPr lang="en-US" dirty="0"/>
          </a:p>
        </p:txBody>
      </p:sp>
      <p:sp>
        <p:nvSpPr>
          <p:cNvPr id="3" name="Footer Placeholder 2"/>
          <p:cNvSpPr>
            <a:spLocks noGrp="1"/>
          </p:cNvSpPr>
          <p:nvPr>
            <p:ph type="ftr" sz="quarter" idx="3"/>
          </p:nvPr>
        </p:nvSpPr>
        <p:spPr>
          <a:xfrm>
            <a:off x="1219200" y="6416676"/>
            <a:ext cx="7416800" cy="365125"/>
          </a:xfrm>
          <a:prstGeom prst="rect">
            <a:avLst/>
          </a:prstGeom>
        </p:spPr>
        <p:txBody>
          <a:bodyPr vert="horz" anchor="b"/>
          <a:lstStyle>
            <a:lvl1pPr algn="r" eaLnBrk="1" latinLnBrk="0" hangingPunct="1">
              <a:defRPr kumimoji="0" sz="1100">
                <a:solidFill>
                  <a:schemeClr val="tx2"/>
                </a:solidFill>
              </a:defRPr>
            </a:lvl1pPr>
          </a:lstStyle>
          <a:p>
            <a:endParaRPr lang="en-US" dirty="0"/>
          </a:p>
        </p:txBody>
      </p:sp>
      <p:sp>
        <p:nvSpPr>
          <p:cNvPr id="23" name="Slide Number Placeholder 22"/>
          <p:cNvSpPr>
            <a:spLocks noGrp="1"/>
          </p:cNvSpPr>
          <p:nvPr>
            <p:ph type="sldNum" sz="quarter" idx="4"/>
          </p:nvPr>
        </p:nvSpPr>
        <p:spPr>
          <a:xfrm>
            <a:off x="11480800" y="6416676"/>
            <a:ext cx="609600" cy="365125"/>
          </a:xfrm>
          <a:prstGeom prst="rect">
            <a:avLst/>
          </a:prstGeom>
        </p:spPr>
        <p:txBody>
          <a:bodyPr vert="horz" anchor="b"/>
          <a:lstStyle>
            <a:lvl1pPr algn="l" eaLnBrk="1" latinLnBrk="0" hangingPunct="1">
              <a:defRPr kumimoji="0" sz="1200">
                <a:solidFill>
                  <a:schemeClr val="tx2"/>
                </a:solidFill>
              </a:defRPr>
            </a:lvl1pPr>
          </a:lstStyle>
          <a:p>
            <a:fld id="{D57F1E4F-1CFF-5643-939E-02111984F565}" type="slidenum">
              <a:rPr lang="en-US" smtClean="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p:titleStyle>
    <p:bodyStyle>
      <a:lvl1pPr marL="411480" indent="-342900" algn="l" rtl="0" eaLnBrk="1" latinLnBrk="0" hangingPunct="1">
        <a:spcBef>
          <a:spcPts val="700"/>
        </a:spcBef>
        <a:buClr>
          <a:schemeClr val="tx2"/>
        </a:buClr>
        <a:buSzPct val="95000"/>
        <a:buFont typeface="Wingdings" panose="05000000000000000000"/>
        <a:buChar char=""/>
        <a:defRPr kumimoji="0" sz="3000" kern="1200">
          <a:solidFill>
            <a:schemeClr val="tx1"/>
          </a:solidFill>
          <a:latin typeface="+mn-lt"/>
          <a:ea typeface="+mn-ea"/>
          <a:cs typeface="+mn-cs"/>
        </a:defRPr>
      </a:lvl1pPr>
      <a:lvl2pPr marL="740410" indent="-285750" algn="l" rtl="0" eaLnBrk="1" latinLnBrk="0" hangingPunct="1">
        <a:spcBef>
          <a:spcPct val="20000"/>
        </a:spcBef>
        <a:buClr>
          <a:schemeClr val="accent2"/>
        </a:buClr>
        <a:buSzPct val="90000"/>
        <a:buFont typeface="Wingdings" panose="05000000000000000000"/>
        <a:buChar char=""/>
        <a:defRPr kumimoji="0" sz="2600" kern="1200">
          <a:solidFill>
            <a:schemeClr val="tx1"/>
          </a:solidFill>
          <a:latin typeface="+mn-lt"/>
          <a:ea typeface="+mn-ea"/>
          <a:cs typeface="+mn-cs"/>
        </a:defRPr>
      </a:lvl2pPr>
      <a:lvl3pPr marL="996950" indent="-228600" algn="l" rtl="0" eaLnBrk="1" latinLnBrk="0" hangingPunct="1">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261745" indent="-228600" algn="l" rtl="0" eaLnBrk="1" latinLnBrk="0" hangingPunct="1">
        <a:spcBef>
          <a:spcPct val="20000"/>
        </a:spcBef>
        <a:buClr>
          <a:schemeClr val="accent3"/>
        </a:buClr>
        <a:buFont typeface="Wingdings 3" panose="05040102010807070707"/>
        <a:buChar char=""/>
        <a:defRPr kumimoji="0" sz="2200" kern="1200">
          <a:solidFill>
            <a:schemeClr val="tx1"/>
          </a:solidFill>
          <a:latin typeface="+mn-lt"/>
          <a:ea typeface="+mn-ea"/>
          <a:cs typeface="+mn-cs"/>
        </a:defRPr>
      </a:lvl4pPr>
      <a:lvl5pPr marL="1481455" indent="-210185" algn="l" rtl="0" eaLnBrk="1" latinLnBrk="0" hangingPunct="1">
        <a:spcBef>
          <a:spcPct val="20000"/>
        </a:spcBef>
        <a:buClr>
          <a:schemeClr val="accent3"/>
        </a:buClr>
        <a:buFont typeface="Wingdings 2" panose="05020102010507070707"/>
        <a:buChar char=""/>
        <a:defRPr kumimoji="0" sz="2000" kern="1200">
          <a:solidFill>
            <a:schemeClr val="tx1"/>
          </a:solidFill>
          <a:latin typeface="+mn-lt"/>
          <a:ea typeface="+mn-ea"/>
          <a:cs typeface="+mn-cs"/>
        </a:defRPr>
      </a:lvl5pPr>
      <a:lvl6pPr marL="1710055" indent="-210185" algn="l" rtl="0" eaLnBrk="1" latinLnBrk="0" hangingPunct="1">
        <a:spcBef>
          <a:spcPct val="20000"/>
        </a:spcBef>
        <a:buClr>
          <a:schemeClr val="accent3"/>
        </a:buClr>
        <a:buFont typeface="Wingdings 2" panose="05020102010507070707"/>
        <a:buChar char=""/>
        <a:defRPr kumimoji="0" sz="1800" kern="1200">
          <a:solidFill>
            <a:schemeClr val="tx1"/>
          </a:solidFill>
          <a:latin typeface="+mn-lt"/>
          <a:ea typeface="+mn-ea"/>
          <a:cs typeface="+mn-cs"/>
        </a:defRPr>
      </a:lvl6pPr>
      <a:lvl7pPr marL="1901825"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7pPr>
      <a:lvl8pPr marL="209423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2" cstate="print"/>
          <a:stretch>
            <a:fillRect/>
          </a:stretch>
        </p:blipFill>
        <p:spPr>
          <a:xfrm>
            <a:off x="0" y="0"/>
            <a:ext cx="12192000" cy="6858000"/>
          </a:xfrm>
          <a:prstGeom prst="rect">
            <a:avLst/>
          </a:prstGeom>
        </p:spPr>
      </p:pic>
      <p:sp>
        <p:nvSpPr>
          <p:cNvPr id="2" name="Title Placeholder 1"/>
          <p:cNvSpPr>
            <a:spLocks noGrp="1"/>
          </p:cNvSpPr>
          <p:nvPr>
            <p:ph type="title"/>
          </p:nvPr>
        </p:nvSpPr>
        <p:spPr>
          <a:xfrm>
            <a:off x="812800" y="274638"/>
            <a:ext cx="105664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2800" y="1600203"/>
            <a:ext cx="105664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620000" y="6356353"/>
            <a:ext cx="2032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B9CA7F16-7EF7-4BAE-A533-BC5C8B1B0BEB}" type="datetimeFigureOut">
              <a:rPr lang="en-US" smtClean="0"/>
            </a:fld>
            <a:endParaRPr lang="en-US"/>
          </a:p>
        </p:txBody>
      </p:sp>
      <p:sp>
        <p:nvSpPr>
          <p:cNvPr id="5" name="Footer Placeholder 4"/>
          <p:cNvSpPr>
            <a:spLocks noGrp="1"/>
          </p:cNvSpPr>
          <p:nvPr>
            <p:ph type="ftr" sz="quarter" idx="3"/>
          </p:nvPr>
        </p:nvSpPr>
        <p:spPr>
          <a:xfrm>
            <a:off x="812800" y="6356353"/>
            <a:ext cx="38608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10058400" y="6356353"/>
            <a:ext cx="1320800" cy="365125"/>
          </a:xfrm>
          <a:prstGeom prst="rect">
            <a:avLst/>
          </a:prstGeom>
        </p:spPr>
        <p:txBody>
          <a:bodyPr vert="horz" lIns="91440" tIns="45720" rIns="91440" bIns="45720" rtlCol="0" anchor="ctr"/>
          <a:lstStyle>
            <a:lvl1pPr algn="r">
              <a:defRPr sz="1100" baseline="0">
                <a:solidFill>
                  <a:schemeClr val="tx1"/>
                </a:solidFill>
              </a:defRPr>
            </a:lvl1pPr>
          </a:lstStyle>
          <a:p>
            <a:fld id="{8A3A827A-826E-4A0B-AEA4-130148450C5D}"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5"/>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90"/>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B9CA7F16-7EF7-4BAE-A533-BC5C8B1B0BEB}" type="datetimeFigureOut">
              <a:rPr lang="en-US" smtClean="0"/>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9"/>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A3A827A-826E-4A0B-AEA4-130148450C5D}" type="slidenum">
              <a:rPr lang="en-US" smtClean="0"/>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896" y="6250171"/>
            <a:ext cx="5048920" cy="365125"/>
          </a:xfrm>
          <a:prstGeom prst="rect">
            <a:avLst/>
          </a:prstGeom>
        </p:spPr>
        <p:txBody>
          <a:bodyPr vert="horz" lIns="91440" tIns="45720" rIns="91440" bIns="45720" rtlCol="0" anchor="ctr"/>
          <a:lstStyle>
            <a:lvl1pPr algn="r">
              <a:defRPr sz="1000">
                <a:solidFill>
                  <a:schemeClr val="tx2"/>
                </a:solidFill>
              </a:defRPr>
            </a:lvl1pPr>
          </a:lstStyle>
          <a:p>
            <a:fld id="{B9CA7F16-7EF7-4BAE-A533-BC5C8B1B0BEB}" type="datetimeFigureOut">
              <a:rPr lang="en-US" smtClean="0"/>
            </a:fld>
            <a:endParaRPr lang="en-US"/>
          </a:p>
        </p:txBody>
      </p:sp>
      <p:sp>
        <p:nvSpPr>
          <p:cNvPr id="5" name="Footer Placeholder 4"/>
          <p:cNvSpPr>
            <a:spLocks noGrp="1"/>
          </p:cNvSpPr>
          <p:nvPr>
            <p:ph type="ftr" sz="quarter" idx="3"/>
          </p:nvPr>
        </p:nvSpPr>
        <p:spPr>
          <a:xfrm>
            <a:off x="258189" y="6250171"/>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5321452" y="6250170"/>
            <a:ext cx="1549101" cy="365125"/>
          </a:xfrm>
          <a:prstGeom prst="rect">
            <a:avLst/>
          </a:prstGeom>
        </p:spPr>
        <p:txBody>
          <a:bodyPr vert="horz" lIns="91440" tIns="45720" rIns="91440" bIns="45720" rtlCol="0" anchor="ctr"/>
          <a:lstStyle>
            <a:lvl1pPr algn="ctr">
              <a:defRPr sz="1000">
                <a:solidFill>
                  <a:schemeClr val="tx2"/>
                </a:solidFill>
              </a:defRPr>
            </a:lvl1pPr>
          </a:lstStyle>
          <a:p>
            <a:fld id="{8A3A827A-826E-4A0B-AEA4-130148450C5D}" type="slidenum">
              <a:rPr lang="en-US" smtClean="0"/>
            </a:fld>
            <a:endParaRPr lang="en-US"/>
          </a:p>
        </p:txBody>
      </p:sp>
      <p:sp>
        <p:nvSpPr>
          <p:cNvPr id="3" name="Text Placeholder 2"/>
          <p:cNvSpPr>
            <a:spLocks noGrp="1"/>
          </p:cNvSpPr>
          <p:nvPr>
            <p:ph type="body" idx="1"/>
          </p:nvPr>
        </p:nvSpPr>
        <p:spPr>
          <a:xfrm>
            <a:off x="1162761" y="2675467"/>
            <a:ext cx="9877777" cy="3450696"/>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5105400"/>
            <a:ext cx="12192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391053" y="4372168"/>
            <a:ext cx="8683348"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524000" y="732260"/>
            <a:ext cx="8534400" cy="347472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00" y="6172201"/>
            <a:ext cx="33528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4AAD347D-5ACD-4C99-B74B-A9C85AD731AF}" type="datetimeFigureOut">
              <a:rPr lang="en-US" smtClean="0"/>
            </a:fld>
            <a:endParaRPr lang="en-US" dirty="0"/>
          </a:p>
        </p:txBody>
      </p:sp>
      <p:sp>
        <p:nvSpPr>
          <p:cNvPr id="5" name="Footer Placeholder 4"/>
          <p:cNvSpPr>
            <a:spLocks noGrp="1"/>
          </p:cNvSpPr>
          <p:nvPr>
            <p:ph type="ftr" sz="quarter" idx="3"/>
          </p:nvPr>
        </p:nvSpPr>
        <p:spPr>
          <a:xfrm>
            <a:off x="609600" y="6172201"/>
            <a:ext cx="44704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5080000" y="6172201"/>
            <a:ext cx="24384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57F1E4F-1CFF-5643-939E-02111984F565}"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sldNum="0" hdr="0" ftr="0" dt="0"/>
  <p:txStyles>
    <p:title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600" kern="1200">
          <a:solidFill>
            <a:schemeClr val="tx1">
              <a:lumMod val="75000"/>
              <a:lumOff val="25000"/>
            </a:schemeClr>
          </a:solidFill>
          <a:latin typeface="+mn-lt"/>
          <a:ea typeface="+mn-ea"/>
          <a:cs typeface="+mn-cs"/>
        </a:defRPr>
      </a:lvl4pPr>
      <a:lvl5pPr marL="139001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5pPr>
      <a:lvl6pPr marL="166433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8pPr>
      <a:lvl9pPr marL="258762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microsoft.com/office/2007/relationships/hdphoto" Target="../media/image8.wdp"/><Relationship Id="rId1"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13.png"/><Relationship Id="rId7" Type="http://schemas.openxmlformats.org/officeDocument/2006/relationships/customXml" Target="../ink/ink4.xml"/><Relationship Id="rId6" Type="http://schemas.openxmlformats.org/officeDocument/2006/relationships/image" Target="../media/image12.png"/><Relationship Id="rId5" Type="http://schemas.openxmlformats.org/officeDocument/2006/relationships/customXml" Target="../ink/ink3.xml"/><Relationship Id="rId4" Type="http://schemas.openxmlformats.org/officeDocument/2006/relationships/image" Target="../media/image11.png"/><Relationship Id="rId3" Type="http://schemas.openxmlformats.org/officeDocument/2006/relationships/customXml" Target="../ink/ink2.xml"/><Relationship Id="rId2" Type="http://schemas.openxmlformats.org/officeDocument/2006/relationships/image" Target="../media/image10.png"/><Relationship Id="rId10" Type="http://schemas.openxmlformats.org/officeDocument/2006/relationships/slideLayout" Target="../slideLayouts/slideLayout46.xml"/><Relationship Id="rId1" Type="http://schemas.openxmlformats.org/officeDocument/2006/relationships/customXml" Target="../ink/ink1.xml"/></Relationships>
</file>

<file path=ppt/slides/_rels/slide14.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3.png"/><Relationship Id="rId7" Type="http://schemas.openxmlformats.org/officeDocument/2006/relationships/customXml" Target="../ink/ink8.xml"/><Relationship Id="rId6" Type="http://schemas.openxmlformats.org/officeDocument/2006/relationships/image" Target="../media/image12.png"/><Relationship Id="rId5" Type="http://schemas.openxmlformats.org/officeDocument/2006/relationships/customXml" Target="../ink/ink7.xml"/><Relationship Id="rId4" Type="http://schemas.openxmlformats.org/officeDocument/2006/relationships/image" Target="../media/image11.png"/><Relationship Id="rId3" Type="http://schemas.openxmlformats.org/officeDocument/2006/relationships/customXml" Target="../ink/ink6.xml"/><Relationship Id="rId2" Type="http://schemas.openxmlformats.org/officeDocument/2006/relationships/image" Target="../media/image10.png"/><Relationship Id="rId10" Type="http://schemas.openxmlformats.org/officeDocument/2006/relationships/slideLayout" Target="../slideLayouts/slideLayout46.xml"/><Relationship Id="rId1" Type="http://schemas.openxmlformats.org/officeDocument/2006/relationships/customXml" Target="../ink/ink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46.xml"/><Relationship Id="rId8" Type="http://schemas.openxmlformats.org/officeDocument/2006/relationships/image" Target="../media/image20.png"/><Relationship Id="rId7" Type="http://schemas.openxmlformats.org/officeDocument/2006/relationships/customXml" Target="../ink/ink12.xml"/><Relationship Id="rId6" Type="http://schemas.openxmlformats.org/officeDocument/2006/relationships/image" Target="../media/image19.png"/><Relationship Id="rId5" Type="http://schemas.openxmlformats.org/officeDocument/2006/relationships/customXml" Target="../ink/ink11.xml"/><Relationship Id="rId4" Type="http://schemas.openxmlformats.org/officeDocument/2006/relationships/image" Target="../media/image18.png"/><Relationship Id="rId3" Type="http://schemas.openxmlformats.org/officeDocument/2006/relationships/customXml" Target="../ink/ink10.xml"/><Relationship Id="rId2" Type="http://schemas.openxmlformats.org/officeDocument/2006/relationships/image" Target="../media/image17.png"/><Relationship Id="rId1" Type="http://schemas.openxmlformats.org/officeDocument/2006/relationships/customXml" Target="../ink/ink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22.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23.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2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2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cstate="print">
            <a:extLst>
              <a:ext uri="{BEBA8EAE-BF5A-486C-A8C5-ECC9F3942E4B}">
                <a14:imgProps xmlns:a14="http://schemas.microsoft.com/office/drawing/2010/main">
                  <a14:imgLayer r:embed="rId2">
                    <a14:imgEffect>
                      <a14:colorTemperature colorTemp="4700"/>
                    </a14:imgEffect>
                    <a14:imgEffect>
                      <a14:saturation sat="300000"/>
                    </a14:imgEffect>
                  </a14:imgLayer>
                </a14:imgProps>
              </a:ext>
            </a:extLst>
          </a:blip>
          <a:srcRect/>
          <a:stretch>
            <a:fillRect/>
          </a:stretch>
        </p:blipFill>
        <p:spPr>
          <a:xfrm>
            <a:off x="1516743" y="876925"/>
            <a:ext cx="1219200" cy="1132826"/>
          </a:xfrm>
          <a:prstGeom prst="rect">
            <a:avLst/>
          </a:prstGeom>
        </p:spPr>
      </p:pic>
      <p:sp>
        <p:nvSpPr>
          <p:cNvPr id="2" name="Title 1"/>
          <p:cNvSpPr>
            <a:spLocks noGrp="1"/>
          </p:cNvSpPr>
          <p:nvPr>
            <p:ph type="ctrTitle"/>
          </p:nvPr>
        </p:nvSpPr>
        <p:spPr>
          <a:xfrm>
            <a:off x="519358" y="220725"/>
            <a:ext cx="11451771" cy="2790489"/>
          </a:xfrm>
        </p:spPr>
        <p:txBody>
          <a:bodyPr>
            <a:normAutofit fontScale="90000"/>
          </a:bodyPr>
          <a:lstStyle/>
          <a:p>
            <a:pPr marL="182880" indent="0" algn="ctr">
              <a:buNone/>
            </a:pPr>
            <a:r>
              <a:rPr lang="en-US" sz="2700" b="1" dirty="0">
                <a:solidFill>
                  <a:srgbClr val="FF0000"/>
                </a:solidFill>
                <a:effectLst/>
              </a:rPr>
              <a:t>ANNAMACHARYA INSTITUTE OF TECHNOLOGY AND SCIENCES::TIRUPATI</a:t>
            </a:r>
            <a:br>
              <a:rPr lang="en-US" sz="2700" b="1" dirty="0">
                <a:solidFill>
                  <a:srgbClr val="FF0000"/>
                </a:solidFill>
                <a:effectLst/>
              </a:rPr>
            </a:br>
            <a:r>
              <a:rPr lang="en-IN" sz="2000" b="1" dirty="0">
                <a:solidFill>
                  <a:srgbClr val="FF0000"/>
                </a:solidFill>
                <a:effectLst/>
              </a:rPr>
              <a:t>(AUTONOMOUS)</a:t>
            </a:r>
            <a:br>
              <a:rPr lang="en-IN" sz="2000" b="1" dirty="0">
                <a:solidFill>
                  <a:srgbClr val="FF0000"/>
                </a:solidFill>
                <a:effectLst/>
              </a:rPr>
            </a:br>
            <a:r>
              <a:rPr lang="en-IN" sz="2400" dirty="0">
                <a:solidFill>
                  <a:srgbClr val="0033CC"/>
                </a:solidFill>
                <a:effectLst/>
              </a:rPr>
              <a:t>Department of Artificial Intelligence</a:t>
            </a:r>
            <a:br>
              <a:rPr lang="en-IN" sz="2000" dirty="0">
                <a:solidFill>
                  <a:srgbClr val="0033CC"/>
                </a:solidFill>
                <a:effectLst/>
              </a:rPr>
            </a:br>
            <a:r>
              <a:rPr lang="en-IN" sz="2400" dirty="0">
                <a:effectLst/>
                <a:latin typeface="Algerian" panose="04020705040A02060702" pitchFamily="82" charset="0"/>
              </a:rPr>
              <a:t>A.Y.: 2024-2025</a:t>
            </a:r>
            <a:br>
              <a:rPr lang="en-IN" sz="2700" b="1" dirty="0">
                <a:solidFill>
                  <a:schemeClr val="accent1">
                    <a:lumMod val="75000"/>
                  </a:schemeClr>
                </a:solidFill>
                <a:effectLst/>
              </a:rPr>
            </a:br>
            <a:r>
              <a:rPr lang="en-IN" sz="2700" dirty="0">
                <a:solidFill>
                  <a:schemeClr val="accent1">
                    <a:lumMod val="75000"/>
                  </a:schemeClr>
                </a:solidFill>
                <a:effectLst/>
              </a:rPr>
              <a:t>FINAL REVIEW</a:t>
            </a:r>
            <a:br>
              <a:rPr lang="en-IN" sz="2700" b="1" dirty="0">
                <a:solidFill>
                  <a:schemeClr val="accent1">
                    <a:lumMod val="75000"/>
                  </a:schemeClr>
                </a:solidFill>
                <a:effectLst/>
              </a:rPr>
            </a:br>
            <a:br>
              <a:rPr lang="en-IN" sz="2445" dirty="0">
                <a:solidFill>
                  <a:schemeClr val="accent6"/>
                </a:solidFill>
                <a:effectLst/>
                <a:latin typeface="Arial Black" panose="020B0A04020102020204" pitchFamily="34" charset="0"/>
                <a:cs typeface="Times New Roman" panose="02020603050405020304" pitchFamily="18" charset="0"/>
              </a:rPr>
            </a:br>
            <a:r>
              <a:rPr lang="en-GB" sz="2445" b="1" dirty="0">
                <a:solidFill>
                  <a:schemeClr val="accent6"/>
                </a:solidFill>
                <a:effectLst/>
                <a:latin typeface="Arial Black" panose="020B0A04020102020204" pitchFamily="34" charset="0"/>
                <a:cs typeface="Times New Roman" panose="02020603050405020304" pitchFamily="18" charset="0"/>
              </a:rPr>
              <a:t> </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 Novel Web Framework for Cervical Cancer Detection System A Machine Learning Breakthrough</a:t>
            </a:r>
            <a:br>
              <a:rPr lang="en-US" sz="2000" dirty="0">
                <a:effectLst/>
                <a:latin typeface="Calibri" panose="020F0502020204030204" pitchFamily="34" charset="0"/>
                <a:ea typeface="Times New Roman" panose="02020603050405020304" pitchFamily="18" charset="0"/>
                <a:cs typeface="Times New Roman" panose="02020603050405020304" pitchFamily="18" charset="0"/>
              </a:rPr>
            </a:br>
            <a:br>
              <a:rPr lang="en-US" sz="2000" dirty="0">
                <a:effectLst/>
                <a:latin typeface="Calibri" panose="020F0502020204030204" pitchFamily="34" charset="0"/>
                <a:ea typeface="Times New Roman" panose="02020603050405020304" pitchFamily="18" charset="0"/>
                <a:cs typeface="Times New Roman" panose="02020603050405020304" pitchFamily="18" charset="0"/>
              </a:rPr>
            </a:br>
            <a:br>
              <a:rPr lang="en-IN" sz="2400" dirty="0"/>
            </a:br>
            <a:endParaRPr lang="en-US" altLang="en-US" sz="2445" b="0" dirty="0">
              <a:solidFill>
                <a:srgbClr val="FF0000"/>
              </a:solidFill>
              <a:effectLst>
                <a:outerShdw blurRad="38100" dist="19050" dir="2700000" algn="tl" rotWithShape="0">
                  <a:schemeClr val="dk1">
                    <a:alpha val="40000"/>
                  </a:schemeClr>
                </a:outerShdw>
              </a:effectLst>
              <a:latin typeface="Arial Black" panose="020B0A04020102020204" pitchFamily="34" charset="0"/>
              <a:cs typeface="Times New Roman" panose="02020603050405020304" pitchFamily="18" charset="0"/>
            </a:endParaRPr>
          </a:p>
        </p:txBody>
      </p:sp>
      <p:sp>
        <p:nvSpPr>
          <p:cNvPr id="5" name="TextBox 4"/>
          <p:cNvSpPr txBox="1"/>
          <p:nvPr/>
        </p:nvSpPr>
        <p:spPr>
          <a:xfrm>
            <a:off x="2538621" y="4467458"/>
            <a:ext cx="6893886" cy="2000548"/>
          </a:xfrm>
          <a:prstGeom prst="rect">
            <a:avLst/>
          </a:prstGeom>
          <a:noFill/>
        </p:spPr>
        <p:txBody>
          <a:bodyPr wrap="square" rtlCol="0">
            <a:spAutoFit/>
          </a:bodyPr>
          <a:lstStyle/>
          <a:p>
            <a:r>
              <a:rPr lang="en-GB" sz="2000" b="1" dirty="0"/>
              <a:t>			</a:t>
            </a:r>
            <a:r>
              <a:rPr lang="en-GB" sz="2400" b="1" dirty="0">
                <a:solidFill>
                  <a:srgbClr val="660033"/>
                </a:solidFill>
              </a:rPr>
              <a:t>BATCH NO: </a:t>
            </a:r>
            <a:r>
              <a:rPr lang="en-US" sz="2400" b="1" dirty="0">
                <a:solidFill>
                  <a:srgbClr val="660033"/>
                </a:solidFill>
              </a:rPr>
              <a:t>10</a:t>
            </a:r>
            <a:endParaRPr lang="en-GB" sz="2400" b="1" dirty="0">
              <a:solidFill>
                <a:srgbClr val="660033"/>
              </a:solidFill>
            </a:endParaRPr>
          </a:p>
          <a:p>
            <a:endParaRPr lang="en-GB" sz="2000" b="1" dirty="0"/>
          </a:p>
          <a:p>
            <a:pPr algn="just"/>
            <a:r>
              <a:rPr lang="en-US" sz="2000" b="1" dirty="0"/>
              <a:t>21AK1A3056 		           G PAVITHRA</a:t>
            </a:r>
            <a:endParaRPr lang="en-US" sz="2000" b="1" dirty="0"/>
          </a:p>
          <a:p>
            <a:pPr algn="just"/>
            <a:r>
              <a:rPr lang="en-US" sz="2000" b="1" dirty="0"/>
              <a:t>21AK1A3055		           A PAVITHRA</a:t>
            </a:r>
            <a:endParaRPr lang="en-US" sz="2000" b="1" dirty="0"/>
          </a:p>
          <a:p>
            <a:r>
              <a:rPr lang="en-US" sz="2000" b="1" dirty="0"/>
              <a:t>21AK1A3066			     P RUCHITHA</a:t>
            </a:r>
            <a:endParaRPr lang="en-US" sz="2000" b="1" dirty="0"/>
          </a:p>
          <a:p>
            <a:r>
              <a:rPr lang="en-US" sz="2000" b="1" dirty="0"/>
              <a:t>22AK5A3012			     B MAHESH</a:t>
            </a:r>
            <a:endParaRPr lang="en-IN" sz="2000" b="1" dirty="0"/>
          </a:p>
        </p:txBody>
      </p:sp>
      <p:sp>
        <p:nvSpPr>
          <p:cNvPr id="6" name="TextBox 5"/>
          <p:cNvSpPr txBox="1"/>
          <p:nvPr/>
        </p:nvSpPr>
        <p:spPr>
          <a:xfrm>
            <a:off x="350551" y="3140918"/>
            <a:ext cx="5210493" cy="1630045"/>
          </a:xfrm>
          <a:prstGeom prst="rect">
            <a:avLst/>
          </a:prstGeom>
          <a:noFill/>
        </p:spPr>
        <p:txBody>
          <a:bodyPr wrap="square" rtlCol="0">
            <a:spAutoFit/>
          </a:bodyPr>
          <a:lstStyle/>
          <a:p>
            <a:r>
              <a:rPr lang="en-GB" sz="2000" b="1" dirty="0">
                <a:solidFill>
                  <a:srgbClr val="FF0000"/>
                </a:solidFill>
              </a:rPr>
              <a:t>Under the Guidance of</a:t>
            </a:r>
            <a:endParaRPr lang="en-GB" sz="2000" b="1" dirty="0">
              <a:solidFill>
                <a:srgbClr val="FF0000"/>
              </a:solidFill>
            </a:endParaRPr>
          </a:p>
          <a:p>
            <a:r>
              <a:rPr lang="en-GB" sz="2000" b="1" dirty="0">
                <a:solidFill>
                  <a:srgbClr val="0033CC"/>
                </a:solidFill>
              </a:rPr>
              <a:t>Mrs.</a:t>
            </a:r>
            <a:r>
              <a:rPr lang="en-GB" sz="2000" b="1" dirty="0" err="1">
                <a:solidFill>
                  <a:srgbClr val="0033CC"/>
                </a:solidFill>
              </a:rPr>
              <a:t>Shaik.Sham</a:t>
            </a:r>
            <a:r>
              <a:rPr lang="en-IN" altLang="en-GB" sz="2000" b="1" dirty="0" err="1">
                <a:solidFill>
                  <a:srgbClr val="0033CC"/>
                </a:solidFill>
              </a:rPr>
              <a:t>e</a:t>
            </a:r>
            <a:r>
              <a:rPr lang="en-GB" sz="2000" b="1" dirty="0" err="1">
                <a:solidFill>
                  <a:srgbClr val="0033CC"/>
                </a:solidFill>
              </a:rPr>
              <a:t>en</a:t>
            </a:r>
            <a:r>
              <a:rPr lang="en-GB" sz="2000" b="1" dirty="0">
                <a:solidFill>
                  <a:srgbClr val="0033CC"/>
                </a:solidFill>
              </a:rPr>
              <a:t> Taz.,</a:t>
            </a:r>
            <a:r>
              <a:rPr lang="en-GB" sz="2000" b="1" dirty="0" err="1">
                <a:solidFill>
                  <a:srgbClr val="0033CC"/>
                </a:solidFill>
              </a:rPr>
              <a:t>M.Tech</a:t>
            </a:r>
            <a:r>
              <a:rPr lang="en-GB" sz="2000" b="1" dirty="0">
                <a:solidFill>
                  <a:srgbClr val="0033CC"/>
                </a:solidFill>
              </a:rPr>
              <a:t>.,(</a:t>
            </a:r>
            <a:r>
              <a:rPr lang="en-GB" sz="2000" b="1" dirty="0" err="1">
                <a:solidFill>
                  <a:srgbClr val="0033CC"/>
                </a:solidFill>
              </a:rPr>
              <a:t>Ph.D</a:t>
            </a:r>
            <a:r>
              <a:rPr lang="en-GB" sz="2000" b="1" dirty="0">
                <a:solidFill>
                  <a:srgbClr val="0033CC"/>
                </a:solidFill>
              </a:rPr>
              <a:t>)</a:t>
            </a:r>
            <a:endParaRPr lang="en-GB" sz="2000" b="1" dirty="0">
              <a:solidFill>
                <a:srgbClr val="0033CC"/>
              </a:solidFill>
            </a:endParaRPr>
          </a:p>
          <a:p>
            <a:r>
              <a:rPr lang="en-GB" sz="2000" b="1" dirty="0"/>
              <a:t>Associate Professor</a:t>
            </a:r>
            <a:endParaRPr lang="en-GB" sz="2000" b="1" dirty="0"/>
          </a:p>
          <a:p>
            <a:r>
              <a:rPr lang="en-GB" sz="2000" b="1" dirty="0"/>
              <a:t>Department of AI</a:t>
            </a:r>
            <a:endParaRPr lang="en-GB" sz="2000" b="1" dirty="0"/>
          </a:p>
          <a:p>
            <a:r>
              <a:rPr lang="en-GB" sz="2000" b="1" dirty="0"/>
              <a:t>AITS, Tirupati</a:t>
            </a:r>
            <a:endParaRPr lang="en-IN" sz="2000" b="1" dirty="0"/>
          </a:p>
        </p:txBody>
      </p:sp>
      <p:sp>
        <p:nvSpPr>
          <p:cNvPr id="7" name="TextBox 6"/>
          <p:cNvSpPr txBox="1"/>
          <p:nvPr/>
        </p:nvSpPr>
        <p:spPr>
          <a:xfrm>
            <a:off x="7200347" y="3047202"/>
            <a:ext cx="4770782" cy="1630045"/>
          </a:xfrm>
          <a:prstGeom prst="rect">
            <a:avLst/>
          </a:prstGeom>
          <a:noFill/>
        </p:spPr>
        <p:txBody>
          <a:bodyPr wrap="square" rtlCol="0">
            <a:spAutoFit/>
          </a:bodyPr>
          <a:lstStyle/>
          <a:p>
            <a:r>
              <a:rPr lang="en-GB" sz="2000" b="1" dirty="0">
                <a:solidFill>
                  <a:srgbClr val="FF0000"/>
                </a:solidFill>
              </a:rPr>
              <a:t>Head of the Department</a:t>
            </a:r>
            <a:endParaRPr lang="en-GB" sz="2000" b="1" dirty="0">
              <a:solidFill>
                <a:srgbClr val="FF0000"/>
              </a:solidFill>
            </a:endParaRPr>
          </a:p>
          <a:p>
            <a:r>
              <a:rPr lang="en-GB" sz="2000" b="1" dirty="0">
                <a:solidFill>
                  <a:srgbClr val="0033CC"/>
                </a:solidFill>
              </a:rPr>
              <a:t>Dr. </a:t>
            </a:r>
            <a:r>
              <a:rPr lang="en-GB" sz="2000" b="1" dirty="0" err="1">
                <a:solidFill>
                  <a:srgbClr val="0033CC"/>
                </a:solidFill>
              </a:rPr>
              <a:t>C.SivaBalaji</a:t>
            </a:r>
            <a:r>
              <a:rPr lang="en-GB" sz="2000" b="1" dirty="0">
                <a:solidFill>
                  <a:srgbClr val="0033CC"/>
                </a:solidFill>
              </a:rPr>
              <a:t> Yadav.,</a:t>
            </a:r>
            <a:r>
              <a:rPr lang="en-IN" altLang="en-GB" sz="2000" b="1" dirty="0">
                <a:solidFill>
                  <a:srgbClr val="0033CC"/>
                </a:solidFill>
              </a:rPr>
              <a:t> </a:t>
            </a:r>
            <a:r>
              <a:rPr lang="en-GB" sz="2000" b="1" dirty="0">
                <a:solidFill>
                  <a:srgbClr val="0033CC"/>
                </a:solidFill>
              </a:rPr>
              <a:t>Ph.D</a:t>
            </a:r>
            <a:endParaRPr lang="en-GB" sz="2000" b="1" dirty="0">
              <a:solidFill>
                <a:srgbClr val="0033CC"/>
              </a:solidFill>
            </a:endParaRPr>
          </a:p>
          <a:p>
            <a:r>
              <a:rPr lang="en-GB" sz="2000" b="1" dirty="0"/>
              <a:t> Professor</a:t>
            </a:r>
            <a:endParaRPr lang="en-GB" sz="2000" b="1" dirty="0"/>
          </a:p>
          <a:p>
            <a:r>
              <a:rPr lang="en-GB" sz="2000" b="1" dirty="0"/>
              <a:t>Department of AI</a:t>
            </a:r>
            <a:endParaRPr lang="en-GB" sz="2000" b="1" dirty="0"/>
          </a:p>
          <a:p>
            <a:r>
              <a:rPr lang="en-GB" sz="2000" b="1" dirty="0"/>
              <a:t>AITS, Tirupati</a:t>
            </a:r>
            <a:endParaRPr lang="en-IN" sz="2000" b="1"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 y="77833"/>
            <a:ext cx="12029440" cy="705287"/>
          </a:xfrm>
          <a:ln w="3175">
            <a:solidFill>
              <a:schemeClr val="accent1"/>
            </a:solidFill>
          </a:ln>
        </p:spPr>
        <p:txBody>
          <a:bodyPr>
            <a:normAutofit/>
          </a:bodyPr>
          <a:lstStyle/>
          <a:p>
            <a:pPr marL="0" indent="0" algn="l">
              <a:buNone/>
            </a:pPr>
            <a:r>
              <a:rPr lang="en-US" sz="3200" b="1" dirty="0">
                <a:solidFill>
                  <a:srgbClr val="6666FF"/>
                </a:solidFill>
              </a:rPr>
              <a:t> </a:t>
            </a:r>
            <a:r>
              <a:rPr lang="en-US" sz="2800" b="1" dirty="0">
                <a:solidFill>
                  <a:schemeClr val="bg2">
                    <a:lumMod val="50000"/>
                  </a:schemeClr>
                </a:solidFill>
              </a:rPr>
              <a:t>ABSTRACT</a:t>
            </a:r>
            <a:endParaRPr lang="en-IN" sz="3200" b="1" dirty="0">
              <a:solidFill>
                <a:schemeClr val="bg2">
                  <a:lumMod val="50000"/>
                </a:schemeClr>
              </a:solidFill>
            </a:endParaRPr>
          </a:p>
        </p:txBody>
      </p:sp>
      <p:sp>
        <p:nvSpPr>
          <p:cNvPr id="3" name="Content Placeholder 2"/>
          <p:cNvSpPr>
            <a:spLocks noGrp="1"/>
          </p:cNvSpPr>
          <p:nvPr>
            <p:ph sz="quarter" idx="13"/>
          </p:nvPr>
        </p:nvSpPr>
        <p:spPr>
          <a:xfrm>
            <a:off x="81280" y="864401"/>
            <a:ext cx="12029440" cy="5915766"/>
          </a:xfrm>
          <a:prstGeom prst="rect">
            <a:avLst/>
          </a:prstGeom>
          <a:ln w="3175">
            <a:solidFill>
              <a:schemeClr val="accent1"/>
            </a:solidFill>
          </a:ln>
        </p:spPr>
        <p:txBody>
          <a:bodyPr>
            <a:normAutofit/>
          </a:bodyPr>
          <a:lstStyle/>
          <a:p>
            <a:pPr marL="45720" indent="0" algn="just">
              <a:spcBef>
                <a:spcPts val="0"/>
              </a:spcBef>
              <a:spcAft>
                <a:spcPts val="0"/>
              </a:spcAft>
              <a:buNone/>
            </a:pPr>
            <a:endParaRPr lang="en-US" sz="600" dirty="0">
              <a:latin typeface="Tahoma" panose="020B0604030504040204" pitchFamily="34" charset="0"/>
              <a:ea typeface="Tahoma" panose="020B0604030504040204" pitchFamily="34" charset="0"/>
              <a:cs typeface="Tahoma" panose="020B0604030504040204" pitchFamily="34" charset="0"/>
            </a:endParaRPr>
          </a:p>
          <a:p>
            <a:pPr marL="0" marR="0" indent="0" algn="just">
              <a:lnSpc>
                <a:spcPct val="150000"/>
              </a:lnSpc>
              <a:spcAft>
                <a:spcPts val="1000"/>
              </a:spcAft>
              <a:buNone/>
            </a:pP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Cervical cancer remains a leading cause of cancer-related deaths among women worldwide, despite being preventable and treatable if detected early. Advances in machine learning (ML) have paved the way for innovative solutions to address the challenges of early diagnosis and timely intervention. This project introduces a novel web-based framework for cervical cancer detection that leverages cutting-edge ML algorithms to deliver accurate, efficient, and accessible diagnostic support. The proposed system integrates multi-dimensional data, including demographic information, medical histories, and screening test results, to train robust ML models for cervical cancer risk prediction. A user-friendly web interface allows healthcare providers and individuals to input patient data and receive real-time risk assessments, empowering informed decision-making. The framework utilizes advanced techniques such as ensemble learning, feature selection, and hyperparameter optimization to enhance predictive accuracy and reliability.</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50000"/>
              </a:lnSpc>
              <a:spcAft>
                <a:spcPts val="1000"/>
              </a:spcAft>
              <a:buNone/>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Keywords:</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Cervical, Cancer, Machine Learning, Dimensional Data</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 indent="0" algn="just">
              <a:lnSpc>
                <a:spcPct val="150000"/>
              </a:lnSpc>
              <a:buNone/>
            </a:pPr>
            <a:endParaRPr lang="en-US" b="1" dirty="0">
              <a:latin typeface="Arial" panose="020B0604020202020204" pitchFamily="34" charset="0"/>
              <a:ea typeface="Tahoma" panose="020B0604030504040204" pitchFamily="34" charset="0"/>
              <a:cs typeface="Arial" panose="020B0604020202020204" pitchFamily="34" charset="0"/>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280" y="847633"/>
            <a:ext cx="12029440" cy="5932534"/>
          </a:xfrm>
          <a:prstGeom prst="rect">
            <a:avLst/>
          </a:prstGeom>
          <a:ln w="3175">
            <a:solidFill>
              <a:schemeClr val="accent1"/>
            </a:solidFill>
          </a:ln>
        </p:spPr>
        <p:txBody>
          <a:bodyPr>
            <a:normAutofit/>
          </a:bodyPr>
          <a:lstStyle/>
          <a:p>
            <a:pPr marL="102870" marR="0" indent="-285750">
              <a:lnSpc>
                <a:spcPct val="150000"/>
              </a:lnSpc>
              <a:spcAft>
                <a:spcPts val="1000"/>
              </a:spcAft>
              <a:buFont typeface="Wingdings" panose="05000000000000000000" pitchFamily="2" charset="2"/>
              <a:buChar char="§"/>
            </a:pPr>
            <a:r>
              <a:rPr lang="en-US" sz="1800" dirty="0">
                <a:effectLst/>
                <a:latin typeface="Arial" panose="020B0604020202020204" pitchFamily="34" charset="0"/>
                <a:ea typeface="Times New Roman" panose="02020603050405020304" pitchFamily="18" charset="0"/>
                <a:cs typeface="Arial" panose="020B0604020202020204" pitchFamily="34" charset="0"/>
              </a:rPr>
              <a:t>Cervical cancer remains a significant public health challenge, ranking as one of the leading causes of cancer-related deaths among women worldwide. </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p>
            <a:pPr marL="102870" marR="0" indent="-285750">
              <a:lnSpc>
                <a:spcPct val="150000"/>
              </a:lnSpc>
              <a:spcAft>
                <a:spcPts val="1000"/>
              </a:spcAft>
              <a:buFont typeface="Wingdings" panose="05000000000000000000" pitchFamily="2" charset="2"/>
              <a:buChar char="§"/>
            </a:pPr>
            <a:r>
              <a:rPr lang="en-US" sz="1800" dirty="0">
                <a:effectLst/>
                <a:latin typeface="Arial" panose="020B0604020202020204" pitchFamily="34" charset="0"/>
                <a:ea typeface="Times New Roman" panose="02020603050405020304" pitchFamily="18" charset="0"/>
                <a:cs typeface="Arial" panose="020B0604020202020204" pitchFamily="34" charset="0"/>
              </a:rPr>
              <a:t>Early and accurate detection is crucial for improving survival rates and reducing the global burden of this disease. </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p>
            <a:pPr marL="102870" marR="0" indent="-285750">
              <a:lnSpc>
                <a:spcPct val="150000"/>
              </a:lnSpc>
              <a:spcAft>
                <a:spcPts val="1000"/>
              </a:spcAft>
              <a:buFont typeface="Wingdings" panose="05000000000000000000" pitchFamily="2" charset="2"/>
              <a:buChar char="§"/>
            </a:pPr>
            <a:r>
              <a:rPr lang="en-US" sz="1800" dirty="0">
                <a:effectLst/>
                <a:latin typeface="Arial" panose="020B0604020202020204" pitchFamily="34" charset="0"/>
                <a:ea typeface="Times New Roman" panose="02020603050405020304" pitchFamily="18" charset="0"/>
                <a:cs typeface="Arial" panose="020B0604020202020204" pitchFamily="34" charset="0"/>
              </a:rPr>
              <a:t>However, conventional diagnostic methods often face challenges such as high costs, limited accessibility, and reliance on expert interpretation, which may lead to delayed or inaccurate diagnoses.</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p>
            <a:pPr marL="102870" marR="0" indent="-285750">
              <a:lnSpc>
                <a:spcPct val="150000"/>
              </a:lnSpc>
              <a:spcAft>
                <a:spcPts val="1000"/>
              </a:spcAft>
              <a:buFont typeface="Wingdings" panose="05000000000000000000" pitchFamily="2" charset="2"/>
              <a:buChar char="§"/>
            </a:pPr>
            <a:r>
              <a:rPr lang="en-US" sz="1800" dirty="0">
                <a:effectLst/>
                <a:latin typeface="Arial" panose="020B0604020202020204" pitchFamily="34" charset="0"/>
                <a:ea typeface="Times New Roman" panose="02020603050405020304" pitchFamily="18" charset="0"/>
                <a:cs typeface="Arial" panose="020B0604020202020204" pitchFamily="34" charset="0"/>
              </a:rPr>
              <a:t>In recent years, advancements in machine learning (ML) have revolutionized the field of medical diagnostics, offering unprecedented opportunities for enhanced accuracy, efficiency, and scalability. </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p>
            <a:pPr marL="102870" marR="0" indent="-285750">
              <a:lnSpc>
                <a:spcPct val="150000"/>
              </a:lnSpc>
              <a:spcAft>
                <a:spcPts val="1000"/>
              </a:spcAft>
              <a:buFont typeface="Wingdings" panose="05000000000000000000" pitchFamily="2" charset="2"/>
              <a:buChar char="§"/>
            </a:pPr>
            <a:r>
              <a:rPr lang="en-US" sz="1800" dirty="0">
                <a:effectLst/>
                <a:latin typeface="Arial" panose="020B0604020202020204" pitchFamily="34" charset="0"/>
                <a:ea typeface="Times New Roman" panose="02020603050405020304" pitchFamily="18" charset="0"/>
                <a:cs typeface="Arial" panose="020B0604020202020204" pitchFamily="34" charset="0"/>
              </a:rPr>
              <a:t>Leveraging the power of ML, this study introduces a novel web framework designed specifically for cervical cancer detection. </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p>
            <a:pPr marL="102870" marR="0" indent="-285750">
              <a:lnSpc>
                <a:spcPct val="150000"/>
              </a:lnSpc>
              <a:spcAft>
                <a:spcPts val="1000"/>
              </a:spcAft>
              <a:buFont typeface="Wingdings" panose="05000000000000000000" pitchFamily="2" charset="2"/>
              <a:buChar char="§"/>
            </a:pPr>
            <a:r>
              <a:rPr lang="en-US" sz="1800" dirty="0">
                <a:effectLst/>
                <a:latin typeface="Arial" panose="020B0604020202020204" pitchFamily="34" charset="0"/>
                <a:ea typeface="Times New Roman" panose="02020603050405020304" pitchFamily="18" charset="0"/>
                <a:cs typeface="Arial" panose="020B0604020202020204" pitchFamily="34" charset="0"/>
              </a:rPr>
              <a:t>This framework integrates state-of-the-art ML algorithms with an intuitive and user-friendly web interface, making it accessible to healthcare providers and researchers globally</a:t>
            </a:r>
            <a:endParaRPr lang="en-IN" sz="1800" dirty="0">
              <a:latin typeface="Arial" panose="020B0604020202020204" pitchFamily="34" charset="0"/>
              <a:cs typeface="Arial" panose="020B0604020202020204" pitchFamily="34" charset="0"/>
            </a:endParaRPr>
          </a:p>
          <a:p>
            <a:pPr marL="45720" indent="0" algn="just">
              <a:buNone/>
            </a:pPr>
            <a:endParaRPr lang="en-US" sz="2400" dirty="0">
              <a:latin typeface="Arial" panose="020B0604020202020204" pitchFamily="34" charset="0"/>
              <a:cs typeface="Arial" panose="020B0604020202020204" pitchFamily="34" charset="0"/>
            </a:endParaRPr>
          </a:p>
        </p:txBody>
      </p:sp>
      <p:sp>
        <p:nvSpPr>
          <p:cNvPr id="4" name="Title 1"/>
          <p:cNvSpPr txBox="1"/>
          <p:nvPr/>
        </p:nvSpPr>
        <p:spPr>
          <a:xfrm>
            <a:off x="81280" y="77833"/>
            <a:ext cx="12029440" cy="705287"/>
          </a:xfrm>
          <a:prstGeom prst="rect">
            <a:avLst/>
          </a:prstGeom>
          <a:ln w="3175">
            <a:solidFill>
              <a:schemeClr val="accent1"/>
            </a:solidFill>
          </a:ln>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l">
              <a:buFont typeface="Georgia" panose="02040502050405020303" pitchFamily="18" charset="0"/>
              <a:buNone/>
            </a:pPr>
            <a:r>
              <a:rPr lang="en-US" sz="3200" dirty="0">
                <a:solidFill>
                  <a:srgbClr val="6666FF"/>
                </a:solidFill>
              </a:rPr>
              <a:t> </a:t>
            </a:r>
            <a:r>
              <a:rPr lang="en-US" sz="2800" dirty="0">
                <a:solidFill>
                  <a:schemeClr val="bg2">
                    <a:lumMod val="50000"/>
                  </a:schemeClr>
                </a:solidFill>
              </a:rPr>
              <a:t>DOMAIN INTRODUCTION </a:t>
            </a:r>
            <a:endParaRPr lang="en-IN" sz="3200" dirty="0">
              <a:solidFill>
                <a:schemeClr val="bg2">
                  <a:lumMod val="50000"/>
                </a:schemeClr>
              </a:solidFill>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 y="71121"/>
            <a:ext cx="12043663" cy="690879"/>
          </a:xfrm>
          <a:ln w="3175">
            <a:solidFill>
              <a:schemeClr val="accent1"/>
            </a:solidFill>
          </a:ln>
        </p:spPr>
        <p:txBody>
          <a:bodyPr>
            <a:normAutofit/>
          </a:bodyPr>
          <a:lstStyle/>
          <a:p>
            <a:pPr marL="0" indent="0" algn="l">
              <a:buNone/>
            </a:pPr>
            <a:r>
              <a:rPr lang="en-US" sz="3200" b="1" dirty="0">
                <a:solidFill>
                  <a:srgbClr val="6666FF"/>
                </a:solidFill>
              </a:rPr>
              <a:t> RELATED WORKS (EXISTING)</a:t>
            </a:r>
            <a:endParaRPr lang="en-IN" sz="3200" b="1" dirty="0">
              <a:solidFill>
                <a:srgbClr val="6666FF"/>
              </a:solidFill>
            </a:endParaRPr>
          </a:p>
        </p:txBody>
      </p:sp>
      <p:graphicFrame>
        <p:nvGraphicFramePr>
          <p:cNvPr id="4" name="Table 3"/>
          <p:cNvGraphicFramePr>
            <a:graphicFrameLocks noGrp="1"/>
          </p:cNvGraphicFramePr>
          <p:nvPr/>
        </p:nvGraphicFramePr>
        <p:xfrm>
          <a:off x="58887" y="846879"/>
          <a:ext cx="12060000" cy="5940000"/>
        </p:xfrm>
        <a:graphic>
          <a:graphicData uri="http://schemas.openxmlformats.org/drawingml/2006/table">
            <a:tbl>
              <a:tblPr firstRow="1" bandRow="1">
                <a:tableStyleId>{5C22544A-7EE6-4342-B048-85BDC9FD1C3A}</a:tableStyleId>
              </a:tblPr>
              <a:tblGrid>
                <a:gridCol w="520872"/>
                <a:gridCol w="1926486"/>
                <a:gridCol w="2658577"/>
                <a:gridCol w="2147315"/>
                <a:gridCol w="2616175"/>
                <a:gridCol w="2190575"/>
              </a:tblGrid>
              <a:tr h="761474">
                <a:tc>
                  <a:txBody>
                    <a:bodyPr/>
                    <a:lstStyle/>
                    <a:p>
                      <a:pPr algn="ctr"/>
                      <a:r>
                        <a:rPr lang="en-US" sz="1600" dirty="0">
                          <a:latin typeface="Arial" panose="020B0604020202020204" pitchFamily="34" charset="0"/>
                          <a:cs typeface="Arial" panose="020B0604020202020204" pitchFamily="34" charset="0"/>
                        </a:rPr>
                        <a:t>Sl.</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Title of the Paper</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Problem</a:t>
                      </a:r>
                      <a:r>
                        <a:rPr lang="en-US" sz="1600" baseline="0" dirty="0">
                          <a:latin typeface="Arial" panose="020B0604020202020204" pitchFamily="34" charset="0"/>
                          <a:cs typeface="Arial" panose="020B0604020202020204" pitchFamily="34" charset="0"/>
                        </a:rPr>
                        <a:t> Statement</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Method /</a:t>
                      </a:r>
                      <a:r>
                        <a:rPr lang="en-US" sz="1600" baseline="0" dirty="0">
                          <a:latin typeface="Arial" panose="020B0604020202020204" pitchFamily="34" charset="0"/>
                          <a:cs typeface="Arial" panose="020B0604020202020204" pitchFamily="34" charset="0"/>
                        </a:rPr>
                        <a:t> Algorithm Used</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Year</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Author Name</a:t>
                      </a:r>
                      <a:endParaRPr lang="en-US" sz="1600" dirty="0">
                        <a:latin typeface="Arial" panose="020B0604020202020204" pitchFamily="34" charset="0"/>
                        <a:cs typeface="Arial" panose="020B0604020202020204" pitchFamily="34" charset="0"/>
                      </a:endParaRPr>
                    </a:p>
                  </a:txBody>
                  <a:tcPr/>
                </a:tc>
              </a:tr>
              <a:tr h="2388101">
                <a:tc>
                  <a:txBody>
                    <a:bodyPr/>
                    <a:lstStyle/>
                    <a:p>
                      <a:pPr algn="ctr"/>
                      <a:r>
                        <a:rPr lang="en-US" sz="1600" dirty="0">
                          <a:latin typeface="Arial" panose="020B0604020202020204" pitchFamily="34" charset="0"/>
                          <a:cs typeface="Arial" panose="020B0604020202020204" pitchFamily="34" charset="0"/>
                        </a:rPr>
                        <a:t>1.</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Hybrid Machine Learning Approach for Cervical Cancer Detection Using Feature Selection</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Irrelevant and redundant features in datasets can degrade the performance of classification models</a:t>
                      </a:r>
                      <a:endParaRPr lang="en-US" sz="1600" dirty="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Conventional diagnostic techniques, such as Pap smears, are often subjective, time-consuming, and prone to human error</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algn="ctr">
                        <a:lnSpc>
                          <a:spcPct val="150000"/>
                        </a:lnSpc>
                      </a:pPr>
                      <a:endParaRPr lang="en-US" sz="1600" dirty="0">
                        <a:latin typeface="Arial" panose="020B0604020202020204" pitchFamily="34" charset="0"/>
                        <a:cs typeface="Arial" panose="020B0604020202020204" pitchFamily="34" charset="0"/>
                      </a:endParaRPr>
                    </a:p>
                    <a:p>
                      <a:pPr algn="ctr">
                        <a:lnSpc>
                          <a:spcPct val="150000"/>
                        </a:lnSpc>
                      </a:pPr>
                      <a:endParaRPr lang="en-US" sz="1600" dirty="0">
                        <a:latin typeface="Arial" panose="020B0604020202020204" pitchFamily="34" charset="0"/>
                        <a:cs typeface="Arial" panose="020B0604020202020204" pitchFamily="34" charset="0"/>
                      </a:endParaRPr>
                    </a:p>
                    <a:p>
                      <a:pPr algn="ctr">
                        <a:lnSpc>
                          <a:spcPct val="150000"/>
                        </a:lnSpc>
                      </a:pPr>
                      <a:endParaRPr lang="en-US" sz="1600" dirty="0">
                        <a:latin typeface="Arial" panose="020B0604020202020204" pitchFamily="34" charset="0"/>
                        <a:cs typeface="Arial" panose="020B0604020202020204" pitchFamily="34" charset="0"/>
                      </a:endParaRPr>
                    </a:p>
                    <a:p>
                      <a:pPr algn="ctr">
                        <a:lnSpc>
                          <a:spcPct val="150000"/>
                        </a:lnSpc>
                      </a:pPr>
                      <a:r>
                        <a:rPr lang="en-US" sz="1600" dirty="0">
                          <a:latin typeface="Arial" panose="020B0604020202020204" pitchFamily="34" charset="0"/>
                          <a:cs typeface="Arial" panose="020B0604020202020204" pitchFamily="34" charset="0"/>
                        </a:rPr>
                        <a:t>2020</a:t>
                      </a:r>
                      <a:endParaRPr lang="en-US" sz="1600" dirty="0">
                        <a:latin typeface="Arial" panose="020B0604020202020204" pitchFamily="34" charset="0"/>
                        <a:cs typeface="Arial" panose="020B0604020202020204" pitchFamily="34" charset="0"/>
                      </a:endParaRPr>
                    </a:p>
                  </a:txBody>
                  <a:tcP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S. Patel</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M. Banerjee</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r>
              <a:tr h="2790425">
                <a:tc>
                  <a:txBody>
                    <a:bodyPr/>
                    <a:lstStyle/>
                    <a:p>
                      <a:pPr algn="ctr"/>
                      <a:r>
                        <a:rPr lang="en-US" sz="1600" dirty="0">
                          <a:latin typeface="Arial" panose="020B0604020202020204" pitchFamily="34" charset="0"/>
                          <a:cs typeface="Arial" panose="020B0604020202020204" pitchFamily="34" charset="0"/>
                        </a:rPr>
                        <a:t>2.</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AI-Powered Mobile Application for Cervical Cancer Risk Assessment</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There is a need for portable and accessible tools for cervical cancer risk assessment, particularly in low-resource settings</a:t>
                      </a:r>
                      <a:endParaRPr lang="en-US" sz="1600" dirty="0">
                        <a:latin typeface="Arial" panose="020B0604020202020204" pitchFamily="34" charset="0"/>
                        <a:cs typeface="Arial" panose="020B0604020202020204" pitchFamily="34" charset="0"/>
                      </a:endParaRPr>
                    </a:p>
                  </a:txBody>
                  <a:tcPr/>
                </a:tc>
                <a:tc>
                  <a:txBody>
                    <a:bodyPr/>
                    <a:lstStyle/>
                    <a:p>
                      <a:pPr marR="2540" algn="ctr">
                        <a:lnSpc>
                          <a:spcPct val="105000"/>
                        </a:lnSpc>
                        <a:spcAft>
                          <a:spcPts val="1000"/>
                        </a:spcAft>
                      </a:pPr>
                      <a:r>
                        <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latin typeface="Arial" panose="020B0604020202020204" pitchFamily="34" charset="0"/>
                          <a:cs typeface="Arial" panose="020B0604020202020204" pitchFamily="34" charset="0"/>
                        </a:rPr>
                        <a:t>Logistic Regression with Principal Component Analysis </a:t>
                      </a:r>
                      <a:endParaRPr lang="en-IN" sz="1600" kern="100" dirty="0">
                        <a:effectLst/>
                        <a:latin typeface="Arial" panose="020B0604020202020204" pitchFamily="34" charset="0"/>
                        <a:ea typeface="Times New Roman" panose="02020603050405020304" pitchFamily="18" charset="0"/>
                        <a:cs typeface="Arial" panose="020B0604020202020204" pitchFamily="34" charset="0"/>
                      </a:endParaRPr>
                    </a:p>
                  </a:txBody>
                  <a:tcPr marL="3175" marR="1270" marT="97155" marB="3810"/>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2020</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J. David</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H. Kim</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S. Clark</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r>
            </a:tbl>
          </a:graphicData>
        </a:graphic>
      </p:graphicFrame>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93831" y="862014"/>
          <a:ext cx="12060000" cy="5940000"/>
        </p:xfrm>
        <a:graphic>
          <a:graphicData uri="http://schemas.openxmlformats.org/drawingml/2006/table">
            <a:tbl>
              <a:tblPr firstRow="1" bandRow="1">
                <a:tableStyleId>{5C22544A-7EE6-4342-B048-85BDC9FD1C3A}</a:tableStyleId>
              </a:tblPr>
              <a:tblGrid>
                <a:gridCol w="532718"/>
                <a:gridCol w="2120403"/>
                <a:gridCol w="2807409"/>
                <a:gridCol w="2163334"/>
                <a:gridCol w="2133077"/>
                <a:gridCol w="2303059"/>
              </a:tblGrid>
              <a:tr h="596386">
                <a:tc>
                  <a:txBody>
                    <a:bodyPr/>
                    <a:lstStyle/>
                    <a:p>
                      <a:pPr algn="ctr"/>
                      <a:r>
                        <a:rPr lang="en-US" sz="1600" dirty="0">
                          <a:latin typeface="Arial" panose="020B0604020202020204" pitchFamily="34" charset="0"/>
                          <a:cs typeface="Arial" panose="020B0604020202020204" pitchFamily="34" charset="0"/>
                        </a:rPr>
                        <a:t>Sl.</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Title of the Paper</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Problem</a:t>
                      </a:r>
                      <a:r>
                        <a:rPr lang="en-US" sz="1600" baseline="0" dirty="0">
                          <a:latin typeface="Arial" panose="020B0604020202020204" pitchFamily="34" charset="0"/>
                          <a:cs typeface="Arial" panose="020B0604020202020204" pitchFamily="34" charset="0"/>
                        </a:rPr>
                        <a:t> Statement</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Method/</a:t>
                      </a:r>
                      <a:r>
                        <a:rPr lang="en-US" sz="1600" baseline="0" dirty="0">
                          <a:latin typeface="Arial" panose="020B0604020202020204" pitchFamily="34" charset="0"/>
                          <a:cs typeface="Arial" panose="020B0604020202020204" pitchFamily="34" charset="0"/>
                        </a:rPr>
                        <a:t> Algorithm Used</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Year</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Author Name</a:t>
                      </a:r>
                      <a:endParaRPr lang="en-US" sz="1600" dirty="0">
                        <a:latin typeface="Arial" panose="020B0604020202020204" pitchFamily="34" charset="0"/>
                        <a:cs typeface="Arial" panose="020B0604020202020204" pitchFamily="34" charset="0"/>
                      </a:endParaRPr>
                    </a:p>
                  </a:txBody>
                  <a:tcPr/>
                </a:tc>
              </a:tr>
              <a:tr h="1639737">
                <a:tc>
                  <a:txBody>
                    <a:bodyPr/>
                    <a:lstStyle/>
                    <a:p>
                      <a:pPr algn="ctr"/>
                      <a:r>
                        <a:rPr lang="en-US" sz="1600" dirty="0">
                          <a:latin typeface="Arial" panose="020B0604020202020204" pitchFamily="34" charset="0"/>
                          <a:cs typeface="Arial" panose="020B0604020202020204" pitchFamily="34" charset="0"/>
                        </a:rPr>
                        <a:t>3.</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Automated Cervical Cancer Detection Using Transfer Learning on Pre-Trained Networks</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Training models from scratch for medical image classification can be time-consuming and resource-intensive.</a:t>
                      </a:r>
                      <a:endParaRPr lang="en-US" sz="1600" dirty="0">
                        <a:latin typeface="Arial" panose="020B0604020202020204" pitchFamily="34" charset="0"/>
                        <a:cs typeface="Arial" panose="020B0604020202020204" pitchFamily="34" charset="0"/>
                      </a:endParaRPr>
                    </a:p>
                  </a:txBody>
                  <a:tcPr/>
                </a:tc>
                <a:tc>
                  <a:txBody>
                    <a:bodyPr/>
                    <a:lstStyle/>
                    <a:p>
                      <a:pPr algn="ctr">
                        <a:lnSpc>
                          <a:spcPct val="105000"/>
                        </a:lnSpc>
                        <a:spcAft>
                          <a:spcPts val="1000"/>
                        </a:spcAft>
                      </a:pPr>
                      <a:r>
                        <a:rPr lang="en-US" sz="1600" dirty="0">
                          <a:latin typeface="Arial" panose="020B0604020202020204" pitchFamily="34" charset="0"/>
                          <a:cs typeface="Arial" panose="020B0604020202020204" pitchFamily="34" charset="0"/>
                        </a:rPr>
                        <a:t>Transfer Learning with Pre-trained CNNs</a:t>
                      </a:r>
                      <a:endParaRPr lang="en-IN" sz="1600" kern="100" dirty="0">
                        <a:effectLst/>
                        <a:latin typeface="Arial" panose="020B0604020202020204" pitchFamily="34" charset="0"/>
                        <a:ea typeface="Times New Roman" panose="02020603050405020304" pitchFamily="18" charset="0"/>
                        <a:cs typeface="Arial" panose="020B0604020202020204" pitchFamily="34" charset="0"/>
                      </a:endParaRPr>
                    </a:p>
                  </a:txBody>
                  <a:tcPr marL="3175" marR="1270" marT="97155" marB="3810"/>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2021</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R. Ahmed</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L. Wang</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X. Zhao</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r>
              <a:tr h="2103049">
                <a:tc>
                  <a:txBody>
                    <a:bodyPr/>
                    <a:lstStyle/>
                    <a:p>
                      <a:pPr algn="ctr"/>
                      <a:r>
                        <a:rPr lang="en-US" sz="1600" dirty="0">
                          <a:latin typeface="Arial" panose="020B0604020202020204" pitchFamily="34" charset="0"/>
                          <a:cs typeface="Arial" panose="020B0604020202020204" pitchFamily="34" charset="0"/>
                        </a:rPr>
                        <a:t>4.</a:t>
                      </a:r>
                      <a:endParaRPr lang="en-US" sz="1600" dirty="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600" dirty="0">
                          <a:latin typeface="Arial" panose="020B0604020202020204" pitchFamily="34" charset="0"/>
                          <a:cs typeface="Arial" panose="020B0604020202020204" pitchFamily="34" charset="0"/>
                        </a:rPr>
                        <a:t>Deep Learning-Based Cervical Cancer Diagnosis: A Comprehensive Review</a:t>
                      </a:r>
                      <a:endParaRPr lang="en-US" sz="1600" dirty="0">
                        <a:latin typeface="Arial" panose="020B0604020202020204" pitchFamily="34" charset="0"/>
                        <a:cs typeface="Arial" panose="020B0604020202020204" pitchFamily="34"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600" dirty="0">
                          <a:latin typeface="Arial" panose="020B0604020202020204" pitchFamily="34" charset="0"/>
                          <a:cs typeface="Arial" panose="020B0604020202020204" pitchFamily="34" charset="0"/>
                        </a:rPr>
                        <a:t>Conventional diagnostic techniques, such as Pap smears, are often subjective, time-consuming, and prone to human error</a:t>
                      </a:r>
                      <a:endParaRPr lang="en-US" sz="1600" dirty="0">
                        <a:latin typeface="Arial" panose="020B0604020202020204" pitchFamily="34" charset="0"/>
                        <a:cs typeface="Arial" panose="020B0604020202020204" pitchFamily="34"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Conventional diagnostic techniques, such as Pap smears, are often subjective, time-consuming, and prone to human error</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algn="ctr">
                        <a:lnSpc>
                          <a:spcPct val="150000"/>
                        </a:lnSpc>
                      </a:pPr>
                      <a:endParaRPr lang="en-US" sz="1600" dirty="0">
                        <a:latin typeface="Arial" panose="020B0604020202020204" pitchFamily="34" charset="0"/>
                        <a:cs typeface="Arial" panose="020B0604020202020204" pitchFamily="34" charset="0"/>
                      </a:endParaRPr>
                    </a:p>
                    <a:p>
                      <a:pPr algn="ctr">
                        <a:lnSpc>
                          <a:spcPct val="150000"/>
                        </a:lnSpc>
                      </a:pPr>
                      <a:endParaRPr lang="en-US" sz="1600" dirty="0">
                        <a:latin typeface="Arial" panose="020B0604020202020204" pitchFamily="34" charset="0"/>
                        <a:cs typeface="Arial" panose="020B0604020202020204" pitchFamily="34" charset="0"/>
                      </a:endParaRPr>
                    </a:p>
                    <a:p>
                      <a:pPr algn="ctr">
                        <a:lnSpc>
                          <a:spcPct val="150000"/>
                        </a:lnSpc>
                      </a:pPr>
                      <a:r>
                        <a:rPr lang="en-US" sz="1600" dirty="0">
                          <a:latin typeface="Arial" panose="020B0604020202020204" pitchFamily="34" charset="0"/>
                          <a:cs typeface="Arial" panose="020B0604020202020204" pitchFamily="34" charset="0"/>
                        </a:rPr>
                        <a:t>2021</a:t>
                      </a:r>
                      <a:endParaRPr lang="en-US" sz="1600" dirty="0">
                        <a:latin typeface="Arial" panose="020B0604020202020204" pitchFamily="34" charset="0"/>
                        <a:cs typeface="Arial" panose="020B0604020202020204" pitchFamily="34" charset="0"/>
                      </a:endParaRPr>
                    </a:p>
                  </a:txBody>
                  <a:tcP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A. Gupta</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P. Sharma</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R. Kumar</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r>
              <a:tr h="1600828">
                <a:tc>
                  <a:txBody>
                    <a:bodyPr/>
                    <a:lstStyle/>
                    <a:p>
                      <a:pPr algn="ctr"/>
                      <a:r>
                        <a:rPr lang="en-US" sz="1600" dirty="0">
                          <a:latin typeface="Arial" panose="020B0604020202020204" pitchFamily="34" charset="0"/>
                          <a:cs typeface="Arial" panose="020B0604020202020204" pitchFamily="34" charset="0"/>
                        </a:rPr>
                        <a:t>5.</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Web-Based Cervical Cancer Prediction System Using Ensemble Learning Techniques</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Existing diagnostic tools are often inaccessible to resource-constrained regions, and standalone applications lack scalability and remote usability</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Random Forest</a:t>
                      </a:r>
                      <a:endParaRPr lang="en-US" sz="1600" dirty="0">
                        <a:latin typeface="Arial" panose="020B0604020202020204" pitchFamily="34" charset="0"/>
                        <a:cs typeface="Arial" panose="020B0604020202020204" pitchFamily="34" charset="0"/>
                      </a:endParaRPr>
                    </a:p>
                  </a:txBody>
                  <a:tcP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2022</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K. Lee</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T. Nguyen</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A. Smith</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r>
            </a:tbl>
          </a:graphicData>
        </a:graphic>
      </p:graphicFrame>
      <p:sp>
        <p:nvSpPr>
          <p:cNvPr id="2" name="Title 1"/>
          <p:cNvSpPr>
            <a:spLocks noGrp="1"/>
          </p:cNvSpPr>
          <p:nvPr>
            <p:ph type="title"/>
          </p:nvPr>
        </p:nvSpPr>
        <p:spPr>
          <a:xfrm>
            <a:off x="74168" y="92773"/>
            <a:ext cx="12043663" cy="690879"/>
          </a:xfrm>
          <a:ln w="3175">
            <a:solidFill>
              <a:schemeClr val="accent1"/>
            </a:solidFill>
          </a:ln>
        </p:spPr>
        <p:txBody>
          <a:bodyPr>
            <a:normAutofit/>
          </a:bodyPr>
          <a:lstStyle/>
          <a:p>
            <a:pPr marL="0" indent="0" algn="l">
              <a:buNone/>
            </a:pPr>
            <a:r>
              <a:rPr lang="en-US" sz="3200" b="1" dirty="0">
                <a:solidFill>
                  <a:srgbClr val="6666FF"/>
                </a:solidFill>
              </a:rPr>
              <a:t> </a:t>
            </a:r>
            <a:r>
              <a:rPr lang="en-US" sz="2400" b="1" dirty="0">
                <a:solidFill>
                  <a:srgbClr val="6666FF"/>
                </a:solidFill>
              </a:rPr>
              <a:t>RELATED WORKS (EXISTING)   Continue… </a:t>
            </a:r>
            <a:endParaRPr lang="en-IN" sz="1800" b="1" dirty="0">
              <a:solidFill>
                <a:srgbClr val="6666FF"/>
              </a:solidFill>
            </a:endParaRP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280" y="872090"/>
            <a:ext cx="12029440" cy="5908077"/>
          </a:xfrm>
          <a:prstGeom prst="rect">
            <a:avLst/>
          </a:prstGeom>
          <a:ln w="3175">
            <a:solidFill>
              <a:schemeClr val="accent1"/>
            </a:solidFill>
          </a:ln>
        </p:spPr>
        <p:txBody>
          <a:bodyPr>
            <a:noAutofit/>
          </a:bodyPr>
          <a:lstStyle/>
          <a:p>
            <a:pPr marL="342900" indent="-342900" algn="just">
              <a:lnSpc>
                <a:spcPct val="150000"/>
              </a:lnSpc>
              <a:buFont typeface="Wingdings" panose="05000000000000000000" pitchFamily="2" charset="2"/>
              <a:buChar char="ü"/>
            </a:pPr>
            <a:r>
              <a:rPr lang="en-US" sz="1600" dirty="0">
                <a:latin typeface="Arial" panose="020B0604020202020204" pitchFamily="34" charset="0"/>
                <a:cs typeface="Arial" panose="020B0604020202020204" pitchFamily="34" charset="0"/>
              </a:rPr>
              <a:t>The proposed system introduces a web-based framework for cervical cancer detection, leveraging advanced machine learning algorithms and a user-friendly interface. </a:t>
            </a:r>
            <a:endParaRPr lang="en-US" sz="160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ü"/>
            </a:pPr>
            <a:r>
              <a:rPr lang="en-US" sz="1600" dirty="0">
                <a:latin typeface="Arial" panose="020B0604020202020204" pitchFamily="34" charset="0"/>
                <a:cs typeface="Arial" panose="020B0604020202020204" pitchFamily="34" charset="0"/>
              </a:rPr>
              <a:t>This system is designed to overcome the limitations of existing diagnostic methods, such as delays in diagnosis, limited accessibility, and high reliance on expert interpretation.</a:t>
            </a:r>
            <a:endParaRPr lang="en-US" sz="160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ü"/>
            </a:pPr>
            <a:r>
              <a:rPr lang="en-US" sz="1600" dirty="0">
                <a:latin typeface="Arial" panose="020B0604020202020204" pitchFamily="34" charset="0"/>
                <a:cs typeface="Arial" panose="020B0604020202020204" pitchFamily="34" charset="0"/>
              </a:rPr>
              <a:t>At its core, the system begins with data acquisition, supporting diverse input types such as cervical cytology images, clinical records, and demographic information. </a:t>
            </a:r>
            <a:endParaRPr lang="en-US" sz="160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ü"/>
            </a:pPr>
            <a:r>
              <a:rPr lang="en-US" sz="1600" dirty="0">
                <a:latin typeface="Arial" panose="020B0604020202020204" pitchFamily="34" charset="0"/>
                <a:cs typeface="Arial" panose="020B0604020202020204" pitchFamily="34" charset="0"/>
              </a:rPr>
              <a:t>The machine learning engine drives the system’s analytical capabilities, utilizing state-of-the-art algorithms tailored for specific tasks.</a:t>
            </a:r>
            <a:endParaRPr lang="en-US" sz="160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ü"/>
            </a:pPr>
            <a:r>
              <a:rPr lang="en-US" sz="1600" dirty="0">
                <a:latin typeface="Arial" panose="020B0604020202020204" pitchFamily="34" charset="0"/>
                <a:cs typeface="Arial" panose="020B0604020202020204" pitchFamily="34" charset="0"/>
              </a:rPr>
              <a:t>The framework includes a web-based interface that provides healthcare professionals with a seamless experience for data entry, result visualization. </a:t>
            </a:r>
            <a:endParaRPr lang="en-US" sz="160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ü"/>
            </a:pPr>
            <a:r>
              <a:rPr lang="en-US" sz="1600" dirty="0">
                <a:latin typeface="Arial" panose="020B0604020202020204" pitchFamily="34" charset="0"/>
                <a:cs typeface="Arial" panose="020B0604020202020204" pitchFamily="34" charset="0"/>
              </a:rPr>
              <a:t>The proposed system reduces manual intervention and human error. Its web-based architecture makes it accessible in remote or resource-constrained areas, while its multi-algorithm approach ensures high diagnostic accuracy. </a:t>
            </a:r>
            <a:endParaRPr lang="en-US" sz="1600" dirty="0">
              <a:latin typeface="Arial" panose="020B0604020202020204" pitchFamily="34" charset="0"/>
              <a:cs typeface="Arial" panose="020B0604020202020204" pitchFamily="34" charset="0"/>
            </a:endParaRPr>
          </a:p>
          <a:p>
            <a:pPr marL="342900" indent="-342900" algn="just">
              <a:lnSpc>
                <a:spcPct val="150000"/>
              </a:lnSpc>
              <a:buFont typeface="Wingdings" panose="05000000000000000000" pitchFamily="2" charset="2"/>
              <a:buChar char="ü"/>
            </a:pPr>
            <a:r>
              <a:rPr lang="en-US" sz="1600" dirty="0">
                <a:latin typeface="Arial" panose="020B0604020202020204" pitchFamily="34" charset="0"/>
                <a:cs typeface="Arial" panose="020B0604020202020204" pitchFamily="34" charset="0"/>
              </a:rPr>
              <a:t>This framework is poised to transform cervical cancer diagnostics by enabling early detection, facilitating remote healthcare delivery, and supporting large-scale research initiatives. </a:t>
            </a:r>
            <a:endParaRPr lang="en-US" sz="1600" dirty="0">
              <a:latin typeface="Arial" panose="020B0604020202020204" pitchFamily="34" charset="0"/>
              <a:cs typeface="Arial" panose="020B0604020202020204" pitchFamily="34" charset="0"/>
            </a:endParaRPr>
          </a:p>
          <a:p>
            <a:pPr marL="45720" indent="0" algn="just">
              <a:buNone/>
            </a:pPr>
            <a:endParaRPr lang="en-IN" sz="1600" dirty="0"/>
          </a:p>
        </p:txBody>
      </p:sp>
      <p:sp>
        <p:nvSpPr>
          <p:cNvPr id="4" name="Title 1"/>
          <p:cNvSpPr txBox="1"/>
          <p:nvPr/>
        </p:nvSpPr>
        <p:spPr>
          <a:xfrm>
            <a:off x="81280" y="77833"/>
            <a:ext cx="12029440" cy="705287"/>
          </a:xfrm>
          <a:prstGeom prst="rect">
            <a:avLst/>
          </a:prstGeom>
          <a:ln w="3175">
            <a:solidFill>
              <a:schemeClr val="accent1"/>
            </a:solidFill>
          </a:ln>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l">
              <a:buFont typeface="Georgia" panose="02040502050405020303" pitchFamily="18" charset="0"/>
              <a:buNone/>
            </a:pPr>
            <a:r>
              <a:rPr lang="en-US" sz="3200" dirty="0">
                <a:solidFill>
                  <a:srgbClr val="6666FF"/>
                </a:solidFill>
              </a:rPr>
              <a:t> </a:t>
            </a:r>
            <a:r>
              <a:rPr lang="en-US" sz="2800" dirty="0">
                <a:solidFill>
                  <a:schemeClr val="bg2">
                    <a:lumMod val="50000"/>
                  </a:schemeClr>
                </a:solidFill>
              </a:rPr>
              <a:t>PROPOSED SYSTEM</a:t>
            </a:r>
            <a:endParaRPr lang="en-IN" sz="3200" dirty="0">
              <a:solidFill>
                <a:schemeClr val="bg2">
                  <a:lumMod val="50000"/>
                </a:schemeClr>
              </a:solidFill>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4350385" y="269240"/>
            <a:ext cx="3616960" cy="521970"/>
          </a:xfrm>
          <a:prstGeom prst="rect">
            <a:avLst/>
          </a:prstGeom>
          <a:noFill/>
        </p:spPr>
        <p:txBody>
          <a:bodyPr wrap="square" rtlCol="0">
            <a:spAutoFit/>
          </a:bodyPr>
          <a:p>
            <a:r>
              <a:rPr lang="en-IN" altLang="en-US" sz="2800">
                <a:ln/>
                <a:solidFill>
                  <a:schemeClr val="accent1"/>
                </a:solidFill>
                <a:effectLst>
                  <a:outerShdw blurRad="38100" dist="25400" dir="5400000" algn="ctr" rotWithShape="0">
                    <a:srgbClr val="6E747A">
                      <a:alpha val="43000"/>
                    </a:srgbClr>
                  </a:outerShdw>
                </a:effectLst>
              </a:rPr>
              <a:t>System Architecture</a:t>
            </a:r>
            <a:endParaRPr lang="en-IN" altLang="en-US" sz="2800">
              <a:ln/>
              <a:solidFill>
                <a:schemeClr val="accent1"/>
              </a:solidFill>
              <a:effectLst>
                <a:outerShdw blurRad="38100" dist="25400" dir="5400000" algn="ctr" rotWithShape="0">
                  <a:srgbClr val="6E747A">
                    <a:alpha val="43000"/>
                  </a:srgbClr>
                </a:outerShdw>
              </a:effectLst>
            </a:endParaRPr>
          </a:p>
        </p:txBody>
      </p:sp>
      <p:pic>
        <p:nvPicPr>
          <p:cNvPr id="6" name="Picture 5" descr="Screenshot (25)"/>
          <p:cNvPicPr>
            <a:picLocks noChangeAspect="1"/>
          </p:cNvPicPr>
          <p:nvPr/>
        </p:nvPicPr>
        <p:blipFill>
          <a:blip r:embed="rId1"/>
          <a:stretch>
            <a:fillRect/>
          </a:stretch>
        </p:blipFill>
        <p:spPr>
          <a:xfrm>
            <a:off x="1015365" y="1322070"/>
            <a:ext cx="9822180" cy="44170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1280" y="1073241"/>
            <a:ext cx="12029440" cy="4629152"/>
          </a:xfrm>
          <a:prstGeom prst="rect">
            <a:avLst/>
          </a:prstGeom>
          <a:noFill/>
          <a:ln w="3175">
            <a:solidFill>
              <a:schemeClr val="accent1"/>
            </a:solidFill>
          </a:ln>
        </p:spPr>
        <p:txBody>
          <a:bodyPr wrap="square" rtlCol="0">
            <a:spAutoFit/>
          </a:bodyPr>
          <a:lstStyle/>
          <a:p>
            <a:pPr>
              <a:lnSpc>
                <a:spcPct val="150000"/>
              </a:lnSpc>
            </a:pPr>
            <a:r>
              <a:rPr lang="en-GB" sz="2800" b="1" dirty="0">
                <a:solidFill>
                  <a:srgbClr val="FF0000"/>
                </a:solidFill>
              </a:rPr>
              <a:t>       </a:t>
            </a:r>
            <a:r>
              <a:rPr lang="en-GB" sz="2800" b="1" dirty="0">
                <a:solidFill>
                  <a:srgbClr val="FF0000"/>
                </a:solidFill>
                <a:latin typeface="Arial" panose="020B0604020202020204" pitchFamily="34" charset="0"/>
                <a:cs typeface="Arial" panose="020B0604020202020204" pitchFamily="34" charset="0"/>
              </a:rPr>
              <a:t>Software Requirements:</a:t>
            </a:r>
            <a:r>
              <a:rPr lang="en-GB" sz="2800" b="1" dirty="0">
                <a:latin typeface="Arial" panose="020B0604020202020204" pitchFamily="34" charset="0"/>
                <a:cs typeface="Arial" panose="020B0604020202020204" pitchFamily="34" charset="0"/>
              </a:rPr>
              <a:t>							</a:t>
            </a:r>
            <a:endParaRPr lang="en-GB" sz="2800" dirty="0">
              <a:latin typeface="Arial" panose="020B0604020202020204" pitchFamily="34" charset="0"/>
              <a:cs typeface="Arial" panose="020B0604020202020204" pitchFamily="34" charset="0"/>
            </a:endParaRPr>
          </a:p>
          <a:p>
            <a:pPr>
              <a:lnSpc>
                <a:spcPct val="150000"/>
              </a:lnSpc>
            </a:pPr>
            <a:r>
              <a:rPr lang="en-GB" sz="2800" b="1" dirty="0">
                <a:latin typeface="Arial" panose="020B0604020202020204" pitchFamily="34" charset="0"/>
                <a:cs typeface="Arial" panose="020B0604020202020204" pitchFamily="34" charset="0"/>
              </a:rPr>
              <a:t>        </a:t>
            </a:r>
            <a:r>
              <a:rPr lang="en-GB" sz="2000" b="1" dirty="0">
                <a:latin typeface="Arial" panose="020B0604020202020204" pitchFamily="34" charset="0"/>
                <a:cs typeface="Arial" panose="020B0604020202020204" pitchFamily="34" charset="0"/>
              </a:rPr>
              <a:t>Application platform : </a:t>
            </a:r>
            <a:r>
              <a:rPr lang="en-GB" sz="2000" dirty="0">
                <a:latin typeface="Arial" panose="020B0604020202020204" pitchFamily="34" charset="0"/>
                <a:cs typeface="Arial" panose="020B0604020202020204" pitchFamily="34" charset="0"/>
              </a:rPr>
              <a:t>Python 2.0 &amp; above		</a:t>
            </a:r>
            <a:endParaRPr lang="en-GB" sz="2000" dirty="0">
              <a:latin typeface="Arial" panose="020B0604020202020204" pitchFamily="34" charset="0"/>
              <a:cs typeface="Arial" panose="020B0604020202020204" pitchFamily="34" charset="0"/>
            </a:endParaRPr>
          </a:p>
          <a:p>
            <a:pPr>
              <a:lnSpc>
                <a:spcPct val="150000"/>
              </a:lnSpc>
            </a:pPr>
            <a:r>
              <a:rPr lang="en-GB" sz="2000" b="1" dirty="0">
                <a:latin typeface="Arial" panose="020B0604020202020204" pitchFamily="34" charset="0"/>
                <a:cs typeface="Arial" panose="020B0604020202020204" pitchFamily="34" charset="0"/>
              </a:rPr>
              <a:t>           Operating System	  : </a:t>
            </a:r>
            <a:r>
              <a:rPr lang="en-GB" sz="2000" dirty="0">
                <a:latin typeface="Arial" panose="020B0604020202020204" pitchFamily="34" charset="0"/>
                <a:cs typeface="Arial" panose="020B0604020202020204" pitchFamily="34" charset="0"/>
              </a:rPr>
              <a:t>Windows 7</a:t>
            </a:r>
            <a:endParaRPr lang="en-GB" sz="2000" dirty="0">
              <a:latin typeface="Arial" panose="020B0604020202020204" pitchFamily="34" charset="0"/>
              <a:cs typeface="Arial" panose="020B0604020202020204" pitchFamily="34" charset="0"/>
            </a:endParaRPr>
          </a:p>
          <a:p>
            <a:pPr>
              <a:lnSpc>
                <a:spcPct val="150000"/>
              </a:lnSpc>
            </a:pPr>
            <a:r>
              <a:rPr lang="en-GB" sz="2000" b="1" dirty="0">
                <a:latin typeface="Arial" panose="020B0604020202020204" pitchFamily="34" charset="0"/>
                <a:cs typeface="Arial" panose="020B0604020202020204" pitchFamily="34" charset="0"/>
              </a:rPr>
              <a:t>           IDE	</a:t>
            </a:r>
            <a:r>
              <a:rPr lang="en-GB" sz="2000" dirty="0">
                <a:latin typeface="Arial" panose="020B0604020202020204" pitchFamily="34" charset="0"/>
                <a:cs typeface="Arial" panose="020B0604020202020204" pitchFamily="34" charset="0"/>
              </a:rPr>
              <a:t>				  </a:t>
            </a:r>
            <a:r>
              <a:rPr lang="en-GB" sz="2000" b="1" dirty="0">
                <a:latin typeface="Arial" panose="020B0604020202020204" pitchFamily="34" charset="0"/>
                <a:cs typeface="Arial" panose="020B0604020202020204" pitchFamily="34" charset="0"/>
              </a:rPr>
              <a:t>:</a:t>
            </a: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Pycharm</a:t>
            </a:r>
            <a:endParaRPr lang="en-GB" sz="2000" dirty="0">
              <a:latin typeface="Arial" panose="020B0604020202020204" pitchFamily="34" charset="0"/>
              <a:cs typeface="Arial" panose="020B0604020202020204" pitchFamily="34" charset="0"/>
            </a:endParaRPr>
          </a:p>
          <a:p>
            <a:pPr>
              <a:lnSpc>
                <a:spcPct val="150000"/>
              </a:lnSpc>
            </a:pPr>
            <a:r>
              <a:rPr lang="en-GB" sz="2000" b="1" dirty="0">
                <a:latin typeface="Arial" panose="020B0604020202020204" pitchFamily="34" charset="0"/>
                <a:cs typeface="Arial" panose="020B0604020202020204" pitchFamily="34" charset="0"/>
              </a:rPr>
              <a:t>           Framework</a:t>
            </a:r>
            <a:r>
              <a:rPr lang="en-GB" sz="2000" dirty="0">
                <a:latin typeface="Arial" panose="020B0604020202020204" pitchFamily="34" charset="0"/>
                <a:cs typeface="Arial" panose="020B0604020202020204" pitchFamily="34" charset="0"/>
              </a:rPr>
              <a:t>			  </a:t>
            </a:r>
            <a:r>
              <a:rPr lang="en-GB" sz="2000" b="1" dirty="0">
                <a:latin typeface="Arial" panose="020B0604020202020204" pitchFamily="34" charset="0"/>
                <a:cs typeface="Arial" panose="020B0604020202020204" pitchFamily="34" charset="0"/>
              </a:rPr>
              <a:t>:</a:t>
            </a:r>
            <a:r>
              <a:rPr lang="en-GB" sz="2000" dirty="0">
                <a:latin typeface="Arial" panose="020B0604020202020204" pitchFamily="34" charset="0"/>
                <a:cs typeface="Arial" panose="020B0604020202020204" pitchFamily="34" charset="0"/>
              </a:rPr>
              <a:t> Django</a:t>
            </a:r>
            <a:endParaRPr lang="en-IN" sz="2000" dirty="0">
              <a:latin typeface="Arial" panose="020B0604020202020204" pitchFamily="34" charset="0"/>
              <a:cs typeface="Arial" panose="020B0604020202020204" pitchFamily="34" charset="0"/>
            </a:endParaRPr>
          </a:p>
          <a:p>
            <a:pPr>
              <a:lnSpc>
                <a:spcPct val="150000"/>
              </a:lnSpc>
            </a:pPr>
            <a:r>
              <a:rPr lang="en-GB" sz="2800" b="1" dirty="0">
                <a:solidFill>
                  <a:srgbClr val="FF0000"/>
                </a:solidFill>
                <a:latin typeface="Arial" panose="020B0604020202020204" pitchFamily="34" charset="0"/>
                <a:cs typeface="Arial" panose="020B0604020202020204" pitchFamily="34" charset="0"/>
              </a:rPr>
              <a:t>       Hardware Requirements:</a:t>
            </a:r>
            <a:endParaRPr lang="en-GB" sz="2800" b="1" dirty="0">
              <a:latin typeface="Arial" panose="020B0604020202020204" pitchFamily="34" charset="0"/>
              <a:cs typeface="Arial" panose="020B0604020202020204" pitchFamily="34" charset="0"/>
            </a:endParaRPr>
          </a:p>
          <a:p>
            <a:pPr>
              <a:lnSpc>
                <a:spcPct val="150000"/>
              </a:lnSpc>
            </a:pPr>
            <a:r>
              <a:rPr lang="en-GB" sz="2800" b="1" dirty="0">
                <a:latin typeface="Arial" panose="020B0604020202020204" pitchFamily="34" charset="0"/>
                <a:cs typeface="Arial" panose="020B0604020202020204" pitchFamily="34" charset="0"/>
              </a:rPr>
              <a:t>       </a:t>
            </a:r>
            <a:r>
              <a:rPr lang="en-GB" sz="2000" b="1" dirty="0">
                <a:latin typeface="Arial" panose="020B0604020202020204" pitchFamily="34" charset="0"/>
                <a:cs typeface="Arial" panose="020B0604020202020204" pitchFamily="34" charset="0"/>
              </a:rPr>
              <a:t>RAM	          : 2</a:t>
            </a:r>
            <a:r>
              <a:rPr lang="en-GB" sz="2000" dirty="0">
                <a:latin typeface="Arial" panose="020B0604020202020204" pitchFamily="34" charset="0"/>
                <a:cs typeface="Arial" panose="020B0604020202020204" pitchFamily="34" charset="0"/>
              </a:rPr>
              <a:t>GB &amp; above</a:t>
            </a:r>
            <a:endParaRPr lang="en-GB" sz="2000" dirty="0">
              <a:latin typeface="Arial" panose="020B0604020202020204" pitchFamily="34" charset="0"/>
              <a:cs typeface="Arial" panose="020B0604020202020204" pitchFamily="34" charset="0"/>
            </a:endParaRPr>
          </a:p>
          <a:p>
            <a:pPr>
              <a:lnSpc>
                <a:spcPct val="150000"/>
              </a:lnSpc>
            </a:pPr>
            <a:r>
              <a:rPr lang="en-GB" sz="2000" b="1" dirty="0">
                <a:latin typeface="Arial" panose="020B0604020202020204" pitchFamily="34" charset="0"/>
                <a:cs typeface="Arial" panose="020B0604020202020204" pitchFamily="34" charset="0"/>
              </a:rPr>
              <a:t>          Processor  : </a:t>
            </a:r>
            <a:r>
              <a:rPr lang="en-GB" sz="2000" dirty="0">
                <a:latin typeface="Arial" panose="020B0604020202020204" pitchFamily="34" charset="0"/>
                <a:cs typeface="Arial" panose="020B0604020202020204" pitchFamily="34" charset="0"/>
              </a:rPr>
              <a:t>Intel I3 &amp; Above</a:t>
            </a:r>
            <a:endParaRPr lang="en-IN" sz="2000" dirty="0">
              <a:latin typeface="Arial" panose="020B0604020202020204" pitchFamily="34" charset="0"/>
              <a:cs typeface="Arial" panose="020B0604020202020204" pitchFamily="34" charset="0"/>
            </a:endParaRPr>
          </a:p>
        </p:txBody>
      </p:sp>
      <p:sp>
        <p:nvSpPr>
          <p:cNvPr id="3" name="Title 1"/>
          <p:cNvSpPr txBox="1"/>
          <p:nvPr/>
        </p:nvSpPr>
        <p:spPr>
          <a:xfrm>
            <a:off x="81280" y="77833"/>
            <a:ext cx="12029440" cy="705287"/>
          </a:xfrm>
          <a:prstGeom prst="rect">
            <a:avLst/>
          </a:prstGeom>
          <a:ln w="3175">
            <a:solidFill>
              <a:schemeClr val="accent1"/>
            </a:solidFill>
          </a:ln>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l">
              <a:buFont typeface="Georgia" panose="02040502050405020303" pitchFamily="18" charset="0"/>
              <a:buNone/>
            </a:pPr>
            <a:r>
              <a:rPr lang="en-US" sz="3200" dirty="0">
                <a:solidFill>
                  <a:srgbClr val="6666FF"/>
                </a:solidFill>
              </a:rPr>
              <a:t> </a:t>
            </a:r>
            <a:r>
              <a:rPr lang="en-US" sz="2800" dirty="0">
                <a:solidFill>
                  <a:schemeClr val="bg2">
                    <a:lumMod val="50000"/>
                  </a:schemeClr>
                </a:solidFill>
              </a:rPr>
              <a:t>MINIMUM SYSTEM REQUIREMENTS</a:t>
            </a:r>
            <a:endParaRPr lang="en-IN" sz="3200" dirty="0">
              <a:solidFill>
                <a:schemeClr val="bg2">
                  <a:lumMod val="50000"/>
                </a:schemeClr>
              </a:solidFill>
            </a:endParaRP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2359" y="2857500"/>
            <a:ext cx="8683348" cy="1143000"/>
          </a:xfrm>
        </p:spPr>
        <p:txBody>
          <a:bodyPr/>
          <a:lstStyle/>
          <a:p>
            <a:pPr marL="0" indent="0" algn="ctr">
              <a:buNone/>
            </a:pPr>
            <a:r>
              <a:rPr lang="en-IN" sz="5400" dirty="0">
                <a:solidFill>
                  <a:schemeClr val="tx2">
                    <a:lumMod val="60000"/>
                    <a:lumOff val="40000"/>
                  </a:schemeClr>
                </a:solidFill>
              </a:rPr>
              <a:t>ANALYSIS AND DESIGN</a:t>
            </a:r>
            <a:endParaRPr lang="en-IN" sz="5400" dirty="0">
              <a:solidFill>
                <a:schemeClr val="tx2">
                  <a:lumMod val="60000"/>
                  <a:lumOff val="4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168600" y="104400"/>
            <a:ext cx="11854800" cy="6649200"/>
          </a:xfrm>
        </p:spPr>
        <p:txBody>
          <a:bodyPr>
            <a:normAutofit/>
          </a:bodyPr>
          <a:lstStyle/>
          <a:p>
            <a:pPr marL="45720" indent="0" algn="ctr">
              <a:buNone/>
            </a:pPr>
            <a:r>
              <a:rPr lang="en-IN" sz="3600" dirty="0">
                <a:solidFill>
                  <a:schemeClr val="accent1">
                    <a:lumMod val="75000"/>
                  </a:schemeClr>
                </a:solidFill>
              </a:rPr>
              <a:t>Analysis </a:t>
            </a:r>
            <a:endParaRPr lang="en-IN" sz="3600" dirty="0">
              <a:solidFill>
                <a:schemeClr val="accent1">
                  <a:lumMod val="75000"/>
                </a:schemeClr>
              </a:solidFill>
            </a:endParaRPr>
          </a:p>
          <a:p>
            <a:pPr marL="45720" indent="0">
              <a:spcAft>
                <a:spcPts val="1000"/>
              </a:spcAft>
              <a:buNone/>
            </a:pPr>
            <a:r>
              <a:rPr lang="en-IN" sz="3100" b="1" dirty="0">
                <a:solidFill>
                  <a:schemeClr val="tx1">
                    <a:lumMod val="65000"/>
                    <a:lumOff val="35000"/>
                  </a:schemeClr>
                </a:solidFill>
                <a:effectLst>
                  <a:outerShdw blurRad="38100" dist="38100" dir="2700000" algn="tl">
                    <a:srgbClr val="000000">
                      <a:alpha val="43137"/>
                    </a:srgbClr>
                  </a:outerShdw>
                </a:effectLst>
              </a:rPr>
              <a:t>                                 </a:t>
            </a:r>
            <a:r>
              <a:rPr lang="en-IN" sz="2800" b="1" dirty="0">
                <a:solidFill>
                  <a:schemeClr val="tx1">
                    <a:lumMod val="65000"/>
                    <a:lumOff val="35000"/>
                  </a:schemeClr>
                </a:solidFill>
                <a:effectLst>
                  <a:outerShdw blurRad="38100" dist="38100" dir="2700000" algn="tl">
                    <a:srgbClr val="000000">
                      <a:alpha val="43137"/>
                    </a:srgbClr>
                  </a:outerShdw>
                </a:effectLst>
              </a:rPr>
              <a:t>System and User Modules</a:t>
            </a:r>
            <a:endParaRPr lang="en-IN" sz="2800" b="1" dirty="0">
              <a:solidFill>
                <a:schemeClr val="tx1">
                  <a:lumMod val="65000"/>
                  <a:lumOff val="35000"/>
                </a:schemeClr>
              </a:solidFill>
              <a:effectLst>
                <a:outerShdw blurRad="38100" dist="38100" dir="2700000" algn="tl">
                  <a:srgbClr val="000000">
                    <a:alpha val="43137"/>
                  </a:srgbClr>
                </a:outerShdw>
              </a:effectLst>
            </a:endParaRPr>
          </a:p>
          <a:p>
            <a:pPr marL="45720" indent="0">
              <a:spcAft>
                <a:spcPts val="1000"/>
              </a:spcAft>
              <a:buNone/>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IN" sz="2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Service Provider:</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 indent="0">
              <a:spcAft>
                <a:spcPts val="1000"/>
              </a:spcAft>
              <a:buNone/>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In this module, the functionalities are follows :</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spcAft>
                <a:spcPts val="1000"/>
              </a:spcAft>
              <a:buFont typeface="Wingdings" panose="05000000000000000000" pitchFamily="2" charset="2"/>
              <a:buChar char=""/>
              <a:tabLst>
                <a:tab pos="4572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Login</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spcAft>
                <a:spcPts val="1000"/>
              </a:spcAft>
              <a:buFont typeface="Wingdings" panose="05000000000000000000" pitchFamily="2" charset="2"/>
              <a:buChar char=""/>
              <a:tabLst>
                <a:tab pos="4572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Train and Test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Data </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sets</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spcAft>
                <a:spcPts val="1000"/>
              </a:spcAft>
              <a:buFont typeface="Wingdings" panose="05000000000000000000" pitchFamily="2" charset="2"/>
              <a:buChar char=""/>
              <a:tabLst>
                <a:tab pos="4572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View  Data set Trained and Tested Accuracy in Bar chart</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spcAft>
                <a:spcPts val="1000"/>
              </a:spcAft>
              <a:buFont typeface="Wingdings" panose="05000000000000000000" pitchFamily="2" charset="2"/>
              <a:buChar char=""/>
              <a:tabLst>
                <a:tab pos="4572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View Trained and Tested Accuracy Results</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spcAft>
                <a:spcPts val="1000"/>
              </a:spcAft>
              <a:buFont typeface="Wingdings" panose="05000000000000000000" pitchFamily="2" charset="2"/>
              <a:buChar char=""/>
              <a:tabLst>
                <a:tab pos="4572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View Cervical Cancer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type</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spcAft>
                <a:spcPts val="1000"/>
              </a:spcAft>
              <a:buFont typeface="Wingdings" panose="05000000000000000000" pitchFamily="2" charset="2"/>
              <a:buChar char=""/>
              <a:tabLst>
                <a:tab pos="4572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Download Prediction data set</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spcAft>
                <a:spcPts val="1000"/>
              </a:spcAft>
              <a:buFont typeface="Wingdings" panose="05000000000000000000" pitchFamily="2" charset="2"/>
              <a:buChar char=""/>
              <a:tabLst>
                <a:tab pos="4572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View Cervical Cancer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Type ratio </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spcAft>
                <a:spcPts val="1000"/>
              </a:spcAft>
              <a:buFont typeface="Wingdings" panose="05000000000000000000" pitchFamily="2" charset="2"/>
              <a:buChar char=""/>
              <a:tabLst>
                <a:tab pos="45720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View </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Cervical Cancer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Type ratio results</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spcAft>
                <a:spcPts val="1000"/>
              </a:spcAft>
              <a:buFont typeface="Wingdings" panose="05000000000000000000" pitchFamily="2" charset="2"/>
              <a:buChar char=""/>
              <a:tabLst>
                <a:tab pos="4572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View All Remote Users</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spcAft>
                <a:spcPts val="1000"/>
              </a:spcAft>
              <a:buFont typeface="Wingdings" panose="05000000000000000000" pitchFamily="2" charset="2"/>
              <a:buChar char=""/>
              <a:tabLst>
                <a:tab pos="4572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Logout</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 indent="0" algn="ctr">
              <a:buNone/>
            </a:pPr>
            <a:endParaRPr lang="en-IN" sz="2600" b="1" dirty="0">
              <a:solidFill>
                <a:schemeClr val="tx1">
                  <a:lumMod val="65000"/>
                  <a:lumOff val="35000"/>
                </a:schemeClr>
              </a:solidFill>
              <a:effectLst>
                <a:outerShdw blurRad="38100" dist="38100" dir="2700000" algn="tl">
                  <a:srgbClr val="000000">
                    <a:alpha val="43137"/>
                  </a:srgbClr>
                </a:outerShdw>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168600" y="104400"/>
            <a:ext cx="11854800" cy="6649200"/>
          </a:xfrm>
        </p:spPr>
        <p:txBody>
          <a:bodyPr>
            <a:normAutofit/>
          </a:bodyPr>
          <a:lstStyle/>
          <a:p>
            <a:pPr marL="45720" indent="0">
              <a:lnSpc>
                <a:spcPct val="150000"/>
              </a:lnSpc>
              <a:spcAft>
                <a:spcPts val="1000"/>
              </a:spcAft>
              <a:buNone/>
            </a:pPr>
            <a:endParaRPr lang="en-IN" sz="16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 indent="0">
              <a:lnSpc>
                <a:spcPct val="150000"/>
              </a:lnSpc>
              <a:spcAft>
                <a:spcPts val="1000"/>
              </a:spcAft>
              <a:buNone/>
            </a:pPr>
            <a:endPar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 indent="0">
              <a:lnSpc>
                <a:spcPct val="150000"/>
              </a:lnSpc>
              <a:spcAft>
                <a:spcPts val="1000"/>
              </a:spcAft>
              <a:buNone/>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2. Remote User:</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 indent="0">
              <a:lnSpc>
                <a:spcPct val="150000"/>
              </a:lnSpc>
              <a:spcAft>
                <a:spcPts val="1000"/>
              </a:spcAft>
              <a:buNone/>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  In this module, the functionalities are follows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1000"/>
              </a:spcAft>
              <a:buFont typeface="Wingdings" panose="05000000000000000000" pitchFamily="2"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Register</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1000"/>
              </a:spcAft>
              <a:buFont typeface="Wingdings" panose="05000000000000000000" pitchFamily="2"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Login</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1000"/>
              </a:spcAft>
              <a:buFont typeface="Wingdings" panose="05000000000000000000" pitchFamily="2"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Predict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Cervical Cancer Type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1000"/>
              </a:spcAft>
              <a:buFont typeface="Wingdings" panose="05000000000000000000" pitchFamily="2"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View profile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1000"/>
              </a:spcAft>
              <a:buFont typeface="Wingdings" panose="05000000000000000000" pitchFamily="2"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Logout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 indent="0">
              <a:lnSpc>
                <a:spcPct val="150000"/>
              </a:lnSpc>
              <a:spcAft>
                <a:spcPts val="1000"/>
              </a:spcAft>
              <a:buNone/>
            </a:pP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65760" lvl="1" indent="0">
              <a:lnSpc>
                <a:spcPct val="150000"/>
              </a:lnSpc>
              <a:buNone/>
            </a:pPr>
            <a:endParaRPr lang="en-US" sz="1600"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307909" y="531844"/>
            <a:ext cx="11709919" cy="5952931"/>
          </a:xfrm>
        </p:spPr>
        <p:txBody>
          <a:bodyPr>
            <a:normAutofit/>
          </a:bodyPr>
          <a:lstStyle/>
          <a:p>
            <a:pPr marL="45720" indent="0">
              <a:lnSpc>
                <a:spcPct val="150000"/>
              </a:lnSpc>
              <a:spcAft>
                <a:spcPts val="1000"/>
              </a:spcAft>
              <a:buNone/>
            </a:pPr>
            <a:r>
              <a:rPr lang="en-IN" sz="1700" b="1" dirty="0">
                <a:effectLst/>
                <a:latin typeface="Times New Roman" panose="02020603050405020304" pitchFamily="18" charset="0"/>
                <a:ea typeface="Times New Roman" panose="02020603050405020304" pitchFamily="18" charset="0"/>
                <a:cs typeface="Times New Roman" panose="02020603050405020304" pitchFamily="18" charset="0"/>
              </a:rPr>
              <a:t>3. Dataset Loading Module:</a:t>
            </a:r>
            <a:endParaRPr lang="en-IN" sz="17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1000"/>
              </a:spcAft>
              <a:buFont typeface="Wingdings" panose="05000000000000000000" pitchFamily="2" charset="2"/>
              <a:buChar char=""/>
              <a:tabLst>
                <a:tab pos="457200" algn="l"/>
              </a:tabLst>
            </a:pP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Facilities the loading of datasets for training and evaluation process</a:t>
            </a:r>
            <a:endParaRPr lang="en-IN" sz="17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1000"/>
              </a:spcAft>
              <a:buFont typeface="Wingdings" panose="05000000000000000000" pitchFamily="2" charset="2"/>
              <a:buChar char=""/>
              <a:tabLst>
                <a:tab pos="457200" algn="l"/>
              </a:tabLst>
            </a:pP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Provides graphical representation</a:t>
            </a:r>
            <a:endParaRPr lang="en-IN" sz="17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 indent="0">
              <a:lnSpc>
                <a:spcPct val="150000"/>
              </a:lnSpc>
              <a:spcAft>
                <a:spcPts val="1000"/>
              </a:spcAft>
              <a:buNone/>
            </a:pPr>
            <a:r>
              <a:rPr lang="en-IN" sz="1700" b="1" dirty="0">
                <a:effectLst/>
                <a:latin typeface="Times New Roman" panose="02020603050405020304" pitchFamily="18" charset="0"/>
                <a:ea typeface="Times New Roman" panose="02020603050405020304" pitchFamily="18" charset="0"/>
                <a:cs typeface="Times New Roman" panose="02020603050405020304" pitchFamily="18" charset="0"/>
              </a:rPr>
              <a:t>4. Training and Evaluation Module</a:t>
            </a:r>
            <a:endParaRPr lang="en-IN" sz="17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1000"/>
              </a:spcAft>
              <a:buFont typeface="Wingdings" panose="05000000000000000000" pitchFamily="2" charset="2"/>
              <a:buChar char=""/>
              <a:tabLst>
                <a:tab pos="457200" algn="l"/>
              </a:tabLst>
            </a:pP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Training the Model</a:t>
            </a:r>
            <a:endParaRPr lang="en-IN" sz="17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1000"/>
              </a:spcAft>
              <a:buFont typeface="Wingdings" panose="05000000000000000000" pitchFamily="2" charset="2"/>
              <a:buChar char=""/>
              <a:tabLst>
                <a:tab pos="457200" algn="l"/>
              </a:tabLst>
            </a:pP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Evaluate the model with Precision and Recall</a:t>
            </a:r>
            <a:endParaRPr lang="en-IN" sz="17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 indent="0">
              <a:lnSpc>
                <a:spcPct val="150000"/>
              </a:lnSpc>
              <a:spcAft>
                <a:spcPts val="1000"/>
              </a:spcAft>
              <a:buNone/>
            </a:pPr>
            <a:r>
              <a:rPr lang="en-IN" sz="1700" b="1" dirty="0">
                <a:effectLst/>
                <a:latin typeface="Times New Roman" panose="02020603050405020304" pitchFamily="18" charset="0"/>
                <a:ea typeface="Times New Roman" panose="02020603050405020304" pitchFamily="18" charset="0"/>
                <a:cs typeface="Times New Roman" panose="02020603050405020304" pitchFamily="18" charset="0"/>
              </a:rPr>
              <a:t>5. User Interface Module</a:t>
            </a:r>
            <a:endParaRPr lang="en-IN" sz="17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1000"/>
              </a:spcAft>
              <a:buFont typeface="Wingdings" panose="05000000000000000000" pitchFamily="2" charset="2"/>
              <a:buChar char=""/>
              <a:tabLst>
                <a:tab pos="457200" algn="l"/>
              </a:tabLst>
            </a:pP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Provides a user friendly interface for users to interact with system</a:t>
            </a:r>
            <a:endParaRPr lang="en-IN" sz="17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1000"/>
              </a:spcAft>
              <a:buFont typeface="Wingdings" panose="05000000000000000000" pitchFamily="2" charset="2"/>
              <a:buChar char=""/>
              <a:tabLst>
                <a:tab pos="457200" algn="l"/>
              </a:tabLst>
            </a:pP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Display functionalities  like signup, login, prediction and training and accuracy results</a:t>
            </a:r>
            <a:endParaRPr lang="en-IN" sz="17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59898" y="251927"/>
            <a:ext cx="3872204" cy="523220"/>
          </a:xfrm>
          <a:prstGeom prst="rect">
            <a:avLst/>
          </a:prstGeom>
          <a:noFill/>
        </p:spPr>
        <p:txBody>
          <a:bodyPr wrap="square" rtlCol="0">
            <a:spAutoFit/>
          </a:bodyPr>
          <a:lstStyle/>
          <a:p>
            <a:pPr algn="ctr"/>
            <a:r>
              <a:rPr lang="en-US" sz="2800" b="1" dirty="0">
                <a:solidFill>
                  <a:schemeClr val="bg2">
                    <a:lumMod val="50000"/>
                  </a:schemeClr>
                </a:solidFill>
                <a:effectLst>
                  <a:outerShdw blurRad="38100" dist="38100" dir="2700000" algn="tl">
                    <a:srgbClr val="000000">
                      <a:alpha val="43137"/>
                    </a:srgbClr>
                  </a:outerShdw>
                </a:effectLst>
              </a:rPr>
              <a:t>DESIGN</a:t>
            </a:r>
            <a:endParaRPr lang="en-IN" sz="2800" dirty="0"/>
          </a:p>
        </p:txBody>
      </p:sp>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r:id="rId1" p14:bwMode="auto">
              <p14:nvContentPartPr>
                <p14:cNvPr id="13" name="Ink 12"/>
                <p14:cNvContentPartPr/>
                <p14:nvPr/>
              </p14:nvContentPartPr>
              <p14:xfrm>
                <a:off x="4771720" y="3554920"/>
                <a:ext cx="452880" cy="22320"/>
              </p14:xfrm>
            </p:contentPart>
          </mc:Choice>
          <mc:Fallback xmlns="">
            <p:pic>
              <p:nvPicPr>
                <p:cNvPr id="13" name="Ink 12"/>
              </p:nvPicPr>
              <p:blipFill>
                <a:blip r:embed="rId2"/>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4" name="Ink 13"/>
                <p14:cNvContentPartPr/>
                <p14:nvPr/>
              </p14:nvContentPartPr>
              <p14:xfrm>
                <a:off x="4556440" y="3571120"/>
                <a:ext cx="56520" cy="30600"/>
              </p14:xfrm>
            </p:contentPart>
          </mc:Choice>
          <mc:Fallback xmlns="">
            <p:pic>
              <p:nvPicPr>
                <p:cNvPr id="14" name="Ink 13"/>
              </p:nvPicPr>
              <p:blipFill>
                <a:blip r:embed="rId4"/>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5" name="Ink 14"/>
                <p14:cNvContentPartPr/>
                <p14:nvPr/>
              </p14:nvContentPartPr>
              <p14:xfrm>
                <a:off x="4617640" y="3572920"/>
                <a:ext cx="72000" cy="18720"/>
              </p14:xfrm>
            </p:contentPart>
          </mc:Choice>
          <mc:Fallback xmlns="">
            <p:pic>
              <p:nvPicPr>
                <p:cNvPr id="15" name="Ink 14"/>
              </p:nvPicPr>
              <p:blipFill>
                <a:blip r:embed="rId6"/>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r:id="rId7" p14:bwMode="auto">
            <p14:nvContentPartPr>
              <p14:cNvPr id="17" name="Ink 16"/>
              <p14:cNvContentPartPr/>
              <p14:nvPr/>
            </p14:nvContentPartPr>
            <p14:xfrm>
              <a:off x="6012060" y="1935300"/>
              <a:ext cx="360" cy="360"/>
            </p14:xfrm>
          </p:contentPart>
        </mc:Choice>
        <mc:Fallback xmlns="">
          <p:pic>
            <p:nvPicPr>
              <p:cNvPr id="17" name="Ink 16"/>
            </p:nvPicPr>
            <p:blipFill>
              <a:blip r:embed="rId8"/>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p:cNvSpPr txBox="1"/>
          <p:nvPr/>
        </p:nvSpPr>
        <p:spPr>
          <a:xfrm>
            <a:off x="3963174" y="812767"/>
            <a:ext cx="4481029" cy="369332"/>
          </a:xfrm>
          <a:prstGeom prst="rect">
            <a:avLst/>
          </a:prstGeom>
          <a:noFill/>
        </p:spPr>
        <p:txBody>
          <a:bodyPr wrap="square" rtlCol="0">
            <a:spAutoFit/>
          </a:bodyPr>
          <a:lstStyle/>
          <a:p>
            <a:pPr algn="ctr"/>
            <a:r>
              <a:rPr lang="en-US" dirty="0"/>
              <a:t> Data Flow Diagram </a:t>
            </a:r>
            <a:endParaRPr lang="en-IN" dirty="0"/>
          </a:p>
        </p:txBody>
      </p:sp>
      <p:pic>
        <p:nvPicPr>
          <p:cNvPr id="5" name="Picture 4"/>
          <p:cNvPicPr>
            <a:picLocks noChangeAspect="1"/>
          </p:cNvPicPr>
          <p:nvPr/>
        </p:nvPicPr>
        <p:blipFill>
          <a:blip r:embed="rId9"/>
          <a:stretch>
            <a:fillRect/>
          </a:stretch>
        </p:blipFill>
        <p:spPr>
          <a:xfrm>
            <a:off x="3605043" y="1358113"/>
            <a:ext cx="5197290" cy="537256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59898" y="251927"/>
            <a:ext cx="3872204" cy="523220"/>
          </a:xfrm>
          <a:prstGeom prst="rect">
            <a:avLst/>
          </a:prstGeom>
          <a:noFill/>
        </p:spPr>
        <p:txBody>
          <a:bodyPr wrap="square" rtlCol="0">
            <a:spAutoFit/>
          </a:bodyPr>
          <a:lstStyle/>
          <a:p>
            <a:pPr algn="ctr"/>
            <a:r>
              <a:rPr lang="en-US" sz="2800" b="1" dirty="0">
                <a:solidFill>
                  <a:schemeClr val="bg2">
                    <a:lumMod val="50000"/>
                  </a:schemeClr>
                </a:solidFill>
                <a:effectLst>
                  <a:outerShdw blurRad="38100" dist="38100" dir="2700000" algn="tl">
                    <a:srgbClr val="000000">
                      <a:alpha val="43137"/>
                    </a:srgbClr>
                  </a:outerShdw>
                </a:effectLst>
              </a:rPr>
              <a:t>UML DIAGRAMS</a:t>
            </a:r>
            <a:endParaRPr lang="en-IN" sz="2800" dirty="0"/>
          </a:p>
        </p:txBody>
      </p:sp>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r:id="rId1" p14:bwMode="auto">
              <p14:nvContentPartPr>
                <p14:cNvPr id="13" name="Ink 12"/>
                <p14:cNvContentPartPr/>
                <p14:nvPr/>
              </p14:nvContentPartPr>
              <p14:xfrm>
                <a:off x="4771720" y="3554920"/>
                <a:ext cx="452880" cy="22320"/>
              </p14:xfrm>
            </p:contentPart>
          </mc:Choice>
          <mc:Fallback xmlns="">
            <p:pic>
              <p:nvPicPr>
                <p:cNvPr id="13" name="Ink 12"/>
              </p:nvPicPr>
              <p:blipFill>
                <a:blip r:embed="rId2"/>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4" name="Ink 13"/>
                <p14:cNvContentPartPr/>
                <p14:nvPr/>
              </p14:nvContentPartPr>
              <p14:xfrm>
                <a:off x="4556440" y="3571120"/>
                <a:ext cx="56520" cy="30600"/>
              </p14:xfrm>
            </p:contentPart>
          </mc:Choice>
          <mc:Fallback xmlns="">
            <p:pic>
              <p:nvPicPr>
                <p:cNvPr id="14" name="Ink 13"/>
              </p:nvPicPr>
              <p:blipFill>
                <a:blip r:embed="rId4"/>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5" name="Ink 14"/>
                <p14:cNvContentPartPr/>
                <p14:nvPr/>
              </p14:nvContentPartPr>
              <p14:xfrm>
                <a:off x="4617640" y="3572920"/>
                <a:ext cx="72000" cy="18720"/>
              </p14:xfrm>
            </p:contentPart>
          </mc:Choice>
          <mc:Fallback xmlns="">
            <p:pic>
              <p:nvPicPr>
                <p:cNvPr id="15" name="Ink 14"/>
              </p:nvPicPr>
              <p:blipFill>
                <a:blip r:embed="rId6"/>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r:id="rId7" p14:bwMode="auto">
            <p14:nvContentPartPr>
              <p14:cNvPr id="17" name="Ink 16"/>
              <p14:cNvContentPartPr/>
              <p14:nvPr/>
            </p14:nvContentPartPr>
            <p14:xfrm>
              <a:off x="6012060" y="1935300"/>
              <a:ext cx="360" cy="360"/>
            </p14:xfrm>
          </p:contentPart>
        </mc:Choice>
        <mc:Fallback xmlns="">
          <p:pic>
            <p:nvPicPr>
              <p:cNvPr id="17" name="Ink 16"/>
            </p:nvPicPr>
            <p:blipFill>
              <a:blip r:embed="rId8"/>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p:cNvSpPr txBox="1"/>
          <p:nvPr/>
        </p:nvSpPr>
        <p:spPr>
          <a:xfrm>
            <a:off x="3771545" y="819374"/>
            <a:ext cx="4481029" cy="369332"/>
          </a:xfrm>
          <a:prstGeom prst="rect">
            <a:avLst/>
          </a:prstGeom>
          <a:noFill/>
        </p:spPr>
        <p:txBody>
          <a:bodyPr wrap="square" rtlCol="0">
            <a:spAutoFit/>
          </a:bodyPr>
          <a:lstStyle/>
          <a:p>
            <a:pPr algn="ctr"/>
            <a:r>
              <a:rPr lang="en-US" dirty="0"/>
              <a:t>USE CASE DIAGRAM FOR REMOTE USER</a:t>
            </a:r>
            <a:endParaRPr lang="en-IN" dirty="0"/>
          </a:p>
        </p:txBody>
      </p:sp>
      <p:pic>
        <p:nvPicPr>
          <p:cNvPr id="5" name="Picture 4"/>
          <p:cNvPicPr>
            <a:picLocks noChangeAspect="1"/>
          </p:cNvPicPr>
          <p:nvPr/>
        </p:nvPicPr>
        <p:blipFill>
          <a:blip r:embed="rId9"/>
          <a:stretch>
            <a:fillRect/>
          </a:stretch>
        </p:blipFill>
        <p:spPr>
          <a:xfrm>
            <a:off x="2036308" y="1913672"/>
            <a:ext cx="7370470" cy="30306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3625" y="373224"/>
            <a:ext cx="8126963" cy="369332"/>
          </a:xfrm>
          <a:prstGeom prst="rect">
            <a:avLst/>
          </a:prstGeom>
          <a:noFill/>
        </p:spPr>
        <p:txBody>
          <a:bodyPr wrap="square" rtlCol="0">
            <a:spAutoFit/>
          </a:bodyPr>
          <a:lstStyle/>
          <a:p>
            <a:r>
              <a:rPr lang="en-IN" dirty="0">
                <a:latin typeface="Trebuchet MS" panose="020B0603020202020204" charset="0"/>
                <a:cs typeface="Times New Roman" panose="02020603050405020304" pitchFamily="18" charset="0"/>
              </a:rPr>
              <a:t>USE CASE DIAGRAM FOR SERVICE PROVIDER</a:t>
            </a:r>
            <a:endParaRPr lang="en-US" dirty="0">
              <a:latin typeface="Trebuchet MS" panose="020B0603020202020204" charset="0"/>
              <a:cs typeface="Times New Roman" panose="02020603050405020304" pitchFamily="18" charset="0"/>
            </a:endParaRPr>
          </a:p>
        </p:txBody>
      </p:sp>
      <p:sp>
        <p:nvSpPr>
          <p:cNvPr id="6" name="TextBox 5"/>
          <p:cNvSpPr txBox="1"/>
          <p:nvPr/>
        </p:nvSpPr>
        <p:spPr>
          <a:xfrm>
            <a:off x="1978090" y="1679510"/>
            <a:ext cx="9395926" cy="646331"/>
          </a:xfrm>
          <a:prstGeom prst="rect">
            <a:avLst/>
          </a:prstGeom>
          <a:noFill/>
        </p:spPr>
        <p:txBody>
          <a:bodyPr wrap="square" rtlCol="0">
            <a:spAutoFit/>
          </a:bodyPr>
          <a:lstStyle/>
          <a:p>
            <a:endParaRPr lang="en-IN" dirty="0"/>
          </a:p>
          <a:p>
            <a:endParaRPr lang="en-US" dirty="0"/>
          </a:p>
        </p:txBody>
      </p:sp>
      <p:pic>
        <p:nvPicPr>
          <p:cNvPr id="7" name="Content Placeholder 3"/>
          <p:cNvPicPr>
            <a:picLocks noChangeAspect="1"/>
          </p:cNvPicPr>
          <p:nvPr/>
        </p:nvPicPr>
        <p:blipFill>
          <a:blip r:embed="rId1"/>
          <a:stretch>
            <a:fillRect/>
          </a:stretch>
        </p:blipFill>
        <p:spPr>
          <a:xfrm>
            <a:off x="1707503" y="1148080"/>
            <a:ext cx="8920064" cy="553263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s 4"/>
          <p:cNvSpPr/>
          <p:nvPr/>
        </p:nvSpPr>
        <p:spPr>
          <a:xfrm>
            <a:off x="682625" y="743585"/>
            <a:ext cx="1653540" cy="519430"/>
          </a:xfrm>
          <a:prstGeom prst="rect">
            <a:avLst/>
          </a:prstGeom>
        </p:spPr>
        <p:style>
          <a:lnRef idx="3">
            <a:schemeClr val="accent5"/>
          </a:lnRef>
          <a:fillRef idx="0">
            <a:srgbClr val="FFFFFF"/>
          </a:fillRef>
          <a:effectRef idx="0">
            <a:srgbClr val="FFFFFF"/>
          </a:effectRef>
          <a:fontRef idx="minor">
            <a:schemeClr val="tx1"/>
          </a:fontRef>
        </p:style>
        <p:txBody>
          <a:bodyPr rtlCol="0" anchor="ctr"/>
          <a:lstStyle/>
          <a:p>
            <a:pPr algn="ctr"/>
            <a:r>
              <a:rPr lang="en-IN" altLang="en-US"/>
              <a:t>Service Provider</a:t>
            </a:r>
            <a:endParaRPr lang="en-IN" altLang="en-US"/>
          </a:p>
        </p:txBody>
      </p:sp>
      <p:sp>
        <p:nvSpPr>
          <p:cNvPr id="6" name="Rectangles 5"/>
          <p:cNvSpPr/>
          <p:nvPr/>
        </p:nvSpPr>
        <p:spPr>
          <a:xfrm>
            <a:off x="4869180" y="791845"/>
            <a:ext cx="1390015" cy="514350"/>
          </a:xfrm>
          <a:prstGeom prst="rect">
            <a:avLst/>
          </a:prstGeom>
        </p:spPr>
        <p:style>
          <a:lnRef idx="3">
            <a:schemeClr val="accent5"/>
          </a:lnRef>
          <a:fillRef idx="0">
            <a:srgbClr val="FFFFFF"/>
          </a:fillRef>
          <a:effectRef idx="0">
            <a:srgbClr val="FFFFFF"/>
          </a:effectRef>
          <a:fontRef idx="minor">
            <a:schemeClr val="tx1"/>
          </a:fontRef>
        </p:style>
        <p:txBody>
          <a:bodyPr rtlCol="0" anchor="ctr"/>
          <a:lstStyle/>
          <a:p>
            <a:pPr algn="ctr"/>
            <a:r>
              <a:rPr lang="en-IN" altLang="en-US"/>
              <a:t>Server</a:t>
            </a:r>
            <a:endParaRPr lang="en-IN" altLang="en-US"/>
          </a:p>
        </p:txBody>
      </p:sp>
      <p:sp>
        <p:nvSpPr>
          <p:cNvPr id="7" name="Rectangles 6"/>
          <p:cNvSpPr/>
          <p:nvPr/>
        </p:nvSpPr>
        <p:spPr>
          <a:xfrm>
            <a:off x="9103360" y="855980"/>
            <a:ext cx="1718945" cy="450215"/>
          </a:xfrm>
          <a:prstGeom prst="rect">
            <a:avLst/>
          </a:prstGeom>
        </p:spPr>
        <p:style>
          <a:lnRef idx="3">
            <a:schemeClr val="accent5"/>
          </a:lnRef>
          <a:fillRef idx="0">
            <a:srgbClr val="FFFFFF"/>
          </a:fillRef>
          <a:effectRef idx="0">
            <a:srgbClr val="FFFFFF"/>
          </a:effectRef>
          <a:fontRef idx="minor">
            <a:schemeClr val="tx1"/>
          </a:fontRef>
        </p:style>
        <p:txBody>
          <a:bodyPr rtlCol="0" anchor="ctr"/>
          <a:lstStyle/>
          <a:p>
            <a:pPr algn="ctr"/>
            <a:r>
              <a:rPr lang="en-IN" altLang="en-US"/>
              <a:t>Remote User</a:t>
            </a:r>
            <a:endParaRPr lang="en-IN" altLang="en-US"/>
          </a:p>
        </p:txBody>
      </p:sp>
      <p:sp>
        <p:nvSpPr>
          <p:cNvPr id="8" name="Text Box 7"/>
          <p:cNvSpPr txBox="1"/>
          <p:nvPr/>
        </p:nvSpPr>
        <p:spPr>
          <a:xfrm>
            <a:off x="4338320" y="76200"/>
            <a:ext cx="5411470" cy="521970"/>
          </a:xfrm>
          <a:prstGeom prst="rect">
            <a:avLst/>
          </a:prstGeom>
          <a:noFill/>
        </p:spPr>
        <p:txBody>
          <a:bodyPr wrap="square" rtlCol="0">
            <a:spAutoFit/>
          </a:bodyPr>
          <a:lstStyle/>
          <a:p>
            <a:r>
              <a:rPr lang="en-IN" altLang="en-US" sz="2800"/>
              <a:t>SEQUENCE DIAGRAM</a:t>
            </a:r>
            <a:endParaRPr lang="en-IN" altLang="en-US" sz="2800"/>
          </a:p>
        </p:txBody>
      </p:sp>
      <p:cxnSp>
        <p:nvCxnSpPr>
          <p:cNvPr id="27" name="Straight Connector 26"/>
          <p:cNvCxnSpPr>
            <a:stCxn id="5" idx="2"/>
          </p:cNvCxnSpPr>
          <p:nvPr/>
        </p:nvCxnSpPr>
        <p:spPr>
          <a:xfrm flipH="1">
            <a:off x="1504315" y="1263015"/>
            <a:ext cx="5080" cy="5208270"/>
          </a:xfrm>
          <a:prstGeom prst="line">
            <a:avLst/>
          </a:prstGeom>
          <a:ln w="9525" cap="flat" cmpd="sng" algn="ctr">
            <a:solidFill>
              <a:prstClr val="black"/>
            </a:solidFill>
            <a:prstDash val="dash"/>
          </a:ln>
        </p:spPr>
        <p:style>
          <a:lnRef idx="0">
            <a:schemeClr val="accent6"/>
          </a:lnRef>
          <a:fillRef idx="0">
            <a:srgbClr val="FFFFFF"/>
          </a:fillRef>
          <a:effectRef idx="0">
            <a:srgbClr val="FFFFFF"/>
          </a:effectRef>
          <a:fontRef idx="minor">
            <a:schemeClr val="tx1"/>
          </a:fontRef>
        </p:style>
      </p:cxnSp>
      <p:sp>
        <p:nvSpPr>
          <p:cNvPr id="28" name="Rectangles 27"/>
          <p:cNvSpPr/>
          <p:nvPr/>
        </p:nvSpPr>
        <p:spPr>
          <a:xfrm>
            <a:off x="1504315" y="1523365"/>
            <a:ext cx="75565" cy="21209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29" name="Rectangles 28"/>
          <p:cNvSpPr/>
          <p:nvPr/>
        </p:nvSpPr>
        <p:spPr>
          <a:xfrm>
            <a:off x="1504315" y="1995805"/>
            <a:ext cx="75565" cy="21209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30" name="Rectangles 29"/>
          <p:cNvSpPr/>
          <p:nvPr/>
        </p:nvSpPr>
        <p:spPr>
          <a:xfrm>
            <a:off x="1504315" y="2468245"/>
            <a:ext cx="75565" cy="21209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31" name="Rectangles 30"/>
          <p:cNvSpPr/>
          <p:nvPr/>
        </p:nvSpPr>
        <p:spPr>
          <a:xfrm>
            <a:off x="1504315" y="2940685"/>
            <a:ext cx="75565" cy="21209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33" name="Rectangles 32"/>
          <p:cNvSpPr/>
          <p:nvPr/>
        </p:nvSpPr>
        <p:spPr>
          <a:xfrm>
            <a:off x="1503680" y="3429635"/>
            <a:ext cx="76200" cy="21209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35" name="Rectangles 34"/>
          <p:cNvSpPr/>
          <p:nvPr/>
        </p:nvSpPr>
        <p:spPr>
          <a:xfrm>
            <a:off x="1503680" y="3938270"/>
            <a:ext cx="76200" cy="21209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36" name="Rectangles 35"/>
          <p:cNvSpPr/>
          <p:nvPr/>
        </p:nvSpPr>
        <p:spPr>
          <a:xfrm>
            <a:off x="1503680" y="4446905"/>
            <a:ext cx="76200" cy="21209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37" name="Rectangles 36"/>
          <p:cNvSpPr/>
          <p:nvPr/>
        </p:nvSpPr>
        <p:spPr>
          <a:xfrm>
            <a:off x="1504315" y="4935855"/>
            <a:ext cx="76200" cy="21209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38" name="Rectangles 37"/>
          <p:cNvSpPr/>
          <p:nvPr/>
        </p:nvSpPr>
        <p:spPr>
          <a:xfrm>
            <a:off x="1503680" y="5424805"/>
            <a:ext cx="76200" cy="21209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cxnSp>
        <p:nvCxnSpPr>
          <p:cNvPr id="39" name="Straight Connector 38"/>
          <p:cNvCxnSpPr>
            <a:stCxn id="6" idx="2"/>
          </p:cNvCxnSpPr>
          <p:nvPr/>
        </p:nvCxnSpPr>
        <p:spPr>
          <a:xfrm>
            <a:off x="5564505" y="1306195"/>
            <a:ext cx="13335" cy="5186680"/>
          </a:xfrm>
          <a:prstGeom prst="line">
            <a:avLst/>
          </a:prstGeom>
          <a:ln w="9525" cap="flat" cmpd="sng" algn="ctr">
            <a:solidFill>
              <a:prstClr val="black"/>
            </a:solidFill>
            <a:prstDash val="dash"/>
          </a:ln>
        </p:spPr>
        <p:style>
          <a:lnRef idx="0">
            <a:schemeClr val="accent6"/>
          </a:lnRef>
          <a:fillRef idx="0">
            <a:srgbClr val="FFFFFF"/>
          </a:fillRef>
          <a:effectRef idx="0">
            <a:srgbClr val="FFFFFF"/>
          </a:effectRef>
          <a:fontRef idx="minor">
            <a:schemeClr val="tx1"/>
          </a:fontRef>
        </p:style>
      </p:cxnSp>
      <p:sp>
        <p:nvSpPr>
          <p:cNvPr id="40" name="Rectangles 39"/>
          <p:cNvSpPr/>
          <p:nvPr/>
        </p:nvSpPr>
        <p:spPr>
          <a:xfrm>
            <a:off x="5565140" y="1899285"/>
            <a:ext cx="75565" cy="15494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cxnSp>
        <p:nvCxnSpPr>
          <p:cNvPr id="41" name="Straight Connector 40"/>
          <p:cNvCxnSpPr>
            <a:stCxn id="28" idx="0"/>
          </p:cNvCxnSpPr>
          <p:nvPr/>
        </p:nvCxnSpPr>
        <p:spPr>
          <a:xfrm flipV="1">
            <a:off x="1542415" y="1513840"/>
            <a:ext cx="714375" cy="9525"/>
          </a:xfrm>
          <a:prstGeom prst="line">
            <a:avLst/>
          </a:prstGeom>
        </p:spPr>
        <p:style>
          <a:lnRef idx="2">
            <a:schemeClr val="accent6"/>
          </a:lnRef>
          <a:fillRef idx="0">
            <a:srgbClr val="FFFFFF"/>
          </a:fillRef>
          <a:effectRef idx="0">
            <a:srgbClr val="FFFFFF"/>
          </a:effectRef>
          <a:fontRef idx="minor">
            <a:schemeClr val="tx1"/>
          </a:fontRef>
        </p:style>
      </p:cxnSp>
      <p:cxnSp>
        <p:nvCxnSpPr>
          <p:cNvPr id="42" name="Straight Connector 41"/>
          <p:cNvCxnSpPr/>
          <p:nvPr/>
        </p:nvCxnSpPr>
        <p:spPr>
          <a:xfrm>
            <a:off x="2237105" y="1504315"/>
            <a:ext cx="7620" cy="209550"/>
          </a:xfrm>
          <a:prstGeom prst="line">
            <a:avLst/>
          </a:prstGeom>
        </p:spPr>
        <p:style>
          <a:lnRef idx="2">
            <a:schemeClr val="accent6"/>
          </a:lnRef>
          <a:fillRef idx="0">
            <a:srgbClr val="FFFFFF"/>
          </a:fillRef>
          <a:effectRef idx="0">
            <a:srgbClr val="FFFFFF"/>
          </a:effectRef>
          <a:fontRef idx="minor">
            <a:schemeClr val="tx1"/>
          </a:fontRef>
        </p:style>
      </p:cxnSp>
      <p:cxnSp>
        <p:nvCxnSpPr>
          <p:cNvPr id="45" name="Straight Arrow Connector 44"/>
          <p:cNvCxnSpPr/>
          <p:nvPr/>
        </p:nvCxnSpPr>
        <p:spPr>
          <a:xfrm flipH="1">
            <a:off x="1541145" y="1718945"/>
            <a:ext cx="694690" cy="0"/>
          </a:xfrm>
          <a:prstGeom prst="straightConnector1">
            <a:avLst/>
          </a:prstGeom>
          <a:ln>
            <a:tailEnd type="arrow" w="med" len="med"/>
          </a:ln>
        </p:spPr>
        <p:style>
          <a:lnRef idx="2">
            <a:schemeClr val="accent6"/>
          </a:lnRef>
          <a:fillRef idx="0">
            <a:srgbClr val="FFFFFF"/>
          </a:fillRef>
          <a:effectRef idx="0">
            <a:srgbClr val="FFFFFF"/>
          </a:effectRef>
          <a:fontRef idx="minor">
            <a:schemeClr val="tx1"/>
          </a:fontRef>
        </p:style>
      </p:cxnSp>
      <p:cxnSp>
        <p:nvCxnSpPr>
          <p:cNvPr id="46" name="Straight Arrow Connector 45"/>
          <p:cNvCxnSpPr>
            <a:stCxn id="29" idx="0"/>
            <a:endCxn id="40" idx="1"/>
          </p:cNvCxnSpPr>
          <p:nvPr/>
        </p:nvCxnSpPr>
        <p:spPr>
          <a:xfrm flipV="1">
            <a:off x="1542415" y="1976755"/>
            <a:ext cx="4022725" cy="19050"/>
          </a:xfrm>
          <a:prstGeom prst="straightConnector1">
            <a:avLst/>
          </a:prstGeom>
          <a:ln>
            <a:tailEnd type="arrow" w="med" len="med"/>
          </a:ln>
        </p:spPr>
        <p:style>
          <a:lnRef idx="2">
            <a:schemeClr val="accent6"/>
          </a:lnRef>
          <a:fillRef idx="0">
            <a:srgbClr val="FFFFFF"/>
          </a:fillRef>
          <a:effectRef idx="0">
            <a:srgbClr val="FFFFFF"/>
          </a:effectRef>
          <a:fontRef idx="minor">
            <a:schemeClr val="tx1"/>
          </a:fontRef>
        </p:style>
      </p:cxnSp>
      <p:sp>
        <p:nvSpPr>
          <p:cNvPr id="47" name="Rectangles 46"/>
          <p:cNvSpPr/>
          <p:nvPr/>
        </p:nvSpPr>
        <p:spPr>
          <a:xfrm>
            <a:off x="5565140" y="2400300"/>
            <a:ext cx="75565" cy="15494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48" name="Rectangles 47"/>
          <p:cNvSpPr/>
          <p:nvPr/>
        </p:nvSpPr>
        <p:spPr>
          <a:xfrm>
            <a:off x="5565140" y="2863215"/>
            <a:ext cx="75565" cy="15494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49" name="Rectangles 48"/>
          <p:cNvSpPr/>
          <p:nvPr/>
        </p:nvSpPr>
        <p:spPr>
          <a:xfrm>
            <a:off x="5577840" y="3326130"/>
            <a:ext cx="75565" cy="15494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50" name="Rectangles 49"/>
          <p:cNvSpPr/>
          <p:nvPr/>
        </p:nvSpPr>
        <p:spPr>
          <a:xfrm>
            <a:off x="5577840" y="3827145"/>
            <a:ext cx="75565" cy="15494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51" name="Rectangles 50"/>
          <p:cNvSpPr/>
          <p:nvPr/>
        </p:nvSpPr>
        <p:spPr>
          <a:xfrm>
            <a:off x="5564505" y="4276090"/>
            <a:ext cx="75565" cy="15494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52" name="Rectangles 51"/>
          <p:cNvSpPr/>
          <p:nvPr/>
        </p:nvSpPr>
        <p:spPr>
          <a:xfrm>
            <a:off x="5577840" y="4752975"/>
            <a:ext cx="75565" cy="15494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53" name="Rectangles 52"/>
          <p:cNvSpPr/>
          <p:nvPr/>
        </p:nvSpPr>
        <p:spPr>
          <a:xfrm>
            <a:off x="5577840" y="5283200"/>
            <a:ext cx="75565" cy="15494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54" name="Rectangles 53"/>
          <p:cNvSpPr/>
          <p:nvPr/>
        </p:nvSpPr>
        <p:spPr>
          <a:xfrm>
            <a:off x="5577840" y="5688965"/>
            <a:ext cx="75565" cy="15494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55" name="Rectangles 54"/>
          <p:cNvSpPr/>
          <p:nvPr/>
        </p:nvSpPr>
        <p:spPr>
          <a:xfrm>
            <a:off x="5577840" y="6108700"/>
            <a:ext cx="75565" cy="15494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56" name="Rectangles 55"/>
          <p:cNvSpPr/>
          <p:nvPr/>
        </p:nvSpPr>
        <p:spPr>
          <a:xfrm>
            <a:off x="5564505" y="6503035"/>
            <a:ext cx="75565" cy="15494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cxnSp>
        <p:nvCxnSpPr>
          <p:cNvPr id="57" name="Straight Arrow Connector 56"/>
          <p:cNvCxnSpPr>
            <a:stCxn id="30" idx="0"/>
            <a:endCxn id="47" idx="1"/>
          </p:cNvCxnSpPr>
          <p:nvPr/>
        </p:nvCxnSpPr>
        <p:spPr>
          <a:xfrm>
            <a:off x="1542415" y="2468245"/>
            <a:ext cx="4022725" cy="9525"/>
          </a:xfrm>
          <a:prstGeom prst="straightConnector1">
            <a:avLst/>
          </a:prstGeom>
          <a:ln>
            <a:tailEnd type="arrow" w="med" len="med"/>
          </a:ln>
        </p:spPr>
        <p:style>
          <a:lnRef idx="2">
            <a:schemeClr val="accent6"/>
          </a:lnRef>
          <a:fillRef idx="0">
            <a:srgbClr val="FFFFFF"/>
          </a:fillRef>
          <a:effectRef idx="0">
            <a:srgbClr val="FFFFFF"/>
          </a:effectRef>
          <a:fontRef idx="minor">
            <a:schemeClr val="tx1"/>
          </a:fontRef>
        </p:style>
      </p:cxnSp>
      <p:cxnSp>
        <p:nvCxnSpPr>
          <p:cNvPr id="58" name="Straight Arrow Connector 57"/>
          <p:cNvCxnSpPr>
            <a:stCxn id="31" idx="0"/>
            <a:endCxn id="48" idx="1"/>
          </p:cNvCxnSpPr>
          <p:nvPr/>
        </p:nvCxnSpPr>
        <p:spPr>
          <a:xfrm>
            <a:off x="1542415" y="2940685"/>
            <a:ext cx="4022725" cy="0"/>
          </a:xfrm>
          <a:prstGeom prst="straightConnector1">
            <a:avLst/>
          </a:prstGeom>
          <a:ln>
            <a:tailEnd type="arrow" w="med" len="med"/>
          </a:ln>
        </p:spPr>
        <p:style>
          <a:lnRef idx="2">
            <a:schemeClr val="accent6"/>
          </a:lnRef>
          <a:fillRef idx="0">
            <a:srgbClr val="FFFFFF"/>
          </a:fillRef>
          <a:effectRef idx="0">
            <a:srgbClr val="FFFFFF"/>
          </a:effectRef>
          <a:fontRef idx="minor">
            <a:schemeClr val="tx1"/>
          </a:fontRef>
        </p:style>
      </p:cxnSp>
      <p:cxnSp>
        <p:nvCxnSpPr>
          <p:cNvPr id="59" name="Straight Arrow Connector 58"/>
          <p:cNvCxnSpPr>
            <a:stCxn id="33" idx="0"/>
            <a:endCxn id="49" idx="1"/>
          </p:cNvCxnSpPr>
          <p:nvPr/>
        </p:nvCxnSpPr>
        <p:spPr>
          <a:xfrm flipV="1">
            <a:off x="1541780" y="3403600"/>
            <a:ext cx="4036060" cy="26035"/>
          </a:xfrm>
          <a:prstGeom prst="straightConnector1">
            <a:avLst/>
          </a:prstGeom>
          <a:ln>
            <a:tailEnd type="arrow" w="med" len="med"/>
          </a:ln>
        </p:spPr>
        <p:style>
          <a:lnRef idx="2">
            <a:schemeClr val="accent6"/>
          </a:lnRef>
          <a:fillRef idx="0">
            <a:srgbClr val="FFFFFF"/>
          </a:fillRef>
          <a:effectRef idx="0">
            <a:srgbClr val="FFFFFF"/>
          </a:effectRef>
          <a:fontRef idx="minor">
            <a:schemeClr val="tx1"/>
          </a:fontRef>
        </p:style>
      </p:cxnSp>
      <p:cxnSp>
        <p:nvCxnSpPr>
          <p:cNvPr id="60" name="Straight Arrow Connector 59"/>
          <p:cNvCxnSpPr>
            <a:stCxn id="35" idx="0"/>
            <a:endCxn id="50" idx="1"/>
          </p:cNvCxnSpPr>
          <p:nvPr/>
        </p:nvCxnSpPr>
        <p:spPr>
          <a:xfrm flipV="1">
            <a:off x="1541780" y="3904615"/>
            <a:ext cx="4036060" cy="33655"/>
          </a:xfrm>
          <a:prstGeom prst="straightConnector1">
            <a:avLst/>
          </a:prstGeom>
          <a:ln>
            <a:tailEnd type="arrow" w="med" len="med"/>
          </a:ln>
        </p:spPr>
        <p:style>
          <a:lnRef idx="2">
            <a:schemeClr val="accent6"/>
          </a:lnRef>
          <a:fillRef idx="0">
            <a:srgbClr val="FFFFFF"/>
          </a:fillRef>
          <a:effectRef idx="0">
            <a:srgbClr val="FFFFFF"/>
          </a:effectRef>
          <a:fontRef idx="minor">
            <a:schemeClr val="tx1"/>
          </a:fontRef>
        </p:style>
      </p:cxnSp>
      <p:cxnSp>
        <p:nvCxnSpPr>
          <p:cNvPr id="61" name="Straight Arrow Connector 60"/>
          <p:cNvCxnSpPr>
            <a:stCxn id="36" idx="0"/>
          </p:cNvCxnSpPr>
          <p:nvPr/>
        </p:nvCxnSpPr>
        <p:spPr>
          <a:xfrm flipV="1">
            <a:off x="1541780" y="4395470"/>
            <a:ext cx="3997960" cy="51435"/>
          </a:xfrm>
          <a:prstGeom prst="straightConnector1">
            <a:avLst/>
          </a:prstGeom>
          <a:ln>
            <a:tailEnd type="arrow" w="med" len="med"/>
          </a:ln>
        </p:spPr>
        <p:style>
          <a:lnRef idx="2">
            <a:schemeClr val="accent6"/>
          </a:lnRef>
          <a:fillRef idx="0">
            <a:srgbClr val="FFFFFF"/>
          </a:fillRef>
          <a:effectRef idx="0">
            <a:srgbClr val="FFFFFF"/>
          </a:effectRef>
          <a:fontRef idx="minor">
            <a:schemeClr val="tx1"/>
          </a:fontRef>
        </p:style>
      </p:cxnSp>
      <p:cxnSp>
        <p:nvCxnSpPr>
          <p:cNvPr id="62" name="Straight Arrow Connector 61"/>
          <p:cNvCxnSpPr>
            <a:stCxn id="37" idx="0"/>
            <a:endCxn id="52" idx="2"/>
          </p:cNvCxnSpPr>
          <p:nvPr/>
        </p:nvCxnSpPr>
        <p:spPr>
          <a:xfrm flipV="1">
            <a:off x="1542415" y="4907915"/>
            <a:ext cx="4073525" cy="27940"/>
          </a:xfrm>
          <a:prstGeom prst="straightConnector1">
            <a:avLst/>
          </a:prstGeom>
          <a:ln>
            <a:tailEnd type="arrow" w="med" len="med"/>
          </a:ln>
        </p:spPr>
        <p:style>
          <a:lnRef idx="2">
            <a:schemeClr val="accent6"/>
          </a:lnRef>
          <a:fillRef idx="0">
            <a:srgbClr val="FFFFFF"/>
          </a:fillRef>
          <a:effectRef idx="0">
            <a:srgbClr val="FFFFFF"/>
          </a:effectRef>
          <a:fontRef idx="minor">
            <a:schemeClr val="tx1"/>
          </a:fontRef>
        </p:style>
      </p:cxnSp>
      <p:cxnSp>
        <p:nvCxnSpPr>
          <p:cNvPr id="63" name="Straight Arrow Connector 62"/>
          <p:cNvCxnSpPr>
            <a:stCxn id="38" idx="0"/>
          </p:cNvCxnSpPr>
          <p:nvPr/>
        </p:nvCxnSpPr>
        <p:spPr>
          <a:xfrm flipV="1">
            <a:off x="1541780" y="5347335"/>
            <a:ext cx="4030345" cy="77470"/>
          </a:xfrm>
          <a:prstGeom prst="straightConnector1">
            <a:avLst/>
          </a:prstGeom>
          <a:ln>
            <a:tailEnd type="arrow" w="med" len="med"/>
          </a:ln>
        </p:spPr>
        <p:style>
          <a:lnRef idx="2">
            <a:schemeClr val="accent6"/>
          </a:lnRef>
          <a:fillRef idx="0">
            <a:srgbClr val="FFFFFF"/>
          </a:fillRef>
          <a:effectRef idx="0">
            <a:srgbClr val="FFFFFF"/>
          </a:effectRef>
          <a:fontRef idx="minor">
            <a:schemeClr val="tx1"/>
          </a:fontRef>
        </p:style>
      </p:cxnSp>
      <p:sp>
        <p:nvSpPr>
          <p:cNvPr id="64" name="Text Box 63"/>
          <p:cNvSpPr txBox="1"/>
          <p:nvPr/>
        </p:nvSpPr>
        <p:spPr>
          <a:xfrm>
            <a:off x="1631950" y="1266190"/>
            <a:ext cx="704215" cy="245110"/>
          </a:xfrm>
          <a:prstGeom prst="rect">
            <a:avLst/>
          </a:prstGeom>
          <a:noFill/>
        </p:spPr>
        <p:txBody>
          <a:bodyPr wrap="square" rtlCol="0">
            <a:spAutoFit/>
          </a:bodyPr>
          <a:lstStyle/>
          <a:p>
            <a:r>
              <a:rPr lang="en-IN" altLang="en-US" sz="1000"/>
              <a:t>LOGIN</a:t>
            </a:r>
            <a:endParaRPr lang="en-IN" altLang="en-US" sz="1000"/>
          </a:p>
        </p:txBody>
      </p:sp>
      <p:cxnSp>
        <p:nvCxnSpPr>
          <p:cNvPr id="65" name="Straight Connector 64"/>
          <p:cNvCxnSpPr>
            <a:stCxn id="7" idx="2"/>
          </p:cNvCxnSpPr>
          <p:nvPr/>
        </p:nvCxnSpPr>
        <p:spPr>
          <a:xfrm>
            <a:off x="9963150" y="1306195"/>
            <a:ext cx="29210" cy="5387340"/>
          </a:xfrm>
          <a:prstGeom prst="line">
            <a:avLst/>
          </a:prstGeom>
          <a:ln w="9525" cap="flat" cmpd="sng" algn="ctr">
            <a:solidFill>
              <a:prstClr val="black"/>
            </a:solidFill>
            <a:prstDash val="dash"/>
          </a:ln>
        </p:spPr>
        <p:style>
          <a:lnRef idx="0">
            <a:schemeClr val="accent6"/>
          </a:lnRef>
          <a:fillRef idx="0">
            <a:srgbClr val="FFFFFF"/>
          </a:fillRef>
          <a:effectRef idx="0">
            <a:srgbClr val="FFFFFF"/>
          </a:effectRef>
          <a:fontRef idx="minor">
            <a:schemeClr val="tx1"/>
          </a:fontRef>
        </p:style>
      </p:cxnSp>
      <p:sp>
        <p:nvSpPr>
          <p:cNvPr id="66" name="Rectangles 65"/>
          <p:cNvSpPr/>
          <p:nvPr/>
        </p:nvSpPr>
        <p:spPr>
          <a:xfrm>
            <a:off x="9963150" y="1564005"/>
            <a:ext cx="86995" cy="28956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67" name="Rectangles 66"/>
          <p:cNvSpPr/>
          <p:nvPr/>
        </p:nvSpPr>
        <p:spPr>
          <a:xfrm>
            <a:off x="9992360" y="5915025"/>
            <a:ext cx="86995" cy="28956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sp>
        <p:nvSpPr>
          <p:cNvPr id="68" name="Rectangles 67"/>
          <p:cNvSpPr/>
          <p:nvPr/>
        </p:nvSpPr>
        <p:spPr>
          <a:xfrm>
            <a:off x="10003155" y="6403975"/>
            <a:ext cx="86995" cy="289560"/>
          </a:xfrm>
          <a:prstGeom prst="rect">
            <a:avLst/>
          </a:prstGeom>
        </p:spPr>
        <p:style>
          <a:lnRef idx="3">
            <a:schemeClr val="accent6"/>
          </a:lnRef>
          <a:fillRef idx="0">
            <a:srgbClr val="FFFFFF"/>
          </a:fillRef>
          <a:effectRef idx="0">
            <a:srgbClr val="FFFFFF"/>
          </a:effectRef>
          <a:fontRef idx="minor">
            <a:schemeClr val="tx1"/>
          </a:fontRef>
        </p:style>
        <p:txBody>
          <a:bodyPr rtlCol="0" anchor="ctr"/>
          <a:lstStyle/>
          <a:p>
            <a:pPr algn="ctr"/>
            <a:endParaRPr lang="en-US"/>
          </a:p>
        </p:txBody>
      </p:sp>
      <p:cxnSp>
        <p:nvCxnSpPr>
          <p:cNvPr id="69" name="Straight Connector 68"/>
          <p:cNvCxnSpPr>
            <a:stCxn id="56" idx="2"/>
          </p:cNvCxnSpPr>
          <p:nvPr/>
        </p:nvCxnSpPr>
        <p:spPr>
          <a:xfrm flipH="1">
            <a:off x="5596890" y="6657975"/>
            <a:ext cx="5715" cy="275590"/>
          </a:xfrm>
          <a:prstGeom prst="line">
            <a:avLst/>
          </a:prstGeom>
          <a:ln w="9525" cap="flat" cmpd="sng" algn="ctr">
            <a:solidFill>
              <a:prstClr val="black"/>
            </a:solidFill>
            <a:prstDash val="dash"/>
          </a:ln>
        </p:spPr>
        <p:style>
          <a:lnRef idx="0">
            <a:schemeClr val="accent6"/>
          </a:lnRef>
          <a:fillRef idx="0">
            <a:srgbClr val="FFFFFF"/>
          </a:fillRef>
          <a:effectRef idx="0">
            <a:srgbClr val="FFFFFF"/>
          </a:effectRef>
          <a:fontRef idx="minor">
            <a:schemeClr val="tx1"/>
          </a:fontRef>
        </p:style>
      </p:cxnSp>
      <p:cxnSp>
        <p:nvCxnSpPr>
          <p:cNvPr id="70" name="Straight Connector 69"/>
          <p:cNvCxnSpPr/>
          <p:nvPr/>
        </p:nvCxnSpPr>
        <p:spPr>
          <a:xfrm>
            <a:off x="1504315" y="6507480"/>
            <a:ext cx="12065" cy="376555"/>
          </a:xfrm>
          <a:prstGeom prst="line">
            <a:avLst/>
          </a:prstGeom>
          <a:ln w="9525" cap="flat" cmpd="sng" algn="ctr">
            <a:solidFill>
              <a:prstClr val="black"/>
            </a:solidFill>
            <a:prstDash val="dash"/>
          </a:ln>
        </p:spPr>
        <p:style>
          <a:lnRef idx="0">
            <a:schemeClr val="accent6"/>
          </a:lnRef>
          <a:fillRef idx="0">
            <a:srgbClr val="FFFFFF"/>
          </a:fillRef>
          <a:effectRef idx="0">
            <a:srgbClr val="FFFFFF"/>
          </a:effectRef>
          <a:fontRef idx="minor">
            <a:schemeClr val="tx1"/>
          </a:fontRef>
        </p:style>
      </p:cxnSp>
      <p:cxnSp>
        <p:nvCxnSpPr>
          <p:cNvPr id="71" name="Straight Connector 70"/>
          <p:cNvCxnSpPr>
            <a:stCxn id="68" idx="2"/>
            <a:endCxn id="68" idx="2"/>
          </p:cNvCxnSpPr>
          <p:nvPr/>
        </p:nvCxnSpPr>
        <p:spPr>
          <a:xfrm>
            <a:off x="10046970" y="6693535"/>
            <a:ext cx="0" cy="0"/>
          </a:xfrm>
          <a:prstGeom prst="line">
            <a:avLst/>
          </a:prstGeom>
        </p:spPr>
        <p:style>
          <a:lnRef idx="2">
            <a:schemeClr val="accent1"/>
          </a:lnRef>
          <a:fillRef idx="0">
            <a:srgbClr val="FFFFFF"/>
          </a:fillRef>
          <a:effectRef idx="0">
            <a:srgbClr val="FFFFFF"/>
          </a:effectRef>
          <a:fontRef idx="minor">
            <a:schemeClr val="tx1"/>
          </a:fontRef>
        </p:style>
      </p:cxnSp>
      <p:cxnSp>
        <p:nvCxnSpPr>
          <p:cNvPr id="72" name="Straight Connector 71"/>
          <p:cNvCxnSpPr/>
          <p:nvPr/>
        </p:nvCxnSpPr>
        <p:spPr>
          <a:xfrm flipV="1">
            <a:off x="9992360" y="6728460"/>
            <a:ext cx="0" cy="155575"/>
          </a:xfrm>
          <a:prstGeom prst="line">
            <a:avLst/>
          </a:prstGeom>
          <a:ln w="9525" cap="flat" cmpd="sng" algn="ctr">
            <a:solidFill>
              <a:prstClr val="black"/>
            </a:solidFill>
            <a:prstDash val="dash"/>
          </a:ln>
        </p:spPr>
        <p:style>
          <a:lnRef idx="0">
            <a:schemeClr val="accent6"/>
          </a:lnRef>
          <a:fillRef idx="0">
            <a:srgbClr val="FFFFFF"/>
          </a:fillRef>
          <a:effectRef idx="0">
            <a:srgbClr val="FFFFFF"/>
          </a:effectRef>
          <a:fontRef idx="minor">
            <a:schemeClr val="tx1"/>
          </a:fontRef>
        </p:style>
      </p:cxnSp>
      <p:cxnSp>
        <p:nvCxnSpPr>
          <p:cNvPr id="74" name="Straight Arrow Connector 73"/>
          <p:cNvCxnSpPr>
            <a:stCxn id="67" idx="1"/>
            <a:endCxn id="55" idx="0"/>
          </p:cNvCxnSpPr>
          <p:nvPr/>
        </p:nvCxnSpPr>
        <p:spPr>
          <a:xfrm flipH="1">
            <a:off x="5615940" y="6059805"/>
            <a:ext cx="4376420" cy="48895"/>
          </a:xfrm>
          <a:prstGeom prst="straightConnector1">
            <a:avLst/>
          </a:prstGeom>
          <a:ln>
            <a:tailEnd type="arrow" w="med" len="med"/>
          </a:ln>
        </p:spPr>
        <p:style>
          <a:lnRef idx="2">
            <a:schemeClr val="accent6"/>
          </a:lnRef>
          <a:fillRef idx="0">
            <a:srgbClr val="FFFFFF"/>
          </a:fillRef>
          <a:effectRef idx="0">
            <a:srgbClr val="FFFFFF"/>
          </a:effectRef>
          <a:fontRef idx="minor">
            <a:schemeClr val="tx1"/>
          </a:fontRef>
        </p:style>
      </p:cxnSp>
      <p:cxnSp>
        <p:nvCxnSpPr>
          <p:cNvPr id="75" name="Straight Arrow Connector 74"/>
          <p:cNvCxnSpPr>
            <a:stCxn id="68" idx="1"/>
            <a:endCxn id="56" idx="3"/>
          </p:cNvCxnSpPr>
          <p:nvPr/>
        </p:nvCxnSpPr>
        <p:spPr>
          <a:xfrm flipH="1">
            <a:off x="5640070" y="6548755"/>
            <a:ext cx="4363085" cy="31750"/>
          </a:xfrm>
          <a:prstGeom prst="straightConnector1">
            <a:avLst/>
          </a:prstGeom>
          <a:ln>
            <a:tailEnd type="arrow" w="med" len="med"/>
          </a:ln>
        </p:spPr>
        <p:style>
          <a:lnRef idx="2">
            <a:schemeClr val="accent6"/>
          </a:lnRef>
          <a:fillRef idx="0">
            <a:srgbClr val="FFFFFF"/>
          </a:fillRef>
          <a:effectRef idx="0">
            <a:srgbClr val="FFFFFF"/>
          </a:effectRef>
          <a:fontRef idx="minor">
            <a:schemeClr val="tx1"/>
          </a:fontRef>
        </p:style>
      </p:cxnSp>
      <p:cxnSp>
        <p:nvCxnSpPr>
          <p:cNvPr id="76" name="Straight Connector 75"/>
          <p:cNvCxnSpPr>
            <a:stCxn id="66" idx="0"/>
          </p:cNvCxnSpPr>
          <p:nvPr/>
        </p:nvCxnSpPr>
        <p:spPr>
          <a:xfrm flipV="1">
            <a:off x="10006965" y="1558925"/>
            <a:ext cx="872490" cy="5080"/>
          </a:xfrm>
          <a:prstGeom prst="line">
            <a:avLst/>
          </a:prstGeom>
        </p:spPr>
        <p:style>
          <a:lnRef idx="2">
            <a:schemeClr val="accent6"/>
          </a:lnRef>
          <a:fillRef idx="0">
            <a:srgbClr val="FFFFFF"/>
          </a:fillRef>
          <a:effectRef idx="0">
            <a:srgbClr val="FFFFFF"/>
          </a:effectRef>
          <a:fontRef idx="minor">
            <a:schemeClr val="tx1"/>
          </a:fontRef>
        </p:style>
      </p:cxnSp>
      <p:cxnSp>
        <p:nvCxnSpPr>
          <p:cNvPr id="77" name="Straight Connector 76"/>
          <p:cNvCxnSpPr/>
          <p:nvPr/>
        </p:nvCxnSpPr>
        <p:spPr>
          <a:xfrm>
            <a:off x="10850880" y="1562100"/>
            <a:ext cx="9525" cy="260350"/>
          </a:xfrm>
          <a:prstGeom prst="line">
            <a:avLst/>
          </a:prstGeom>
        </p:spPr>
        <p:style>
          <a:lnRef idx="2">
            <a:schemeClr val="accent6"/>
          </a:lnRef>
          <a:fillRef idx="0">
            <a:srgbClr val="FFFFFF"/>
          </a:fillRef>
          <a:effectRef idx="0">
            <a:srgbClr val="FFFFFF"/>
          </a:effectRef>
          <a:fontRef idx="minor">
            <a:schemeClr val="tx1"/>
          </a:fontRef>
        </p:style>
      </p:cxnSp>
      <p:cxnSp>
        <p:nvCxnSpPr>
          <p:cNvPr id="78" name="Straight Arrow Connector 77"/>
          <p:cNvCxnSpPr/>
          <p:nvPr/>
        </p:nvCxnSpPr>
        <p:spPr>
          <a:xfrm flipH="1">
            <a:off x="10079355" y="1831975"/>
            <a:ext cx="771525" cy="6350"/>
          </a:xfrm>
          <a:prstGeom prst="straightConnector1">
            <a:avLst/>
          </a:prstGeom>
          <a:ln>
            <a:tailEnd type="arrow" w="med" len="med"/>
          </a:ln>
        </p:spPr>
        <p:style>
          <a:lnRef idx="2">
            <a:schemeClr val="accent6"/>
          </a:lnRef>
          <a:fillRef idx="0">
            <a:srgbClr val="FFFFFF"/>
          </a:fillRef>
          <a:effectRef idx="0">
            <a:srgbClr val="FFFFFF"/>
          </a:effectRef>
          <a:fontRef idx="minor">
            <a:schemeClr val="tx1"/>
          </a:fontRef>
        </p:style>
      </p:cxnSp>
      <p:sp>
        <p:nvSpPr>
          <p:cNvPr id="80" name="Text Box 79"/>
          <p:cNvSpPr txBox="1"/>
          <p:nvPr/>
        </p:nvSpPr>
        <p:spPr>
          <a:xfrm>
            <a:off x="1631950" y="1735455"/>
            <a:ext cx="2006600" cy="245110"/>
          </a:xfrm>
          <a:prstGeom prst="rect">
            <a:avLst/>
          </a:prstGeom>
          <a:noFill/>
        </p:spPr>
        <p:txBody>
          <a:bodyPr wrap="square" rtlCol="0">
            <a:spAutoFit/>
          </a:bodyPr>
          <a:lstStyle/>
          <a:p>
            <a:r>
              <a:rPr lang="en-IN" altLang="en-US" sz="1000"/>
              <a:t>1. Train &amp; Test data sets</a:t>
            </a:r>
            <a:endParaRPr lang="en-IN" altLang="en-US" sz="1000"/>
          </a:p>
        </p:txBody>
      </p:sp>
      <p:sp>
        <p:nvSpPr>
          <p:cNvPr id="81" name="Text Box 80"/>
          <p:cNvSpPr txBox="1"/>
          <p:nvPr/>
        </p:nvSpPr>
        <p:spPr>
          <a:xfrm>
            <a:off x="1631950" y="2121535"/>
            <a:ext cx="2661920" cy="245110"/>
          </a:xfrm>
          <a:prstGeom prst="rect">
            <a:avLst/>
          </a:prstGeom>
          <a:noFill/>
        </p:spPr>
        <p:txBody>
          <a:bodyPr wrap="square" rtlCol="0">
            <a:spAutoFit/>
          </a:bodyPr>
          <a:lstStyle/>
          <a:p>
            <a:r>
              <a:rPr lang="en-IN" altLang="en-US" sz="1000"/>
              <a:t>2. view Trained Accuracy in Bar Chart</a:t>
            </a:r>
            <a:endParaRPr lang="en-IN" altLang="en-US" sz="1000"/>
          </a:p>
        </p:txBody>
      </p:sp>
      <p:sp>
        <p:nvSpPr>
          <p:cNvPr id="82" name="Text Box 81"/>
          <p:cNvSpPr txBox="1"/>
          <p:nvPr/>
        </p:nvSpPr>
        <p:spPr>
          <a:xfrm>
            <a:off x="1631950" y="2555240"/>
            <a:ext cx="3164205" cy="245110"/>
          </a:xfrm>
          <a:prstGeom prst="rect">
            <a:avLst/>
          </a:prstGeom>
          <a:noFill/>
        </p:spPr>
        <p:txBody>
          <a:bodyPr wrap="square" rtlCol="0">
            <a:spAutoFit/>
          </a:bodyPr>
          <a:lstStyle/>
          <a:p>
            <a:r>
              <a:rPr lang="en-IN" altLang="en-US" sz="1000"/>
              <a:t>3. View Trained Accuracy results</a:t>
            </a:r>
            <a:endParaRPr lang="en-IN" altLang="en-US" sz="1000"/>
          </a:p>
        </p:txBody>
      </p:sp>
      <p:sp>
        <p:nvSpPr>
          <p:cNvPr id="83" name="Text Box 82"/>
          <p:cNvSpPr txBox="1"/>
          <p:nvPr/>
        </p:nvSpPr>
        <p:spPr>
          <a:xfrm>
            <a:off x="1631950" y="3018155"/>
            <a:ext cx="3366135" cy="245110"/>
          </a:xfrm>
          <a:prstGeom prst="rect">
            <a:avLst/>
          </a:prstGeom>
          <a:noFill/>
        </p:spPr>
        <p:txBody>
          <a:bodyPr wrap="square" rtlCol="0">
            <a:spAutoFit/>
          </a:bodyPr>
          <a:lstStyle/>
          <a:p>
            <a:r>
              <a:rPr lang="en-IN" altLang="en-US" sz="1000"/>
              <a:t>4. View cervical cancer Type</a:t>
            </a:r>
            <a:endParaRPr lang="en-IN" altLang="en-US" sz="1000"/>
          </a:p>
        </p:txBody>
      </p:sp>
      <p:sp>
        <p:nvSpPr>
          <p:cNvPr id="84" name="Text Box 83"/>
          <p:cNvSpPr txBox="1"/>
          <p:nvPr/>
        </p:nvSpPr>
        <p:spPr>
          <a:xfrm>
            <a:off x="1579880" y="3582035"/>
            <a:ext cx="3501390" cy="245110"/>
          </a:xfrm>
          <a:prstGeom prst="rect">
            <a:avLst/>
          </a:prstGeom>
          <a:noFill/>
        </p:spPr>
        <p:txBody>
          <a:bodyPr wrap="square" rtlCol="0">
            <a:spAutoFit/>
          </a:bodyPr>
          <a:lstStyle/>
          <a:p>
            <a:r>
              <a:rPr lang="en-IN" altLang="en-US" sz="1000">
                <a:sym typeface="+mn-ea"/>
              </a:rPr>
              <a:t> 5. Find cervical cancer Type ratio</a:t>
            </a:r>
            <a:endParaRPr lang="en-IN" altLang="en-US" sz="1000"/>
          </a:p>
        </p:txBody>
      </p:sp>
      <p:sp>
        <p:nvSpPr>
          <p:cNvPr id="85" name="Text Box 84"/>
          <p:cNvSpPr txBox="1"/>
          <p:nvPr/>
        </p:nvSpPr>
        <p:spPr>
          <a:xfrm>
            <a:off x="1631950" y="4037965"/>
            <a:ext cx="3665220" cy="245110"/>
          </a:xfrm>
          <a:prstGeom prst="rect">
            <a:avLst/>
          </a:prstGeom>
          <a:noFill/>
        </p:spPr>
        <p:txBody>
          <a:bodyPr wrap="square" rtlCol="0">
            <a:spAutoFit/>
          </a:bodyPr>
          <a:lstStyle/>
          <a:p>
            <a:r>
              <a:rPr lang="en-IN" altLang="en-US" sz="1000"/>
              <a:t>6. Download Predicted data sets</a:t>
            </a:r>
            <a:endParaRPr lang="en-IN" altLang="en-US" sz="1000"/>
          </a:p>
        </p:txBody>
      </p:sp>
      <p:sp>
        <p:nvSpPr>
          <p:cNvPr id="86" name="Text Box 85"/>
          <p:cNvSpPr txBox="1"/>
          <p:nvPr/>
        </p:nvSpPr>
        <p:spPr>
          <a:xfrm>
            <a:off x="1631950" y="4558665"/>
            <a:ext cx="3472815" cy="245110"/>
          </a:xfrm>
          <a:prstGeom prst="rect">
            <a:avLst/>
          </a:prstGeom>
          <a:noFill/>
        </p:spPr>
        <p:txBody>
          <a:bodyPr wrap="square" rtlCol="0">
            <a:spAutoFit/>
          </a:bodyPr>
          <a:lstStyle/>
          <a:p>
            <a:r>
              <a:rPr lang="en-IN" altLang="en-US" sz="1000"/>
              <a:t>7. View cervical cancer Type ratio results </a:t>
            </a:r>
            <a:endParaRPr lang="en-IN" altLang="en-US" sz="1000"/>
          </a:p>
        </p:txBody>
      </p:sp>
      <p:sp>
        <p:nvSpPr>
          <p:cNvPr id="87" name="Text Box 86"/>
          <p:cNvSpPr txBox="1"/>
          <p:nvPr/>
        </p:nvSpPr>
        <p:spPr>
          <a:xfrm>
            <a:off x="1631950" y="5041265"/>
            <a:ext cx="3366135" cy="245110"/>
          </a:xfrm>
          <a:prstGeom prst="rect">
            <a:avLst/>
          </a:prstGeom>
          <a:noFill/>
        </p:spPr>
        <p:txBody>
          <a:bodyPr wrap="square" rtlCol="0">
            <a:spAutoFit/>
          </a:bodyPr>
          <a:lstStyle/>
          <a:p>
            <a:r>
              <a:rPr lang="en-IN" altLang="en-US" sz="1000"/>
              <a:t>8. View all Users</a:t>
            </a:r>
            <a:endParaRPr lang="en-IN" altLang="en-US" sz="1000"/>
          </a:p>
        </p:txBody>
      </p:sp>
      <p:sp>
        <p:nvSpPr>
          <p:cNvPr id="88" name="Text Box 87"/>
          <p:cNvSpPr txBox="1"/>
          <p:nvPr/>
        </p:nvSpPr>
        <p:spPr>
          <a:xfrm>
            <a:off x="5653405" y="5669915"/>
            <a:ext cx="2990215" cy="245110"/>
          </a:xfrm>
          <a:prstGeom prst="rect">
            <a:avLst/>
          </a:prstGeom>
          <a:noFill/>
        </p:spPr>
        <p:txBody>
          <a:bodyPr wrap="square" rtlCol="0">
            <a:spAutoFit/>
          </a:bodyPr>
          <a:lstStyle/>
          <a:p>
            <a:r>
              <a:rPr lang="en-IN" altLang="en-US" sz="1000"/>
              <a:t>9. Predict cervical cancer detection Tpye</a:t>
            </a:r>
            <a:endParaRPr lang="en-IN" altLang="en-US" sz="1000"/>
          </a:p>
        </p:txBody>
      </p:sp>
      <p:sp>
        <p:nvSpPr>
          <p:cNvPr id="89" name="Text Box 88"/>
          <p:cNvSpPr txBox="1"/>
          <p:nvPr/>
        </p:nvSpPr>
        <p:spPr>
          <a:xfrm>
            <a:off x="5653405" y="6204585"/>
            <a:ext cx="2845435" cy="245110"/>
          </a:xfrm>
          <a:prstGeom prst="rect">
            <a:avLst/>
          </a:prstGeom>
          <a:noFill/>
        </p:spPr>
        <p:txBody>
          <a:bodyPr wrap="square" rtlCol="0">
            <a:spAutoFit/>
          </a:bodyPr>
          <a:lstStyle/>
          <a:p>
            <a:r>
              <a:rPr lang="en-IN" altLang="en-US" sz="1000"/>
              <a:t>10. View your Profile</a:t>
            </a:r>
            <a:endParaRPr lang="en-IN" altLang="en-US" sz="1000"/>
          </a:p>
        </p:txBody>
      </p:sp>
      <p:sp>
        <p:nvSpPr>
          <p:cNvPr id="90" name="Text Box 89"/>
          <p:cNvSpPr txBox="1"/>
          <p:nvPr/>
        </p:nvSpPr>
        <p:spPr>
          <a:xfrm>
            <a:off x="10006965" y="1346835"/>
            <a:ext cx="1157605" cy="245110"/>
          </a:xfrm>
          <a:prstGeom prst="rect">
            <a:avLst/>
          </a:prstGeom>
          <a:noFill/>
        </p:spPr>
        <p:txBody>
          <a:bodyPr wrap="square" rtlCol="0">
            <a:spAutoFit/>
          </a:bodyPr>
          <a:lstStyle/>
          <a:p>
            <a:r>
              <a:rPr lang="en-IN" altLang="en-US" sz="1000"/>
              <a:t>Register &amp; Login</a:t>
            </a:r>
            <a:endParaRPr lang="en-IN" altLang="en-US"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794772" y="1847400"/>
          <a:ext cx="3372677" cy="3048000"/>
        </p:xfrm>
        <a:graphic>
          <a:graphicData uri="http://schemas.openxmlformats.org/drawingml/2006/table">
            <a:tbl>
              <a:tblPr firstRow="1" bandRow="1">
                <a:tableStyleId>{7DF18680-E054-41AD-8BC1-D1AEF772440D}</a:tableStyleId>
              </a:tblPr>
              <a:tblGrid>
                <a:gridCol w="3372677"/>
              </a:tblGrid>
              <a:tr h="271374">
                <a:tc>
                  <a:txBody>
                    <a:bodyPr/>
                    <a:lstStyle/>
                    <a:p>
                      <a:r>
                        <a:rPr lang="en-IN" sz="1200" dirty="0">
                          <a:solidFill>
                            <a:schemeClr val="tx1"/>
                          </a:solidFill>
                        </a:rPr>
                        <a:t>Service Provider</a:t>
                      </a:r>
                      <a:endParaRPr lang="en-US" sz="1200" dirty="0">
                        <a:solidFill>
                          <a:schemeClr val="tx1"/>
                        </a:solidFill>
                      </a:endParaRPr>
                    </a:p>
                  </a:txBody>
                  <a:tcPr/>
                </a:tc>
              </a:tr>
              <a:tr h="565612">
                <a:tc>
                  <a:txBody>
                    <a:bodyPr/>
                    <a:lstStyle/>
                    <a:p>
                      <a:r>
                        <a:rPr lang="en-IN" sz="1200" dirty="0"/>
                        <a:t>+</a:t>
                      </a:r>
                      <a:r>
                        <a:rPr lang="en-IN" sz="2000" dirty="0"/>
                        <a:t> </a:t>
                      </a:r>
                      <a:r>
                        <a:rPr lang="en-IN" sz="1200" dirty="0"/>
                        <a:t>User Name</a:t>
                      </a:r>
                      <a:endParaRPr lang="en-IN" sz="1200" dirty="0"/>
                    </a:p>
                    <a:p>
                      <a:r>
                        <a:rPr lang="en-IN" sz="1200" dirty="0"/>
                        <a:t>+ Password</a:t>
                      </a:r>
                      <a:endParaRPr lang="en-US" sz="1200" dirty="0"/>
                    </a:p>
                  </a:txBody>
                  <a:tcPr/>
                </a:tc>
              </a:tr>
              <a:tr h="1828988">
                <a:tc>
                  <a:txBody>
                    <a:bodyPr/>
                    <a:lstStyle/>
                    <a:p>
                      <a:r>
                        <a:rPr lang="en-IN" sz="1200" dirty="0"/>
                        <a:t>+ Login()</a:t>
                      </a:r>
                      <a:endParaRPr lang="en-IN" sz="1200" dirty="0"/>
                    </a:p>
                    <a:p>
                      <a:r>
                        <a:rPr lang="en-IN" sz="1200" dirty="0"/>
                        <a:t>+ Train and Test datasets()</a:t>
                      </a:r>
                      <a:endParaRPr lang="en-IN" sz="1200" dirty="0"/>
                    </a:p>
                    <a:p>
                      <a:r>
                        <a:rPr lang="en-IN" sz="1200" dirty="0"/>
                        <a:t>+ View Trained Accuracy in Bar chart()</a:t>
                      </a:r>
                      <a:endParaRPr lang="en-IN" sz="1200" dirty="0"/>
                    </a:p>
                    <a:p>
                      <a:r>
                        <a:rPr lang="en-IN" sz="1200" dirty="0"/>
                        <a:t>+ View Trained Accuracy Results()</a:t>
                      </a:r>
                      <a:endParaRPr lang="en-IN" sz="1200" dirty="0"/>
                    </a:p>
                    <a:p>
                      <a:r>
                        <a:rPr lang="en-IN" sz="1200" dirty="0"/>
                        <a:t>+ View cervical cancer detection Type()</a:t>
                      </a:r>
                      <a:endParaRPr lang="en-IN" sz="1200" dirty="0"/>
                    </a:p>
                    <a:p>
                      <a:r>
                        <a:rPr lang="en-IN" sz="1200" dirty="0"/>
                        <a:t>+ View cervical cancer detection Type ratio()</a:t>
                      </a:r>
                      <a:endParaRPr lang="en-IN" sz="1200" dirty="0"/>
                    </a:p>
                    <a:p>
                      <a:r>
                        <a:rPr lang="en-IN" sz="1200" dirty="0"/>
                        <a:t>+ Download predicted data sets()</a:t>
                      </a:r>
                      <a:endParaRPr lang="en-IN" sz="1200" dirty="0"/>
                    </a:p>
                    <a:p>
                      <a:r>
                        <a:rPr lang="en-IN" sz="1200" dirty="0"/>
                        <a:t>+ View cervical cancer type ratio results()</a:t>
                      </a:r>
                      <a:endParaRPr lang="en-IN" sz="1200" dirty="0"/>
                    </a:p>
                    <a:p>
                      <a:r>
                        <a:rPr lang="en-IN" sz="1200" dirty="0"/>
                        <a:t>+ View all users()</a:t>
                      </a:r>
                      <a:endParaRPr lang="en-IN" sz="1200" dirty="0"/>
                    </a:p>
                    <a:p>
                      <a:r>
                        <a:rPr lang="en-IN" sz="1200" dirty="0"/>
                        <a:t>+ Log out()</a:t>
                      </a:r>
                      <a:endParaRPr lang="en-IN" sz="1200" dirty="0"/>
                    </a:p>
                    <a:p>
                      <a:endParaRPr lang="en-US" dirty="0"/>
                    </a:p>
                  </a:txBody>
                  <a:tcPr/>
                </a:tc>
              </a:tr>
            </a:tbl>
          </a:graphicData>
        </a:graphic>
      </p:graphicFrame>
      <p:graphicFrame>
        <p:nvGraphicFramePr>
          <p:cNvPr id="5" name="Table 4"/>
          <p:cNvGraphicFramePr>
            <a:graphicFrameLocks noGrp="1"/>
          </p:cNvGraphicFramePr>
          <p:nvPr/>
        </p:nvGraphicFramePr>
        <p:xfrm>
          <a:off x="7588963" y="2352244"/>
          <a:ext cx="2383300" cy="2200584"/>
        </p:xfrm>
        <a:graphic>
          <a:graphicData uri="http://schemas.openxmlformats.org/drawingml/2006/table">
            <a:tbl>
              <a:tblPr firstRow="1" bandRow="1">
                <a:tableStyleId>{7DF18680-E054-41AD-8BC1-D1AEF772440D}</a:tableStyleId>
              </a:tblPr>
              <a:tblGrid>
                <a:gridCol w="2383300"/>
              </a:tblGrid>
              <a:tr h="280344">
                <a:tc>
                  <a:txBody>
                    <a:bodyPr/>
                    <a:lstStyle/>
                    <a:p>
                      <a:r>
                        <a:rPr lang="en-IN" sz="1200" dirty="0">
                          <a:solidFill>
                            <a:schemeClr val="tx1"/>
                          </a:solidFill>
                        </a:rPr>
                        <a:t>Remote User</a:t>
                      </a:r>
                      <a:endParaRPr lang="en-US" sz="1200" dirty="0">
                        <a:solidFill>
                          <a:schemeClr val="tx1"/>
                        </a:solidFill>
                      </a:endParaRPr>
                    </a:p>
                  </a:txBody>
                  <a:tcPr/>
                </a:tc>
              </a:tr>
              <a:tr h="741046">
                <a:tc>
                  <a:txBody>
                    <a:bodyPr/>
                    <a:lstStyle/>
                    <a:p>
                      <a:r>
                        <a:rPr lang="en-IN" sz="1200" dirty="0"/>
                        <a:t>+ User Name</a:t>
                      </a:r>
                      <a:endParaRPr lang="en-IN" sz="1200" dirty="0"/>
                    </a:p>
                    <a:p>
                      <a:r>
                        <a:rPr lang="en-IN" sz="1200" dirty="0"/>
                        <a:t>+ Phone Number</a:t>
                      </a:r>
                      <a:endParaRPr lang="en-IN" sz="1200" dirty="0"/>
                    </a:p>
                    <a:p>
                      <a:r>
                        <a:rPr lang="en-IN" sz="1200" dirty="0"/>
                        <a:t>+ Email</a:t>
                      </a:r>
                      <a:endParaRPr lang="en-IN" sz="1200" dirty="0"/>
                    </a:p>
                    <a:p>
                      <a:r>
                        <a:rPr lang="en-IN" sz="1200" dirty="0"/>
                        <a:t>+ Password</a:t>
                      </a:r>
                      <a:endParaRPr lang="en-US" sz="1200" dirty="0"/>
                    </a:p>
                  </a:txBody>
                  <a:tcPr/>
                </a:tc>
              </a:tr>
              <a:tr h="988062">
                <a:tc>
                  <a:txBody>
                    <a:bodyPr/>
                    <a:lstStyle/>
                    <a:p>
                      <a:r>
                        <a:rPr lang="en-IN" sz="1200" dirty="0"/>
                        <a:t>+ Register &amp; Login()</a:t>
                      </a:r>
                      <a:endParaRPr lang="en-IN" sz="1200" dirty="0"/>
                    </a:p>
                    <a:p>
                      <a:r>
                        <a:rPr lang="en-IN" sz="1200" dirty="0"/>
                        <a:t>+ Predict cervical cancer type()</a:t>
                      </a:r>
                      <a:endParaRPr lang="en-IN" sz="1200" dirty="0"/>
                    </a:p>
                    <a:p>
                      <a:r>
                        <a:rPr lang="en-IN" sz="1200" dirty="0"/>
                        <a:t>+ View your profile()</a:t>
                      </a:r>
                      <a:endParaRPr lang="en-IN" sz="1200" dirty="0"/>
                    </a:p>
                    <a:p>
                      <a:r>
                        <a:rPr lang="en-IN" sz="1200" dirty="0"/>
                        <a:t>+ Log out()</a:t>
                      </a:r>
                      <a:endParaRPr lang="en-IN" sz="1200" dirty="0"/>
                    </a:p>
                    <a:p>
                      <a:endParaRPr lang="en-US" dirty="0"/>
                    </a:p>
                  </a:txBody>
                  <a:tcPr/>
                </a:tc>
              </a:tr>
            </a:tbl>
          </a:graphicData>
        </a:graphic>
      </p:graphicFrame>
      <mc:AlternateContent xmlns:mc="http://schemas.openxmlformats.org/markup-compatibility/2006" xmlns:p14="http://schemas.microsoft.com/office/powerpoint/2010/main">
        <mc:Choice Requires="p14">
          <p:contentPart r:id="rId1" p14:bwMode="auto">
            <p14:nvContentPartPr>
              <p14:cNvPr id="12" name="Ink 11"/>
              <p14:cNvContentPartPr/>
              <p14:nvPr/>
            </p14:nvContentPartPr>
            <p14:xfrm>
              <a:off x="4099680" y="-1478520"/>
              <a:ext cx="360" cy="360"/>
            </p14:xfrm>
          </p:contentPart>
        </mc:Choice>
        <mc:Fallback xmlns="">
          <p:pic>
            <p:nvPicPr>
              <p:cNvPr id="12" name="Ink 11"/>
            </p:nvPicPr>
            <p:blipFill>
              <a:blip r:embed="rId2"/>
            </p:blipFill>
            <p:spPr>
              <a:xfrm>
                <a:off x="4099680" y="-1478520"/>
                <a:ext cx="360" cy="3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7" name="Ink 16"/>
              <p14:cNvContentPartPr/>
              <p14:nvPr/>
            </p14:nvContentPartPr>
            <p14:xfrm>
              <a:off x="8092800" y="2697480"/>
              <a:ext cx="360" cy="360"/>
            </p14:xfrm>
          </p:contentPart>
        </mc:Choice>
        <mc:Fallback xmlns="">
          <p:pic>
            <p:nvPicPr>
              <p:cNvPr id="17" name="Ink 16"/>
            </p:nvPicPr>
            <p:blipFill>
              <a:blip r:embed="rId4"/>
            </p:blipFill>
            <p:spPr>
              <a:xfrm>
                <a:off x="8092800" y="2697480"/>
                <a:ext cx="360" cy="360"/>
              </a:xfrm>
              <a:prstGeom prst="rect"/>
            </p:spPr>
          </p:pic>
        </mc:Fallback>
      </mc:AlternateContent>
      <p:sp>
        <p:nvSpPr>
          <p:cNvPr id="19" name="TextBox 18"/>
          <p:cNvSpPr txBox="1"/>
          <p:nvPr/>
        </p:nvSpPr>
        <p:spPr>
          <a:xfrm>
            <a:off x="4450386" y="288723"/>
            <a:ext cx="5513760" cy="523220"/>
          </a:xfrm>
          <a:prstGeom prst="rect">
            <a:avLst/>
          </a:prstGeom>
          <a:noFill/>
        </p:spPr>
        <p:txBody>
          <a:bodyPr wrap="square" rtlCol="0">
            <a:spAutoFit/>
          </a:bodyPr>
          <a:lstStyle/>
          <a:p>
            <a:r>
              <a:rPr lang="en-IN" sz="2800" dirty="0"/>
              <a:t>CLASS DIAGRAM</a:t>
            </a:r>
            <a:endParaRPr lang="en-US" sz="2800" dirty="0"/>
          </a:p>
        </p:txBody>
      </p:sp>
      <mc:AlternateContent xmlns:mc="http://schemas.openxmlformats.org/markup-compatibility/2006" xmlns:p14="http://schemas.microsoft.com/office/powerpoint/2010/main">
        <mc:Choice Requires="p14">
          <p:contentPart r:id="rId5" p14:bwMode="auto">
            <p14:nvContentPartPr>
              <p14:cNvPr id="30" name="Ink 29"/>
              <p14:cNvContentPartPr/>
              <p14:nvPr/>
            </p14:nvContentPartPr>
            <p14:xfrm>
              <a:off x="7487277" y="3386160"/>
              <a:ext cx="94320" cy="72720"/>
            </p14:xfrm>
          </p:contentPart>
        </mc:Choice>
        <mc:Fallback xmlns="">
          <p:pic>
            <p:nvPicPr>
              <p:cNvPr id="30" name="Ink 29"/>
            </p:nvPicPr>
            <p:blipFill>
              <a:blip r:embed="rId6"/>
            </p:blipFill>
            <p:spPr>
              <a:xfrm>
                <a:off x="7487277" y="3386160"/>
                <a:ext cx="94320" cy="7272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31" name="Ink 30"/>
              <p14:cNvContentPartPr/>
              <p14:nvPr/>
            </p14:nvContentPartPr>
            <p14:xfrm>
              <a:off x="7491403" y="3458880"/>
              <a:ext cx="97560" cy="44280"/>
            </p14:xfrm>
          </p:contentPart>
        </mc:Choice>
        <mc:Fallback xmlns="">
          <p:pic>
            <p:nvPicPr>
              <p:cNvPr id="31" name="Ink 30"/>
            </p:nvPicPr>
            <p:blipFill>
              <a:blip r:embed="rId8"/>
            </p:blipFill>
            <p:spPr>
              <a:xfrm>
                <a:off x="7491403" y="3458880"/>
                <a:ext cx="97560" cy="44280"/>
              </a:xfrm>
              <a:prstGeom prst="rect"/>
            </p:spPr>
          </p:pic>
        </mc:Fallback>
      </mc:AlternateContent>
      <p:cxnSp>
        <p:nvCxnSpPr>
          <p:cNvPr id="33" name="Straight Connector 32"/>
          <p:cNvCxnSpPr/>
          <p:nvPr/>
        </p:nvCxnSpPr>
        <p:spPr>
          <a:xfrm flipV="1">
            <a:off x="5167449" y="3452536"/>
            <a:ext cx="2383660" cy="21348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86408" y="1352940"/>
            <a:ext cx="1069909" cy="73711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t>Service Provider</a:t>
            </a:r>
            <a:endParaRPr lang="en-US" dirty="0"/>
          </a:p>
        </p:txBody>
      </p:sp>
      <p:sp>
        <p:nvSpPr>
          <p:cNvPr id="4" name="Rectangle 3"/>
          <p:cNvSpPr/>
          <p:nvPr/>
        </p:nvSpPr>
        <p:spPr>
          <a:xfrm>
            <a:off x="5710334" y="3784951"/>
            <a:ext cx="1129004" cy="73711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t>Server</a:t>
            </a:r>
            <a:endParaRPr lang="en-US" dirty="0"/>
          </a:p>
        </p:txBody>
      </p:sp>
      <p:sp>
        <p:nvSpPr>
          <p:cNvPr id="5" name="Rectangle 4"/>
          <p:cNvSpPr/>
          <p:nvPr/>
        </p:nvSpPr>
        <p:spPr>
          <a:xfrm>
            <a:off x="9993086" y="1129004"/>
            <a:ext cx="1129004" cy="73711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t>Remote User</a:t>
            </a:r>
            <a:endParaRPr lang="en-US" dirty="0"/>
          </a:p>
        </p:txBody>
      </p:sp>
      <p:cxnSp>
        <p:nvCxnSpPr>
          <p:cNvPr id="7" name="Straight Connector 6"/>
          <p:cNvCxnSpPr>
            <a:stCxn id="3" idx="3"/>
            <a:endCxn id="4" idx="1"/>
          </p:cNvCxnSpPr>
          <p:nvPr/>
        </p:nvCxnSpPr>
        <p:spPr>
          <a:xfrm>
            <a:off x="1956317" y="1721499"/>
            <a:ext cx="3754017" cy="2432011"/>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a:stCxn id="4" idx="3"/>
            <a:endCxn id="5" idx="1"/>
          </p:cNvCxnSpPr>
          <p:nvPr/>
        </p:nvCxnSpPr>
        <p:spPr>
          <a:xfrm flipV="1">
            <a:off x="6839338" y="1497563"/>
            <a:ext cx="3153748" cy="2655947"/>
          </a:xfrm>
          <a:prstGeom prst="line">
            <a:avLst/>
          </a:prstGeom>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200785" y="2514599"/>
            <a:ext cx="2961005" cy="3356811"/>
          </a:xfrm>
          <a:prstGeom prst="rect">
            <a:avLst/>
          </a:prstGeom>
          <a:noFill/>
        </p:spPr>
        <p:txBody>
          <a:bodyPr wrap="square" rtlCol="0">
            <a:noAutofit/>
          </a:bodyPr>
          <a:lstStyle/>
          <a:p>
            <a:pPr lvl="0">
              <a:spcAft>
                <a:spcPts val="1000"/>
              </a:spcAft>
              <a:tabLst>
                <a:tab pos="457200" algn="l"/>
              </a:tabLst>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1. Login</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lvl="0">
              <a:spcAft>
                <a:spcPts val="1000"/>
              </a:spcAft>
              <a:tabLst>
                <a:tab pos="457200" algn="l"/>
              </a:tabLst>
            </a:pPr>
            <a:r>
              <a:rPr lang="en-IN" sz="1200" dirty="0">
                <a:latin typeface="Times New Roman" panose="02020603050405020304" pitchFamily="18" charset="0"/>
                <a:ea typeface="Times New Roman" panose="02020603050405020304" pitchFamily="18" charset="0"/>
                <a:cs typeface="Times New Roman" panose="02020603050405020304" pitchFamily="18" charset="0"/>
              </a:rPr>
              <a:t>2</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Train and Test </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Data </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sets</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lvl="0">
              <a:spcAft>
                <a:spcPts val="1000"/>
              </a:spcAft>
              <a:tabLst>
                <a:tab pos="457200" algn="l"/>
              </a:tabLst>
            </a:pPr>
            <a:r>
              <a:rPr lang="en-IN" sz="1200" dirty="0">
                <a:latin typeface="Times New Roman" panose="02020603050405020304" pitchFamily="18" charset="0"/>
                <a:ea typeface="Times New Roman" panose="02020603050405020304" pitchFamily="18" charset="0"/>
                <a:cs typeface="Times New Roman" panose="02020603050405020304" pitchFamily="18" charset="0"/>
              </a:rPr>
              <a:t>3</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View  Data set Trained and Tested   Accuracy in Bar chart</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lvl="0">
              <a:spcAft>
                <a:spcPts val="1000"/>
              </a:spcAft>
              <a:tabLst>
                <a:tab pos="457200" algn="l"/>
              </a:tabLst>
            </a:pPr>
            <a:r>
              <a:rPr lang="en-IN" sz="1200" dirty="0">
                <a:latin typeface="Times New Roman" panose="02020603050405020304" pitchFamily="18" charset="0"/>
                <a:ea typeface="Times New Roman" panose="02020603050405020304" pitchFamily="18" charset="0"/>
                <a:cs typeface="Times New Roman" panose="02020603050405020304" pitchFamily="18" charset="0"/>
              </a:rPr>
              <a:t>4</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.View Trained and Tested Accuracy Results</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lvl="0">
              <a:spcAft>
                <a:spcPts val="1000"/>
              </a:spcAft>
              <a:tabLst>
                <a:tab pos="457200" algn="l"/>
              </a:tabLst>
            </a:pPr>
            <a:r>
              <a:rPr lang="en-IN" sz="1200" dirty="0">
                <a:latin typeface="Times New Roman" panose="02020603050405020304" pitchFamily="18" charset="0"/>
                <a:ea typeface="Times New Roman" panose="02020603050405020304" pitchFamily="18" charset="0"/>
                <a:cs typeface="Times New Roman" panose="02020603050405020304" pitchFamily="18" charset="0"/>
              </a:rPr>
              <a:t>5</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.View Cervical Cancer </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type</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lvl="0">
              <a:spcAft>
                <a:spcPts val="1000"/>
              </a:spcAft>
              <a:tabLst>
                <a:tab pos="457200" algn="l"/>
              </a:tabLst>
            </a:pPr>
            <a:r>
              <a:rPr lang="en-IN" sz="1200" dirty="0">
                <a:latin typeface="Times New Roman" panose="02020603050405020304" pitchFamily="18" charset="0"/>
                <a:ea typeface="Times New Roman" panose="02020603050405020304" pitchFamily="18" charset="0"/>
                <a:cs typeface="Times New Roman" panose="02020603050405020304" pitchFamily="18" charset="0"/>
              </a:rPr>
              <a:t>6</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.Download Prediction data set</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lvl="0">
              <a:spcAft>
                <a:spcPts val="1000"/>
              </a:spcAft>
              <a:tabLst>
                <a:tab pos="457200" algn="l"/>
              </a:tabLst>
            </a:pPr>
            <a:r>
              <a:rPr lang="en-IN" sz="1200" dirty="0">
                <a:latin typeface="Times New Roman" panose="02020603050405020304" pitchFamily="18" charset="0"/>
                <a:ea typeface="Times New Roman" panose="02020603050405020304" pitchFamily="18" charset="0"/>
                <a:cs typeface="Times New Roman" panose="02020603050405020304" pitchFamily="18" charset="0"/>
              </a:rPr>
              <a:t>7</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.View Cervical Cancer </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Type ratio </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lvl="0">
              <a:spcAft>
                <a:spcPts val="1000"/>
              </a:spcAft>
              <a:tabLst>
                <a:tab pos="457200" algn="l"/>
              </a:tabLst>
            </a:pPr>
            <a:r>
              <a:rPr lang="en-IN" sz="1200" dirty="0">
                <a:latin typeface="Times New Roman" panose="02020603050405020304" pitchFamily="18" charset="0"/>
                <a:ea typeface="Times New Roman" panose="02020603050405020304" pitchFamily="18" charset="0"/>
                <a:cs typeface="Times New Roman" panose="02020603050405020304" pitchFamily="18" charset="0"/>
              </a:rPr>
              <a:t>8</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.View </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Cervical Cancer </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Type ratio results</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lvl="0">
              <a:spcAft>
                <a:spcPts val="1000"/>
              </a:spcAft>
              <a:tabLst>
                <a:tab pos="457200" algn="l"/>
              </a:tabLst>
            </a:pPr>
            <a:r>
              <a:rPr lang="en-IN" sz="1200" dirty="0">
                <a:latin typeface="Times New Roman" panose="02020603050405020304" pitchFamily="18" charset="0"/>
                <a:ea typeface="Times New Roman" panose="02020603050405020304" pitchFamily="18" charset="0"/>
                <a:cs typeface="Times New Roman" panose="02020603050405020304" pitchFamily="18" charset="0"/>
              </a:rPr>
              <a:t>9</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.View All Remote Users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spcAft>
                <a:spcPts val="1000"/>
              </a:spcAft>
              <a:tabLst>
                <a:tab pos="457200" algn="l"/>
              </a:tabLst>
            </a:pPr>
            <a:r>
              <a:rPr lang="en-IN" sz="1200" dirty="0">
                <a:latin typeface="Times New Roman" panose="02020603050405020304" pitchFamily="18" charset="0"/>
                <a:ea typeface="Times New Roman" panose="02020603050405020304" pitchFamily="18" charset="0"/>
                <a:cs typeface="Times New Roman" panose="02020603050405020304" pitchFamily="18" charset="0"/>
              </a:rPr>
              <a:t>10. Log Out</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spcAft>
                <a:spcPts val="1000"/>
              </a:spcAft>
              <a:tabLst>
                <a:tab pos="457200" algn="l"/>
              </a:tabLst>
            </a:pP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lvl="0">
              <a:spcAft>
                <a:spcPts val="1000"/>
              </a:spcAft>
              <a:tabLst>
                <a:tab pos="457200" algn="l"/>
              </a:tabLst>
            </a:pP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7" name="TextBox 16"/>
          <p:cNvSpPr txBox="1"/>
          <p:nvPr/>
        </p:nvSpPr>
        <p:spPr>
          <a:xfrm>
            <a:off x="8915659" y="2790223"/>
            <a:ext cx="2806700" cy="1989455"/>
          </a:xfrm>
          <a:prstGeom prst="rect">
            <a:avLst/>
          </a:prstGeom>
          <a:noFill/>
        </p:spPr>
        <p:txBody>
          <a:bodyPr wrap="square" rtlCol="0">
            <a:spAutoFit/>
          </a:bodyPr>
          <a:lstStyle/>
          <a:p>
            <a:pPr>
              <a:lnSpc>
                <a:spcPct val="150000"/>
              </a:lnSpc>
              <a:spcAft>
                <a:spcPts val="1000"/>
              </a:spcAft>
              <a:tabLst>
                <a:tab pos="457200" algn="l"/>
              </a:tabLst>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1. Register &amp; Login</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lvl="0">
              <a:lnSpc>
                <a:spcPct val="150000"/>
              </a:lnSpc>
              <a:spcAft>
                <a:spcPts val="1000"/>
              </a:spcAft>
              <a:tabLst>
                <a:tab pos="457200" algn="l"/>
              </a:tabLst>
            </a:pPr>
            <a:r>
              <a:rPr lang="en-IN" sz="1200" dirty="0">
                <a:latin typeface="Times New Roman" panose="02020603050405020304" pitchFamily="18" charset="0"/>
                <a:ea typeface="Times New Roman" panose="02020603050405020304" pitchFamily="18" charset="0"/>
                <a:cs typeface="Times New Roman" panose="02020603050405020304" pitchFamily="18" charset="0"/>
              </a:rPr>
              <a:t>2</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Predict </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Cervical Cancer Type </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pPr lvl="0">
              <a:lnSpc>
                <a:spcPct val="150000"/>
              </a:lnSpc>
              <a:spcAft>
                <a:spcPts val="1000"/>
              </a:spcAft>
              <a:tabLst>
                <a:tab pos="457200" algn="l"/>
              </a:tabLst>
            </a:pPr>
            <a:r>
              <a:rPr lang="en-IN" sz="1200" dirty="0">
                <a:latin typeface="Times New Roman" panose="02020603050405020304" pitchFamily="18" charset="0"/>
                <a:ea typeface="Times New Roman" panose="02020603050405020304" pitchFamily="18" charset="0"/>
                <a:cs typeface="Times New Roman" panose="02020603050405020304" pitchFamily="18" charset="0"/>
              </a:rPr>
              <a:t>3</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.View profile </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lnSpc>
                <a:spcPct val="150000"/>
              </a:lnSpc>
              <a:spcAft>
                <a:spcPts val="1000"/>
              </a:spcAft>
              <a:tabLst>
                <a:tab pos="457200" algn="l"/>
              </a:tabLst>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4. Log Out </a:t>
            </a:r>
            <a:endParaRPr lang="en-IN" sz="12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
        <p:nvSpPr>
          <p:cNvPr id="2" name="TextBox 1"/>
          <p:cNvSpPr txBox="1"/>
          <p:nvPr/>
        </p:nvSpPr>
        <p:spPr>
          <a:xfrm>
            <a:off x="3685592" y="204227"/>
            <a:ext cx="4730620" cy="523220"/>
          </a:xfrm>
          <a:prstGeom prst="rect">
            <a:avLst/>
          </a:prstGeom>
          <a:noFill/>
        </p:spPr>
        <p:txBody>
          <a:bodyPr wrap="square" rtlCol="0">
            <a:spAutoFit/>
          </a:bodyPr>
          <a:lstStyle/>
          <a:p>
            <a:pPr marL="0" algn="ctr" rtl="0" eaLnBrk="1" latinLnBrk="0" hangingPunct="1">
              <a:spcBef>
                <a:spcPts val="0"/>
              </a:spcBef>
              <a:spcAft>
                <a:spcPts val="0"/>
              </a:spcAft>
            </a:pPr>
            <a:r>
              <a:rPr lang="en-IN" sz="2800" kern="1200" dirty="0">
                <a:solidFill>
                  <a:srgbClr val="000000"/>
                </a:solidFill>
                <a:effectLst/>
                <a:latin typeface="Trebuchet MS" panose="020B0603020202020204" charset="0"/>
                <a:ea typeface="+mn-ea"/>
                <a:cs typeface="+mn-cs"/>
              </a:rPr>
              <a:t>COLLABORATION DIAGRAM</a:t>
            </a:r>
            <a:endParaRPr lang="en-IN" sz="2800" dirty="0">
              <a:effectL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4532697" y="254000"/>
            <a:ext cx="7146925" cy="521970"/>
          </a:xfrm>
          <a:prstGeom prst="rect">
            <a:avLst/>
          </a:prstGeom>
          <a:noFill/>
        </p:spPr>
        <p:txBody>
          <a:bodyPr wrap="square" rtlCol="0">
            <a:spAutoFit/>
          </a:bodyPr>
          <a:lstStyle/>
          <a:p>
            <a:r>
              <a:rPr lang="en-IN" altLang="en-US" sz="2800" dirty="0"/>
              <a:t>ACTIVITY DIAGRAM</a:t>
            </a:r>
            <a:endParaRPr lang="en-IN" altLang="en-US" sz="2800" dirty="0"/>
          </a:p>
        </p:txBody>
      </p:sp>
      <p:sp>
        <p:nvSpPr>
          <p:cNvPr id="5" name="Text Box 4"/>
          <p:cNvSpPr txBox="1"/>
          <p:nvPr/>
        </p:nvSpPr>
        <p:spPr>
          <a:xfrm>
            <a:off x="4030980" y="809625"/>
            <a:ext cx="4774565" cy="398780"/>
          </a:xfrm>
          <a:prstGeom prst="rect">
            <a:avLst/>
          </a:prstGeom>
          <a:noFill/>
        </p:spPr>
        <p:txBody>
          <a:bodyPr wrap="square" rtlCol="0">
            <a:spAutoFit/>
          </a:bodyPr>
          <a:lstStyle/>
          <a:p>
            <a:r>
              <a:rPr lang="en-IN" altLang="en-US" sz="2000" dirty="0"/>
              <a:t>Activity Diagram for Remote User</a:t>
            </a:r>
            <a:endParaRPr lang="en-IN" altLang="en-US" sz="2000" dirty="0"/>
          </a:p>
        </p:txBody>
      </p:sp>
      <p:sp>
        <p:nvSpPr>
          <p:cNvPr id="6" name="Oval 5"/>
          <p:cNvSpPr/>
          <p:nvPr/>
        </p:nvSpPr>
        <p:spPr>
          <a:xfrm>
            <a:off x="5476875" y="1417320"/>
            <a:ext cx="318770" cy="318135"/>
          </a:xfrm>
          <a:prstGeom prst="ellipse">
            <a:avLst/>
          </a:prstGeom>
        </p:spPr>
        <p:style>
          <a:lnRef idx="0">
            <a:srgbClr val="FFFFFF"/>
          </a:lnRef>
          <a:fillRef idx="1">
            <a:prstClr val="black"/>
          </a:fillRef>
          <a:effectRef idx="0">
            <a:srgbClr val="FFFFFF"/>
          </a:effectRef>
          <a:fontRef idx="minor">
            <a:schemeClr val="lt1"/>
          </a:fontRef>
        </p:style>
        <p:txBody>
          <a:bodyPr rtlCol="0" anchor="ctr"/>
          <a:lstStyle/>
          <a:p>
            <a:pPr algn="ctr"/>
            <a:endParaRPr lang="en-US"/>
          </a:p>
        </p:txBody>
      </p:sp>
      <p:sp>
        <p:nvSpPr>
          <p:cNvPr id="7" name="Rounded Rectangle 6"/>
          <p:cNvSpPr/>
          <p:nvPr/>
        </p:nvSpPr>
        <p:spPr>
          <a:xfrm>
            <a:off x="4552950" y="1974850"/>
            <a:ext cx="2295525" cy="414655"/>
          </a:xfrm>
          <a:prstGeom prst="roundRect">
            <a:avLst/>
          </a:prstGeom>
        </p:spPr>
        <p:style>
          <a:lnRef idx="3">
            <a:schemeClr val="accent1"/>
          </a:lnRef>
          <a:fillRef idx="0">
            <a:srgbClr val="FFFFFF"/>
          </a:fillRef>
          <a:effectRef idx="0">
            <a:srgbClr val="FFFFFF"/>
          </a:effectRef>
          <a:fontRef idx="minor">
            <a:schemeClr val="tx1"/>
          </a:fontRef>
        </p:style>
        <p:txBody>
          <a:bodyPr rtlCol="0" anchor="ctr"/>
          <a:lstStyle/>
          <a:p>
            <a:pPr algn="ctr"/>
            <a:r>
              <a:rPr lang="en-IN" altLang="en-US"/>
              <a:t>Register &amp; Login</a:t>
            </a:r>
            <a:endParaRPr lang="en-IN" altLang="en-US"/>
          </a:p>
        </p:txBody>
      </p:sp>
      <p:sp>
        <p:nvSpPr>
          <p:cNvPr id="8" name="Diamond 7"/>
          <p:cNvSpPr/>
          <p:nvPr/>
        </p:nvSpPr>
        <p:spPr>
          <a:xfrm>
            <a:off x="4759960" y="2748915"/>
            <a:ext cx="1752600" cy="1041400"/>
          </a:xfrm>
          <a:prstGeom prst="diamond">
            <a:avLst/>
          </a:prstGeom>
        </p:spPr>
        <p:style>
          <a:lnRef idx="3">
            <a:schemeClr val="accent1"/>
          </a:lnRef>
          <a:fillRef idx="0">
            <a:srgbClr val="FFFFFF"/>
          </a:fillRef>
          <a:effectRef idx="0">
            <a:srgbClr val="FFFFFF"/>
          </a:effectRef>
          <a:fontRef idx="minor">
            <a:schemeClr val="tx1"/>
          </a:fontRef>
        </p:style>
        <p:txBody>
          <a:bodyPr rtlCol="0" anchor="ctr"/>
          <a:lstStyle/>
          <a:p>
            <a:pPr algn="ctr"/>
            <a:r>
              <a:rPr lang="en-IN" altLang="en-US"/>
              <a:t>Check</a:t>
            </a:r>
            <a:endParaRPr lang="en-IN" altLang="en-US"/>
          </a:p>
        </p:txBody>
      </p:sp>
      <p:sp>
        <p:nvSpPr>
          <p:cNvPr id="14" name="Rounded Rectangle 13"/>
          <p:cNvSpPr/>
          <p:nvPr/>
        </p:nvSpPr>
        <p:spPr>
          <a:xfrm>
            <a:off x="3056890" y="3961130"/>
            <a:ext cx="5159375" cy="617220"/>
          </a:xfrm>
          <a:prstGeom prst="roundRect">
            <a:avLst/>
          </a:prstGeom>
        </p:spPr>
        <p:style>
          <a:lnRef idx="3">
            <a:schemeClr val="accent1"/>
          </a:lnRef>
          <a:fillRef idx="0">
            <a:srgbClr val="FFFFFF"/>
          </a:fillRef>
          <a:effectRef idx="0">
            <a:srgbClr val="FFFFFF"/>
          </a:effectRef>
          <a:fontRef idx="minor">
            <a:schemeClr val="tx1"/>
          </a:fontRef>
        </p:style>
        <p:txBody>
          <a:bodyPr rtlCol="0" anchor="ctr"/>
          <a:lstStyle/>
          <a:p>
            <a:pPr algn="ctr"/>
            <a:r>
              <a:rPr lang="en-IN" altLang="en-US"/>
              <a:t>Predicted cervical cancer detection Type</a:t>
            </a:r>
            <a:endParaRPr lang="en-IN" altLang="en-US"/>
          </a:p>
        </p:txBody>
      </p:sp>
      <p:sp>
        <p:nvSpPr>
          <p:cNvPr id="15" name="Rounded Rectangle 14"/>
          <p:cNvSpPr/>
          <p:nvPr/>
        </p:nvSpPr>
        <p:spPr>
          <a:xfrm>
            <a:off x="4224020" y="4918075"/>
            <a:ext cx="2961640" cy="511175"/>
          </a:xfrm>
          <a:prstGeom prst="roundRect">
            <a:avLst/>
          </a:prstGeom>
        </p:spPr>
        <p:style>
          <a:lnRef idx="3">
            <a:schemeClr val="accent1"/>
          </a:lnRef>
          <a:fillRef idx="0">
            <a:srgbClr val="FFFFFF"/>
          </a:fillRef>
          <a:effectRef idx="0">
            <a:srgbClr val="FFFFFF"/>
          </a:effectRef>
          <a:fontRef idx="minor">
            <a:schemeClr val="tx1"/>
          </a:fontRef>
        </p:style>
        <p:txBody>
          <a:bodyPr rtlCol="0" anchor="ctr"/>
          <a:lstStyle/>
          <a:p>
            <a:pPr algn="ctr"/>
            <a:r>
              <a:rPr lang="en-IN" altLang="en-US"/>
              <a:t>View your users</a:t>
            </a:r>
            <a:endParaRPr lang="en-IN" altLang="en-US"/>
          </a:p>
        </p:txBody>
      </p:sp>
      <p:sp>
        <p:nvSpPr>
          <p:cNvPr id="16" name="Rounded Rectangle 15"/>
          <p:cNvSpPr/>
          <p:nvPr/>
        </p:nvSpPr>
        <p:spPr>
          <a:xfrm>
            <a:off x="4759960" y="5663565"/>
            <a:ext cx="1823085" cy="414655"/>
          </a:xfrm>
          <a:prstGeom prst="roundRect">
            <a:avLst/>
          </a:prstGeom>
        </p:spPr>
        <p:style>
          <a:lnRef idx="3">
            <a:schemeClr val="accent1"/>
          </a:lnRef>
          <a:fillRef idx="0">
            <a:srgbClr val="FFFFFF"/>
          </a:fillRef>
          <a:effectRef idx="0">
            <a:srgbClr val="FFFFFF"/>
          </a:effectRef>
          <a:fontRef idx="minor">
            <a:schemeClr val="tx1"/>
          </a:fontRef>
        </p:style>
        <p:txBody>
          <a:bodyPr rtlCol="0" anchor="ctr"/>
          <a:lstStyle/>
          <a:p>
            <a:pPr algn="ctr"/>
            <a:r>
              <a:rPr lang="en-IN" altLang="en-US"/>
              <a:t>Log Out</a:t>
            </a:r>
            <a:endParaRPr lang="en-IN" altLang="en-US"/>
          </a:p>
        </p:txBody>
      </p:sp>
      <p:sp>
        <p:nvSpPr>
          <p:cNvPr id="17" name="Oval 16"/>
          <p:cNvSpPr/>
          <p:nvPr/>
        </p:nvSpPr>
        <p:spPr>
          <a:xfrm>
            <a:off x="5476875" y="6377940"/>
            <a:ext cx="490220" cy="321310"/>
          </a:xfrm>
          <a:prstGeom prst="ellipse">
            <a:avLst/>
          </a:prstGeom>
        </p:spPr>
        <p:style>
          <a:lnRef idx="3">
            <a:prstClr val="black"/>
          </a:lnRef>
          <a:fillRef idx="0">
            <a:srgbClr val="FFFFFF"/>
          </a:fillRef>
          <a:effectRef idx="0">
            <a:srgbClr val="FFFFFF"/>
          </a:effectRef>
          <a:fontRef idx="minor">
            <a:schemeClr val="tx1"/>
          </a:fontRef>
        </p:style>
        <p:txBody>
          <a:bodyPr rtlCol="0" anchor="ctr"/>
          <a:lstStyle/>
          <a:p>
            <a:pPr algn="ctr"/>
            <a:endParaRPr lang="en-US"/>
          </a:p>
        </p:txBody>
      </p:sp>
      <p:sp>
        <p:nvSpPr>
          <p:cNvPr id="18" name="Oval 17"/>
          <p:cNvSpPr/>
          <p:nvPr/>
        </p:nvSpPr>
        <p:spPr>
          <a:xfrm>
            <a:off x="5572760" y="6442710"/>
            <a:ext cx="298450" cy="161290"/>
          </a:xfrm>
          <a:prstGeom prst="ellipse">
            <a:avLst/>
          </a:prstGeom>
        </p:spPr>
        <p:style>
          <a:lnRef idx="0">
            <a:srgbClr val="FFFFFF"/>
          </a:lnRef>
          <a:fillRef idx="1">
            <a:prstClr val="black"/>
          </a:fillRef>
          <a:effectRef idx="0">
            <a:srgbClr val="FFFFFF"/>
          </a:effectRef>
          <a:fontRef idx="minor">
            <a:schemeClr val="lt1"/>
          </a:fontRef>
        </p:style>
        <p:txBody>
          <a:bodyPr rtlCol="0" anchor="ctr"/>
          <a:lstStyle/>
          <a:p>
            <a:pPr algn="ctr"/>
            <a:endParaRPr lang="en-US"/>
          </a:p>
        </p:txBody>
      </p:sp>
      <p:cxnSp>
        <p:nvCxnSpPr>
          <p:cNvPr id="21" name="Straight Arrow Connector 20"/>
          <p:cNvCxnSpPr>
            <a:stCxn id="6" idx="4"/>
          </p:cNvCxnSpPr>
          <p:nvPr/>
        </p:nvCxnSpPr>
        <p:spPr>
          <a:xfrm>
            <a:off x="5636260" y="1735455"/>
            <a:ext cx="7620" cy="238760"/>
          </a:xfrm>
          <a:prstGeom prst="straightConnector1">
            <a:avLst/>
          </a:prstGeom>
          <a:ln>
            <a:tailEnd type="arrow" w="med" len="med"/>
          </a:ln>
        </p:spPr>
        <p:style>
          <a:lnRef idx="2">
            <a:prstClr val="black"/>
          </a:lnRef>
          <a:fillRef idx="0">
            <a:srgbClr val="FFFFFF"/>
          </a:fillRef>
          <a:effectRef idx="0">
            <a:srgbClr val="FFFFFF"/>
          </a:effectRef>
          <a:fontRef idx="minor">
            <a:schemeClr val="tx1"/>
          </a:fontRef>
        </p:style>
      </p:cxnSp>
      <p:cxnSp>
        <p:nvCxnSpPr>
          <p:cNvPr id="23" name="Straight Arrow Connector 22"/>
          <p:cNvCxnSpPr>
            <a:stCxn id="8" idx="2"/>
            <a:endCxn id="14" idx="0"/>
          </p:cNvCxnSpPr>
          <p:nvPr/>
        </p:nvCxnSpPr>
        <p:spPr>
          <a:xfrm>
            <a:off x="5636260" y="3790315"/>
            <a:ext cx="635" cy="170815"/>
          </a:xfrm>
          <a:prstGeom prst="straightConnector1">
            <a:avLst/>
          </a:prstGeom>
          <a:ln>
            <a:tailEnd type="arrow" w="med" len="med"/>
          </a:ln>
        </p:spPr>
        <p:style>
          <a:lnRef idx="2">
            <a:prstClr val="black"/>
          </a:lnRef>
          <a:fillRef idx="0">
            <a:srgbClr val="FFFFFF"/>
          </a:fillRef>
          <a:effectRef idx="0">
            <a:srgbClr val="FFFFFF"/>
          </a:effectRef>
          <a:fontRef idx="minor">
            <a:schemeClr val="tx1"/>
          </a:fontRef>
        </p:style>
      </p:cxnSp>
      <p:cxnSp>
        <p:nvCxnSpPr>
          <p:cNvPr id="24" name="Straight Arrow Connector 23"/>
          <p:cNvCxnSpPr>
            <a:endCxn id="8" idx="0"/>
          </p:cNvCxnSpPr>
          <p:nvPr/>
        </p:nvCxnSpPr>
        <p:spPr>
          <a:xfrm>
            <a:off x="5612130" y="2409825"/>
            <a:ext cx="24130" cy="339090"/>
          </a:xfrm>
          <a:prstGeom prst="straightConnector1">
            <a:avLst/>
          </a:prstGeom>
          <a:ln>
            <a:tailEnd type="arrow" w="med" len="med"/>
          </a:ln>
        </p:spPr>
        <p:style>
          <a:lnRef idx="2">
            <a:prstClr val="black"/>
          </a:lnRef>
          <a:fillRef idx="0">
            <a:srgbClr val="FFFFFF"/>
          </a:fillRef>
          <a:effectRef idx="0">
            <a:srgbClr val="FFFFFF"/>
          </a:effectRef>
          <a:fontRef idx="minor">
            <a:schemeClr val="tx1"/>
          </a:fontRef>
        </p:style>
      </p:cxnSp>
      <p:cxnSp>
        <p:nvCxnSpPr>
          <p:cNvPr id="25" name="Straight Arrow Connector 24"/>
          <p:cNvCxnSpPr>
            <a:stCxn id="14" idx="2"/>
          </p:cNvCxnSpPr>
          <p:nvPr/>
        </p:nvCxnSpPr>
        <p:spPr>
          <a:xfrm>
            <a:off x="5636895" y="4578350"/>
            <a:ext cx="17780" cy="335280"/>
          </a:xfrm>
          <a:prstGeom prst="straightConnector1">
            <a:avLst/>
          </a:prstGeom>
          <a:ln>
            <a:tailEnd type="arrow" w="med" len="med"/>
          </a:ln>
        </p:spPr>
        <p:style>
          <a:lnRef idx="2">
            <a:prstClr val="black"/>
          </a:lnRef>
          <a:fillRef idx="0">
            <a:srgbClr val="FFFFFF"/>
          </a:fillRef>
          <a:effectRef idx="0">
            <a:srgbClr val="FFFFFF"/>
          </a:effectRef>
          <a:fontRef idx="minor">
            <a:schemeClr val="tx1"/>
          </a:fontRef>
        </p:style>
      </p:cxnSp>
      <p:cxnSp>
        <p:nvCxnSpPr>
          <p:cNvPr id="26" name="Straight Arrow Connector 25"/>
          <p:cNvCxnSpPr>
            <a:stCxn id="15" idx="2"/>
          </p:cNvCxnSpPr>
          <p:nvPr/>
        </p:nvCxnSpPr>
        <p:spPr>
          <a:xfrm flipH="1">
            <a:off x="5697220" y="5429250"/>
            <a:ext cx="7620" cy="206375"/>
          </a:xfrm>
          <a:prstGeom prst="straightConnector1">
            <a:avLst/>
          </a:prstGeom>
          <a:ln>
            <a:tailEnd type="arrow" w="med" len="med"/>
          </a:ln>
        </p:spPr>
        <p:style>
          <a:lnRef idx="2">
            <a:prstClr val="black"/>
          </a:lnRef>
          <a:fillRef idx="0">
            <a:srgbClr val="FFFFFF"/>
          </a:fillRef>
          <a:effectRef idx="0">
            <a:srgbClr val="FFFFFF"/>
          </a:effectRef>
          <a:fontRef idx="minor">
            <a:schemeClr val="tx1"/>
          </a:fontRef>
        </p:style>
      </p:cxnSp>
      <p:cxnSp>
        <p:nvCxnSpPr>
          <p:cNvPr id="27" name="Straight Arrow Connector 26"/>
          <p:cNvCxnSpPr>
            <a:stCxn id="16" idx="2"/>
          </p:cNvCxnSpPr>
          <p:nvPr/>
        </p:nvCxnSpPr>
        <p:spPr>
          <a:xfrm>
            <a:off x="5671820" y="6078220"/>
            <a:ext cx="14605" cy="289560"/>
          </a:xfrm>
          <a:prstGeom prst="straightConnector1">
            <a:avLst/>
          </a:prstGeom>
          <a:ln>
            <a:tailEnd type="arrow" w="med" len="med"/>
          </a:ln>
        </p:spPr>
        <p:style>
          <a:lnRef idx="2">
            <a:prstClr val="black"/>
          </a:lnRef>
          <a:fillRef idx="0">
            <a:srgbClr val="FFFFFF"/>
          </a:fillRef>
          <a:effectRef idx="0">
            <a:srgbClr val="FFFFFF"/>
          </a:effectRef>
          <a:fontRef idx="minor">
            <a:schemeClr val="tx1"/>
          </a:fontRef>
        </p:style>
      </p:cxnSp>
      <p:cxnSp>
        <p:nvCxnSpPr>
          <p:cNvPr id="28" name="Straight Connector 27"/>
          <p:cNvCxnSpPr>
            <a:stCxn id="8" idx="3"/>
          </p:cNvCxnSpPr>
          <p:nvPr/>
        </p:nvCxnSpPr>
        <p:spPr>
          <a:xfrm flipV="1">
            <a:off x="6512560" y="3263900"/>
            <a:ext cx="1094740" cy="5715"/>
          </a:xfrm>
          <a:prstGeom prst="line">
            <a:avLst/>
          </a:prstGeom>
        </p:spPr>
        <p:style>
          <a:lnRef idx="3">
            <a:prstClr val="black"/>
          </a:lnRef>
          <a:fillRef idx="0">
            <a:srgbClr val="FFFFFF"/>
          </a:fillRef>
          <a:effectRef idx="0">
            <a:srgbClr val="FFFFFF"/>
          </a:effectRef>
          <a:fontRef idx="minor">
            <a:schemeClr val="tx1"/>
          </a:fontRef>
        </p:style>
      </p:cxnSp>
      <p:cxnSp>
        <p:nvCxnSpPr>
          <p:cNvPr id="29" name="Straight Connector 28"/>
          <p:cNvCxnSpPr/>
          <p:nvPr/>
        </p:nvCxnSpPr>
        <p:spPr>
          <a:xfrm flipV="1">
            <a:off x="7553960" y="3242945"/>
            <a:ext cx="0" cy="10160"/>
          </a:xfrm>
          <a:prstGeom prst="line">
            <a:avLst/>
          </a:prstGeom>
        </p:spPr>
        <p:style>
          <a:lnRef idx="2">
            <a:schemeClr val="accent1"/>
          </a:lnRef>
          <a:fillRef idx="0">
            <a:srgbClr val="FFFFFF"/>
          </a:fillRef>
          <a:effectRef idx="0">
            <a:srgbClr val="FFFFFF"/>
          </a:effectRef>
          <a:fontRef idx="minor">
            <a:schemeClr val="tx1"/>
          </a:fontRef>
        </p:style>
      </p:cxnSp>
      <p:cxnSp>
        <p:nvCxnSpPr>
          <p:cNvPr id="30" name="Straight Connector 29"/>
          <p:cNvCxnSpPr/>
          <p:nvPr/>
        </p:nvCxnSpPr>
        <p:spPr>
          <a:xfrm flipV="1">
            <a:off x="7575550" y="2574290"/>
            <a:ext cx="10160" cy="700405"/>
          </a:xfrm>
          <a:prstGeom prst="line">
            <a:avLst/>
          </a:prstGeom>
        </p:spPr>
        <p:style>
          <a:lnRef idx="3">
            <a:prstClr val="black"/>
          </a:lnRef>
          <a:fillRef idx="0">
            <a:srgbClr val="FFFFFF"/>
          </a:fillRef>
          <a:effectRef idx="0">
            <a:srgbClr val="FFFFFF"/>
          </a:effectRef>
          <a:fontRef idx="minor">
            <a:schemeClr val="tx1"/>
          </a:fontRef>
        </p:style>
      </p:cxnSp>
      <p:cxnSp>
        <p:nvCxnSpPr>
          <p:cNvPr id="31" name="Straight Arrow Connector 30"/>
          <p:cNvCxnSpPr/>
          <p:nvPr/>
        </p:nvCxnSpPr>
        <p:spPr>
          <a:xfrm flipH="1" flipV="1">
            <a:off x="5643880" y="2542540"/>
            <a:ext cx="1920875" cy="20955"/>
          </a:xfrm>
          <a:prstGeom prst="straightConnector1">
            <a:avLst/>
          </a:prstGeom>
          <a:ln>
            <a:tailEnd type="arrow" w="med" len="med"/>
          </a:ln>
        </p:spPr>
        <p:style>
          <a:lnRef idx="2">
            <a:prstClr val="black"/>
          </a:lnRef>
          <a:fillRef idx="0">
            <a:srgbClr val="FFFFFF"/>
          </a:fillRef>
          <a:effectRef idx="0">
            <a:srgbClr val="FFFFFF"/>
          </a:effectRef>
          <a:fontRef idx="minor">
            <a:schemeClr val="tx1"/>
          </a:fontRef>
        </p:style>
      </p:cxnSp>
      <p:sp>
        <p:nvSpPr>
          <p:cNvPr id="32" name="Text Box 31"/>
          <p:cNvSpPr txBox="1"/>
          <p:nvPr/>
        </p:nvSpPr>
        <p:spPr>
          <a:xfrm>
            <a:off x="5871210" y="3632200"/>
            <a:ext cx="838835" cy="241935"/>
          </a:xfrm>
          <a:prstGeom prst="rect">
            <a:avLst/>
          </a:prstGeom>
          <a:noFill/>
        </p:spPr>
        <p:txBody>
          <a:bodyPr wrap="square" rtlCol="0">
            <a:noAutofit/>
          </a:bodyPr>
          <a:lstStyle/>
          <a:p>
            <a:r>
              <a:rPr lang="en-IN" altLang="en-US" sz="1600"/>
              <a:t>Valid</a:t>
            </a:r>
            <a:endParaRPr lang="en-IN" altLang="en-US" sz="1600"/>
          </a:p>
        </p:txBody>
      </p:sp>
      <p:sp>
        <p:nvSpPr>
          <p:cNvPr id="33" name="Text Box 32"/>
          <p:cNvSpPr txBox="1"/>
          <p:nvPr/>
        </p:nvSpPr>
        <p:spPr>
          <a:xfrm>
            <a:off x="7607300" y="2773045"/>
            <a:ext cx="1251585" cy="337185"/>
          </a:xfrm>
          <a:prstGeom prst="rect">
            <a:avLst/>
          </a:prstGeom>
          <a:noFill/>
        </p:spPr>
        <p:txBody>
          <a:bodyPr wrap="square" rtlCol="0">
            <a:spAutoFit/>
          </a:bodyPr>
          <a:lstStyle/>
          <a:p>
            <a:r>
              <a:rPr lang="en-IN" altLang="en-US" sz="1600"/>
              <a:t>Invalid</a:t>
            </a:r>
            <a:endParaRPr lang="en-IN" altLang="en-US" sz="1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2160270" y="549910"/>
            <a:ext cx="298450" cy="25273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Rounded Corners 5"/>
          <p:cNvSpPr/>
          <p:nvPr/>
        </p:nvSpPr>
        <p:spPr>
          <a:xfrm>
            <a:off x="1791476" y="958718"/>
            <a:ext cx="1035698" cy="410547"/>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Login</a:t>
            </a:r>
            <a:endParaRPr lang="en-US" dirty="0"/>
          </a:p>
        </p:txBody>
      </p:sp>
      <p:sp>
        <p:nvSpPr>
          <p:cNvPr id="7" name="Diamond 6"/>
          <p:cNvSpPr/>
          <p:nvPr/>
        </p:nvSpPr>
        <p:spPr>
          <a:xfrm>
            <a:off x="1455574" y="1680676"/>
            <a:ext cx="1707502" cy="923730"/>
          </a:xfrm>
          <a:prstGeom prst="diamond">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Check</a:t>
            </a:r>
            <a:endParaRPr lang="en-US" dirty="0"/>
          </a:p>
        </p:txBody>
      </p:sp>
      <p:sp>
        <p:nvSpPr>
          <p:cNvPr id="8" name="Rectangle: Rounded Corners 7"/>
          <p:cNvSpPr/>
          <p:nvPr/>
        </p:nvSpPr>
        <p:spPr>
          <a:xfrm>
            <a:off x="447868" y="2809677"/>
            <a:ext cx="3760237" cy="513183"/>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Train &amp; Test Datasets</a:t>
            </a:r>
            <a:endParaRPr lang="en-US" dirty="0"/>
          </a:p>
        </p:txBody>
      </p:sp>
      <p:sp>
        <p:nvSpPr>
          <p:cNvPr id="9" name="Rectangle: Rounded Corners 8"/>
          <p:cNvSpPr/>
          <p:nvPr/>
        </p:nvSpPr>
        <p:spPr>
          <a:xfrm>
            <a:off x="452535" y="3596950"/>
            <a:ext cx="3778898" cy="60649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View trained Accuracy in Bar Chart</a:t>
            </a:r>
            <a:endParaRPr lang="en-US" dirty="0"/>
          </a:p>
        </p:txBody>
      </p:sp>
      <p:sp>
        <p:nvSpPr>
          <p:cNvPr id="10" name="Rectangle: Rounded Corners 9"/>
          <p:cNvSpPr/>
          <p:nvPr/>
        </p:nvSpPr>
        <p:spPr>
          <a:xfrm>
            <a:off x="452535" y="4478692"/>
            <a:ext cx="3778898" cy="531847"/>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View trained Accuracy Results</a:t>
            </a:r>
            <a:endParaRPr lang="en-US" dirty="0"/>
          </a:p>
        </p:txBody>
      </p:sp>
      <p:sp>
        <p:nvSpPr>
          <p:cNvPr id="11" name="Rectangle: Rounded Corners 10"/>
          <p:cNvSpPr/>
          <p:nvPr/>
        </p:nvSpPr>
        <p:spPr>
          <a:xfrm>
            <a:off x="478193" y="5216974"/>
            <a:ext cx="3713584" cy="60649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View cervical cancer detection type</a:t>
            </a:r>
            <a:endParaRPr lang="en-US" dirty="0"/>
          </a:p>
        </p:txBody>
      </p:sp>
      <p:sp>
        <p:nvSpPr>
          <p:cNvPr id="12" name="Rectangle: Rounded Corners 11"/>
          <p:cNvSpPr/>
          <p:nvPr/>
        </p:nvSpPr>
        <p:spPr>
          <a:xfrm>
            <a:off x="461865" y="6041550"/>
            <a:ext cx="3760237" cy="601823"/>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Find cervical cancer detection type ratio</a:t>
            </a:r>
            <a:endParaRPr lang="en-US" dirty="0"/>
          </a:p>
        </p:txBody>
      </p:sp>
      <p:sp>
        <p:nvSpPr>
          <p:cNvPr id="13" name="Rectangle: Rounded Corners 12"/>
          <p:cNvSpPr/>
          <p:nvPr/>
        </p:nvSpPr>
        <p:spPr>
          <a:xfrm>
            <a:off x="6662057" y="2715208"/>
            <a:ext cx="4086808" cy="513183"/>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Download predicted datasets</a:t>
            </a:r>
            <a:endParaRPr lang="en-US" dirty="0"/>
          </a:p>
        </p:txBody>
      </p:sp>
      <p:sp>
        <p:nvSpPr>
          <p:cNvPr id="14" name="Rectangle: Rounded Corners 13"/>
          <p:cNvSpPr/>
          <p:nvPr/>
        </p:nvSpPr>
        <p:spPr>
          <a:xfrm>
            <a:off x="6662057" y="3564292"/>
            <a:ext cx="4086808" cy="60649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View cervical cancer detection type ratio results</a:t>
            </a:r>
            <a:endParaRPr lang="en-US" dirty="0"/>
          </a:p>
        </p:txBody>
      </p:sp>
      <p:sp>
        <p:nvSpPr>
          <p:cNvPr id="15" name="Rectangle: Rounded Corners 14"/>
          <p:cNvSpPr/>
          <p:nvPr/>
        </p:nvSpPr>
        <p:spPr>
          <a:xfrm>
            <a:off x="6662057" y="4478692"/>
            <a:ext cx="4086808" cy="513183"/>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View all users</a:t>
            </a:r>
            <a:endParaRPr lang="en-US" dirty="0"/>
          </a:p>
        </p:txBody>
      </p:sp>
      <p:sp>
        <p:nvSpPr>
          <p:cNvPr id="16" name="Rectangle: Rounded Corners 15"/>
          <p:cNvSpPr/>
          <p:nvPr/>
        </p:nvSpPr>
        <p:spPr>
          <a:xfrm>
            <a:off x="7613780" y="5337109"/>
            <a:ext cx="1968759" cy="513183"/>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Log out</a:t>
            </a:r>
            <a:endParaRPr lang="en-US" dirty="0"/>
          </a:p>
        </p:txBody>
      </p:sp>
      <p:sp>
        <p:nvSpPr>
          <p:cNvPr id="19" name="Oval 18"/>
          <p:cNvSpPr/>
          <p:nvPr/>
        </p:nvSpPr>
        <p:spPr>
          <a:xfrm>
            <a:off x="8304244" y="6238650"/>
            <a:ext cx="587829" cy="21926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Oval 19"/>
          <p:cNvSpPr/>
          <p:nvPr/>
        </p:nvSpPr>
        <p:spPr>
          <a:xfrm>
            <a:off x="8451201" y="6287643"/>
            <a:ext cx="293914" cy="10963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2" name="Straight Arrow Connector 21"/>
          <p:cNvCxnSpPr>
            <a:stCxn id="3" idx="4"/>
            <a:endCxn id="6" idx="0"/>
          </p:cNvCxnSpPr>
          <p:nvPr/>
        </p:nvCxnSpPr>
        <p:spPr>
          <a:xfrm flipH="1">
            <a:off x="2309325" y="821092"/>
            <a:ext cx="1" cy="1376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6" idx="2"/>
            <a:endCxn id="7" idx="0"/>
          </p:cNvCxnSpPr>
          <p:nvPr/>
        </p:nvCxnSpPr>
        <p:spPr>
          <a:xfrm>
            <a:off x="2309325" y="1369265"/>
            <a:ext cx="0" cy="3114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p:cNvCxnSpPr>
            <a:stCxn id="7" idx="2"/>
            <a:endCxn id="8" idx="0"/>
          </p:cNvCxnSpPr>
          <p:nvPr/>
        </p:nvCxnSpPr>
        <p:spPr>
          <a:xfrm>
            <a:off x="2309325" y="2604406"/>
            <a:ext cx="18662" cy="2052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p:cNvCxnSpPr>
            <a:stCxn id="8" idx="2"/>
            <a:endCxn id="9" idx="0"/>
          </p:cNvCxnSpPr>
          <p:nvPr/>
        </p:nvCxnSpPr>
        <p:spPr>
          <a:xfrm>
            <a:off x="2327987" y="3322860"/>
            <a:ext cx="13997" cy="2740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p:cNvCxnSpPr>
            <a:stCxn id="9" idx="2"/>
            <a:endCxn id="10" idx="0"/>
          </p:cNvCxnSpPr>
          <p:nvPr/>
        </p:nvCxnSpPr>
        <p:spPr>
          <a:xfrm>
            <a:off x="2341984" y="4203440"/>
            <a:ext cx="0" cy="2752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10" idx="2"/>
            <a:endCxn id="11" idx="0"/>
          </p:cNvCxnSpPr>
          <p:nvPr/>
        </p:nvCxnSpPr>
        <p:spPr>
          <a:xfrm flipH="1">
            <a:off x="2334985" y="5010539"/>
            <a:ext cx="6999" cy="2064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p:cNvCxnSpPr>
            <a:stCxn id="11" idx="2"/>
            <a:endCxn id="12" idx="0"/>
          </p:cNvCxnSpPr>
          <p:nvPr/>
        </p:nvCxnSpPr>
        <p:spPr>
          <a:xfrm>
            <a:off x="2334985" y="5823464"/>
            <a:ext cx="6999" cy="2180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p:cNvCxnSpPr>
            <a:stCxn id="13" idx="2"/>
            <a:endCxn id="14" idx="0"/>
          </p:cNvCxnSpPr>
          <p:nvPr/>
        </p:nvCxnSpPr>
        <p:spPr>
          <a:xfrm>
            <a:off x="8705461" y="3228391"/>
            <a:ext cx="0" cy="3359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p:cNvCxnSpPr>
            <a:stCxn id="14" idx="2"/>
            <a:endCxn id="15" idx="0"/>
          </p:cNvCxnSpPr>
          <p:nvPr/>
        </p:nvCxnSpPr>
        <p:spPr>
          <a:xfrm>
            <a:off x="8705461" y="4170782"/>
            <a:ext cx="0" cy="3079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p:cNvCxnSpPr>
            <a:stCxn id="15" idx="2"/>
          </p:cNvCxnSpPr>
          <p:nvPr/>
        </p:nvCxnSpPr>
        <p:spPr>
          <a:xfrm flipH="1">
            <a:off x="8705460" y="4991875"/>
            <a:ext cx="1" cy="3452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p:cNvCxnSpPr>
            <a:stCxn id="16" idx="2"/>
            <a:endCxn id="19" idx="0"/>
          </p:cNvCxnSpPr>
          <p:nvPr/>
        </p:nvCxnSpPr>
        <p:spPr>
          <a:xfrm flipH="1">
            <a:off x="8598159" y="5850292"/>
            <a:ext cx="1" cy="3883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Connector 49"/>
          <p:cNvCxnSpPr>
            <a:stCxn id="7" idx="3"/>
          </p:cNvCxnSpPr>
          <p:nvPr/>
        </p:nvCxnSpPr>
        <p:spPr>
          <a:xfrm>
            <a:off x="3163076" y="2142541"/>
            <a:ext cx="699797" cy="0"/>
          </a:xfrm>
          <a:prstGeom prst="line">
            <a:avLst/>
          </a:prstGeom>
        </p:spPr>
        <p:style>
          <a:lnRef idx="1">
            <a:schemeClr val="dk1"/>
          </a:lnRef>
          <a:fillRef idx="0">
            <a:schemeClr val="dk1"/>
          </a:fillRef>
          <a:effectRef idx="0">
            <a:schemeClr val="dk1"/>
          </a:effectRef>
          <a:fontRef idx="minor">
            <a:schemeClr val="tx1"/>
          </a:fontRef>
        </p:style>
      </p:cxnSp>
      <p:cxnSp>
        <p:nvCxnSpPr>
          <p:cNvPr id="52" name="Straight Connector 51"/>
          <p:cNvCxnSpPr/>
          <p:nvPr/>
        </p:nvCxnSpPr>
        <p:spPr>
          <a:xfrm flipV="1">
            <a:off x="3862873" y="1524970"/>
            <a:ext cx="0" cy="617571"/>
          </a:xfrm>
          <a:prstGeom prst="line">
            <a:avLst/>
          </a:prstGeom>
        </p:spPr>
        <p:style>
          <a:lnRef idx="1">
            <a:schemeClr val="dk1"/>
          </a:lnRef>
          <a:fillRef idx="0">
            <a:schemeClr val="dk1"/>
          </a:fillRef>
          <a:effectRef idx="0">
            <a:schemeClr val="dk1"/>
          </a:effectRef>
          <a:fontRef idx="minor">
            <a:schemeClr val="tx1"/>
          </a:fontRef>
        </p:style>
      </p:cxnSp>
      <p:cxnSp>
        <p:nvCxnSpPr>
          <p:cNvPr id="54" name="Straight Arrow Connector 53"/>
          <p:cNvCxnSpPr/>
          <p:nvPr/>
        </p:nvCxnSpPr>
        <p:spPr>
          <a:xfrm flipH="1">
            <a:off x="2309325" y="1524970"/>
            <a:ext cx="155354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5" name="TextBox 54"/>
          <p:cNvSpPr txBox="1"/>
          <p:nvPr/>
        </p:nvSpPr>
        <p:spPr>
          <a:xfrm>
            <a:off x="2603240" y="2416632"/>
            <a:ext cx="699797" cy="369332"/>
          </a:xfrm>
          <a:prstGeom prst="rect">
            <a:avLst/>
          </a:prstGeom>
          <a:noFill/>
        </p:spPr>
        <p:txBody>
          <a:bodyPr wrap="square" rtlCol="0">
            <a:spAutoFit/>
          </a:bodyPr>
          <a:lstStyle/>
          <a:p>
            <a:r>
              <a:rPr lang="en-IN" dirty="0"/>
              <a:t>Valid</a:t>
            </a:r>
            <a:endParaRPr lang="en-US" dirty="0"/>
          </a:p>
        </p:txBody>
      </p:sp>
      <p:sp>
        <p:nvSpPr>
          <p:cNvPr id="56" name="TextBox 55"/>
          <p:cNvSpPr txBox="1"/>
          <p:nvPr/>
        </p:nvSpPr>
        <p:spPr>
          <a:xfrm>
            <a:off x="3862873" y="1813444"/>
            <a:ext cx="895736" cy="369332"/>
          </a:xfrm>
          <a:prstGeom prst="rect">
            <a:avLst/>
          </a:prstGeom>
          <a:noFill/>
        </p:spPr>
        <p:txBody>
          <a:bodyPr wrap="square" rtlCol="0">
            <a:spAutoFit/>
          </a:bodyPr>
          <a:lstStyle/>
          <a:p>
            <a:r>
              <a:rPr lang="en-IN" dirty="0"/>
              <a:t>Invalid</a:t>
            </a:r>
            <a:endParaRPr lang="en-US" dirty="0"/>
          </a:p>
        </p:txBody>
      </p:sp>
      <p:cxnSp>
        <p:nvCxnSpPr>
          <p:cNvPr id="58" name="Straight Connector 57"/>
          <p:cNvCxnSpPr>
            <a:stCxn id="12" idx="3"/>
          </p:cNvCxnSpPr>
          <p:nvPr/>
        </p:nvCxnSpPr>
        <p:spPr>
          <a:xfrm flipV="1">
            <a:off x="4222102" y="6342460"/>
            <a:ext cx="1366935" cy="2"/>
          </a:xfrm>
          <a:prstGeom prst="line">
            <a:avLst/>
          </a:prstGeom>
        </p:spPr>
        <p:style>
          <a:lnRef idx="1">
            <a:schemeClr val="dk1"/>
          </a:lnRef>
          <a:fillRef idx="0">
            <a:schemeClr val="dk1"/>
          </a:fillRef>
          <a:effectRef idx="0">
            <a:schemeClr val="dk1"/>
          </a:effectRef>
          <a:fontRef idx="minor">
            <a:schemeClr val="tx1"/>
          </a:fontRef>
        </p:style>
      </p:cxnSp>
      <p:cxnSp>
        <p:nvCxnSpPr>
          <p:cNvPr id="60" name="Straight Connector 59"/>
          <p:cNvCxnSpPr/>
          <p:nvPr/>
        </p:nvCxnSpPr>
        <p:spPr>
          <a:xfrm flipV="1">
            <a:off x="5589037" y="3066268"/>
            <a:ext cx="0" cy="3276192"/>
          </a:xfrm>
          <a:prstGeom prst="line">
            <a:avLst/>
          </a:prstGeom>
        </p:spPr>
        <p:style>
          <a:lnRef idx="1">
            <a:schemeClr val="dk1"/>
          </a:lnRef>
          <a:fillRef idx="0">
            <a:schemeClr val="dk1"/>
          </a:fillRef>
          <a:effectRef idx="0">
            <a:schemeClr val="dk1"/>
          </a:effectRef>
          <a:fontRef idx="minor">
            <a:schemeClr val="tx1"/>
          </a:fontRef>
        </p:style>
      </p:cxnSp>
      <p:cxnSp>
        <p:nvCxnSpPr>
          <p:cNvPr id="62" name="Straight Arrow Connector 61"/>
          <p:cNvCxnSpPr/>
          <p:nvPr/>
        </p:nvCxnSpPr>
        <p:spPr>
          <a:xfrm>
            <a:off x="5589037" y="3066268"/>
            <a:ext cx="10730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Box 62"/>
          <p:cNvSpPr txBox="1"/>
          <p:nvPr/>
        </p:nvSpPr>
        <p:spPr>
          <a:xfrm>
            <a:off x="3732244" y="63765"/>
            <a:ext cx="7072604" cy="73866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Activity Diagram for Service Provider</a:t>
            </a:r>
            <a:endParaRPr lang="en-IN" sz="2400" b="1"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01412" y="326571"/>
            <a:ext cx="5794310" cy="461665"/>
          </a:xfrm>
          <a:prstGeom prst="rect">
            <a:avLst/>
          </a:prstGeom>
          <a:noFill/>
        </p:spPr>
        <p:txBody>
          <a:bodyPr wrap="square" rtlCol="0">
            <a:spAutoFit/>
          </a:bodyPr>
          <a:lstStyle/>
          <a:p>
            <a:r>
              <a:rPr lang="en-IN" sz="2400" dirty="0">
                <a:latin typeface="+mj-lt"/>
                <a:cs typeface="Times New Roman" panose="02020603050405020304" pitchFamily="18" charset="0"/>
              </a:rPr>
              <a:t>DEPLOYMENT DIAGRAM</a:t>
            </a:r>
            <a:endParaRPr lang="en-US" sz="2400" dirty="0">
              <a:latin typeface="+mj-lt"/>
              <a:cs typeface="Times New Roman" panose="02020603050405020304" pitchFamily="18" charset="0"/>
            </a:endParaRPr>
          </a:p>
        </p:txBody>
      </p:sp>
      <p:sp>
        <p:nvSpPr>
          <p:cNvPr id="4" name="Rectangle 3"/>
          <p:cNvSpPr/>
          <p:nvPr/>
        </p:nvSpPr>
        <p:spPr>
          <a:xfrm>
            <a:off x="705853" y="1828800"/>
            <a:ext cx="1155031" cy="141170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Service</a:t>
            </a:r>
            <a:endParaRPr lang="en-IN" dirty="0"/>
          </a:p>
          <a:p>
            <a:pPr algn="ctr"/>
            <a:r>
              <a:rPr lang="en-IN" dirty="0"/>
              <a:t>Provider</a:t>
            </a:r>
            <a:endParaRPr lang="en-US" dirty="0"/>
          </a:p>
        </p:txBody>
      </p:sp>
      <p:cxnSp>
        <p:nvCxnSpPr>
          <p:cNvPr id="6" name="Straight Connector 5"/>
          <p:cNvCxnSpPr/>
          <p:nvPr/>
        </p:nvCxnSpPr>
        <p:spPr>
          <a:xfrm flipV="1">
            <a:off x="705853" y="1540042"/>
            <a:ext cx="320842" cy="272716"/>
          </a:xfrm>
          <a:prstGeom prst="line">
            <a:avLst/>
          </a:prstGeom>
        </p:spPr>
        <p:style>
          <a:lnRef idx="1">
            <a:schemeClr val="accent6"/>
          </a:lnRef>
          <a:fillRef idx="0">
            <a:schemeClr val="accent6"/>
          </a:fillRef>
          <a:effectRef idx="0">
            <a:schemeClr val="accent6"/>
          </a:effectRef>
          <a:fontRef idx="minor">
            <a:schemeClr val="tx1"/>
          </a:fontRef>
        </p:style>
      </p:cxnSp>
      <p:cxnSp>
        <p:nvCxnSpPr>
          <p:cNvPr id="17" name="Straight Connector 16"/>
          <p:cNvCxnSpPr/>
          <p:nvPr/>
        </p:nvCxnSpPr>
        <p:spPr>
          <a:xfrm>
            <a:off x="1026695" y="1540042"/>
            <a:ext cx="1138989"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19" name="Straight Connector 18"/>
          <p:cNvCxnSpPr/>
          <p:nvPr/>
        </p:nvCxnSpPr>
        <p:spPr>
          <a:xfrm flipV="1">
            <a:off x="1860884" y="1540042"/>
            <a:ext cx="304800" cy="272716"/>
          </a:xfrm>
          <a:prstGeom prst="line">
            <a:avLst/>
          </a:prstGeom>
        </p:spPr>
        <p:style>
          <a:lnRef idx="1">
            <a:schemeClr val="accent6"/>
          </a:lnRef>
          <a:fillRef idx="0">
            <a:schemeClr val="accent6"/>
          </a:fillRef>
          <a:effectRef idx="0">
            <a:schemeClr val="accent6"/>
          </a:effectRef>
          <a:fontRef idx="minor">
            <a:schemeClr val="tx1"/>
          </a:fontRef>
        </p:style>
      </p:cxnSp>
      <p:cxnSp>
        <p:nvCxnSpPr>
          <p:cNvPr id="21" name="Straight Connector 20"/>
          <p:cNvCxnSpPr/>
          <p:nvPr/>
        </p:nvCxnSpPr>
        <p:spPr>
          <a:xfrm flipV="1">
            <a:off x="1860884" y="2967789"/>
            <a:ext cx="304800" cy="272716"/>
          </a:xfrm>
          <a:prstGeom prst="line">
            <a:avLst/>
          </a:prstGeom>
        </p:spPr>
        <p:style>
          <a:lnRef idx="1">
            <a:schemeClr val="accent6"/>
          </a:lnRef>
          <a:fillRef idx="0">
            <a:schemeClr val="accent6"/>
          </a:fillRef>
          <a:effectRef idx="0">
            <a:schemeClr val="accent6"/>
          </a:effectRef>
          <a:fontRef idx="minor">
            <a:schemeClr val="tx1"/>
          </a:fontRef>
        </p:style>
      </p:cxnSp>
      <p:cxnSp>
        <p:nvCxnSpPr>
          <p:cNvPr id="23" name="Straight Connector 22"/>
          <p:cNvCxnSpPr/>
          <p:nvPr/>
        </p:nvCxnSpPr>
        <p:spPr>
          <a:xfrm>
            <a:off x="2165684" y="1540042"/>
            <a:ext cx="0" cy="1427747"/>
          </a:xfrm>
          <a:prstGeom prst="line">
            <a:avLst/>
          </a:prstGeom>
        </p:spPr>
        <p:style>
          <a:lnRef idx="1">
            <a:schemeClr val="accent6"/>
          </a:lnRef>
          <a:fillRef idx="0">
            <a:schemeClr val="accent6"/>
          </a:fillRef>
          <a:effectRef idx="0">
            <a:schemeClr val="accent6"/>
          </a:effectRef>
          <a:fontRef idx="minor">
            <a:schemeClr val="tx1"/>
          </a:fontRef>
        </p:style>
      </p:cxnSp>
      <p:sp>
        <p:nvSpPr>
          <p:cNvPr id="24" name="Rectangle 23"/>
          <p:cNvSpPr/>
          <p:nvPr/>
        </p:nvSpPr>
        <p:spPr>
          <a:xfrm>
            <a:off x="5173579" y="3970421"/>
            <a:ext cx="1155031" cy="141170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Server</a:t>
            </a:r>
            <a:endParaRPr lang="en-IN" dirty="0"/>
          </a:p>
          <a:p>
            <a:pPr algn="ctr"/>
            <a:endParaRPr lang="en-US" dirty="0"/>
          </a:p>
        </p:txBody>
      </p:sp>
      <p:cxnSp>
        <p:nvCxnSpPr>
          <p:cNvPr id="25" name="Straight Connector 24"/>
          <p:cNvCxnSpPr/>
          <p:nvPr/>
        </p:nvCxnSpPr>
        <p:spPr>
          <a:xfrm flipV="1">
            <a:off x="5173579" y="3697705"/>
            <a:ext cx="320842" cy="272716"/>
          </a:xfrm>
          <a:prstGeom prst="line">
            <a:avLst/>
          </a:prstGeom>
        </p:spPr>
        <p:style>
          <a:lnRef idx="1">
            <a:schemeClr val="accent6"/>
          </a:lnRef>
          <a:fillRef idx="0">
            <a:schemeClr val="accent6"/>
          </a:fillRef>
          <a:effectRef idx="0">
            <a:schemeClr val="accent6"/>
          </a:effectRef>
          <a:fontRef idx="minor">
            <a:schemeClr val="tx1"/>
          </a:fontRef>
        </p:style>
      </p:cxnSp>
      <p:cxnSp>
        <p:nvCxnSpPr>
          <p:cNvPr id="26" name="Straight Connector 25"/>
          <p:cNvCxnSpPr/>
          <p:nvPr/>
        </p:nvCxnSpPr>
        <p:spPr>
          <a:xfrm>
            <a:off x="5494421" y="3697705"/>
            <a:ext cx="1138989"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27" name="Straight Connector 26"/>
          <p:cNvCxnSpPr/>
          <p:nvPr/>
        </p:nvCxnSpPr>
        <p:spPr>
          <a:xfrm flipV="1">
            <a:off x="6328610" y="3713747"/>
            <a:ext cx="304800" cy="272716"/>
          </a:xfrm>
          <a:prstGeom prst="line">
            <a:avLst/>
          </a:prstGeom>
        </p:spPr>
        <p:style>
          <a:lnRef idx="1">
            <a:schemeClr val="accent6"/>
          </a:lnRef>
          <a:fillRef idx="0">
            <a:schemeClr val="accent6"/>
          </a:fillRef>
          <a:effectRef idx="0">
            <a:schemeClr val="accent6"/>
          </a:effectRef>
          <a:fontRef idx="minor">
            <a:schemeClr val="tx1"/>
          </a:fontRef>
        </p:style>
      </p:cxnSp>
      <p:sp>
        <p:nvSpPr>
          <p:cNvPr id="28" name="Rectangle 27"/>
          <p:cNvSpPr/>
          <p:nvPr/>
        </p:nvSpPr>
        <p:spPr>
          <a:xfrm>
            <a:off x="9518206" y="1812758"/>
            <a:ext cx="1155031" cy="141170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Remote User</a:t>
            </a:r>
            <a:endParaRPr lang="en-IN" dirty="0"/>
          </a:p>
        </p:txBody>
      </p:sp>
      <p:cxnSp>
        <p:nvCxnSpPr>
          <p:cNvPr id="29" name="Straight Connector 28"/>
          <p:cNvCxnSpPr/>
          <p:nvPr/>
        </p:nvCxnSpPr>
        <p:spPr>
          <a:xfrm flipV="1">
            <a:off x="9518205" y="1540042"/>
            <a:ext cx="320842" cy="272716"/>
          </a:xfrm>
          <a:prstGeom prst="line">
            <a:avLst/>
          </a:prstGeom>
        </p:spPr>
        <p:style>
          <a:lnRef idx="1">
            <a:schemeClr val="accent6"/>
          </a:lnRef>
          <a:fillRef idx="0">
            <a:schemeClr val="accent6"/>
          </a:fillRef>
          <a:effectRef idx="0">
            <a:schemeClr val="accent6"/>
          </a:effectRef>
          <a:fontRef idx="minor">
            <a:schemeClr val="tx1"/>
          </a:fontRef>
        </p:style>
      </p:cxnSp>
      <p:cxnSp>
        <p:nvCxnSpPr>
          <p:cNvPr id="30" name="Straight Connector 29"/>
          <p:cNvCxnSpPr/>
          <p:nvPr/>
        </p:nvCxnSpPr>
        <p:spPr>
          <a:xfrm>
            <a:off x="9839047" y="1540042"/>
            <a:ext cx="1138989"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31" name="Straight Connector 30"/>
          <p:cNvCxnSpPr/>
          <p:nvPr/>
        </p:nvCxnSpPr>
        <p:spPr>
          <a:xfrm flipV="1">
            <a:off x="10673237" y="1540042"/>
            <a:ext cx="304800" cy="272716"/>
          </a:xfrm>
          <a:prstGeom prst="line">
            <a:avLst/>
          </a:prstGeom>
        </p:spPr>
        <p:style>
          <a:lnRef idx="1">
            <a:schemeClr val="accent6"/>
          </a:lnRef>
          <a:fillRef idx="0">
            <a:schemeClr val="accent6"/>
          </a:fillRef>
          <a:effectRef idx="0">
            <a:schemeClr val="accent6"/>
          </a:effectRef>
          <a:fontRef idx="minor">
            <a:schemeClr val="tx1"/>
          </a:fontRef>
        </p:style>
      </p:cxnSp>
      <p:cxnSp>
        <p:nvCxnSpPr>
          <p:cNvPr id="32" name="Straight Connector 31"/>
          <p:cNvCxnSpPr/>
          <p:nvPr/>
        </p:nvCxnSpPr>
        <p:spPr>
          <a:xfrm>
            <a:off x="10978036" y="1540041"/>
            <a:ext cx="0" cy="1427747"/>
          </a:xfrm>
          <a:prstGeom prst="line">
            <a:avLst/>
          </a:prstGeom>
        </p:spPr>
        <p:style>
          <a:lnRef idx="1">
            <a:schemeClr val="accent6"/>
          </a:lnRef>
          <a:fillRef idx="0">
            <a:schemeClr val="accent6"/>
          </a:fillRef>
          <a:effectRef idx="0">
            <a:schemeClr val="accent6"/>
          </a:effectRef>
          <a:fontRef idx="minor">
            <a:schemeClr val="tx1"/>
          </a:fontRef>
        </p:style>
      </p:cxnSp>
      <p:cxnSp>
        <p:nvCxnSpPr>
          <p:cNvPr id="33" name="Straight Connector 32"/>
          <p:cNvCxnSpPr/>
          <p:nvPr/>
        </p:nvCxnSpPr>
        <p:spPr>
          <a:xfrm>
            <a:off x="6641431" y="3697705"/>
            <a:ext cx="0" cy="1427747"/>
          </a:xfrm>
          <a:prstGeom prst="line">
            <a:avLst/>
          </a:prstGeom>
        </p:spPr>
        <p:style>
          <a:lnRef idx="1">
            <a:schemeClr val="accent6"/>
          </a:lnRef>
          <a:fillRef idx="0">
            <a:schemeClr val="accent6"/>
          </a:fillRef>
          <a:effectRef idx="0">
            <a:schemeClr val="accent6"/>
          </a:effectRef>
          <a:fontRef idx="minor">
            <a:schemeClr val="tx1"/>
          </a:fontRef>
        </p:style>
      </p:cxnSp>
      <p:cxnSp>
        <p:nvCxnSpPr>
          <p:cNvPr id="34" name="Straight Connector 33"/>
          <p:cNvCxnSpPr/>
          <p:nvPr/>
        </p:nvCxnSpPr>
        <p:spPr>
          <a:xfrm flipV="1">
            <a:off x="6328610" y="5125452"/>
            <a:ext cx="304800" cy="272716"/>
          </a:xfrm>
          <a:prstGeom prst="line">
            <a:avLst/>
          </a:prstGeom>
        </p:spPr>
        <p:style>
          <a:lnRef idx="1">
            <a:schemeClr val="accent6"/>
          </a:lnRef>
          <a:fillRef idx="0">
            <a:schemeClr val="accent6"/>
          </a:fillRef>
          <a:effectRef idx="0">
            <a:schemeClr val="accent6"/>
          </a:effectRef>
          <a:fontRef idx="minor">
            <a:schemeClr val="tx1"/>
          </a:fontRef>
        </p:style>
      </p:cxnSp>
      <p:cxnSp>
        <p:nvCxnSpPr>
          <p:cNvPr id="35" name="Straight Connector 34"/>
          <p:cNvCxnSpPr/>
          <p:nvPr/>
        </p:nvCxnSpPr>
        <p:spPr>
          <a:xfrm flipV="1">
            <a:off x="10673236" y="2951747"/>
            <a:ext cx="304800" cy="272716"/>
          </a:xfrm>
          <a:prstGeom prst="line">
            <a:avLst/>
          </a:prstGeom>
        </p:spPr>
        <p:style>
          <a:lnRef idx="1">
            <a:schemeClr val="accent6"/>
          </a:lnRef>
          <a:fillRef idx="0">
            <a:schemeClr val="accent6"/>
          </a:fillRef>
          <a:effectRef idx="0">
            <a:schemeClr val="accent6"/>
          </a:effectRef>
          <a:fontRef idx="minor">
            <a:schemeClr val="tx1"/>
          </a:fontRef>
        </p:style>
      </p:cxnSp>
      <p:cxnSp>
        <p:nvCxnSpPr>
          <p:cNvPr id="37" name="Straight Connector 36"/>
          <p:cNvCxnSpPr>
            <a:endCxn id="24" idx="1"/>
          </p:cNvCxnSpPr>
          <p:nvPr/>
        </p:nvCxnSpPr>
        <p:spPr>
          <a:xfrm>
            <a:off x="2165684" y="2374232"/>
            <a:ext cx="3007895" cy="2302042"/>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p:cNvCxnSpPr>
            <a:endCxn id="28" idx="1"/>
          </p:cNvCxnSpPr>
          <p:nvPr/>
        </p:nvCxnSpPr>
        <p:spPr>
          <a:xfrm flipV="1">
            <a:off x="6641431" y="2518611"/>
            <a:ext cx="2876775" cy="2021305"/>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2718" y="464406"/>
            <a:ext cx="9286993" cy="837046"/>
          </a:xfrm>
        </p:spPr>
        <p:txBody>
          <a:bodyPr>
            <a:normAutofit/>
          </a:bodyPr>
          <a:lstStyle/>
          <a:p>
            <a:pPr marL="0" indent="0" algn="ctr">
              <a:buNone/>
            </a:pPr>
            <a:r>
              <a:rPr lang="en-IN" sz="3200" b="1" dirty="0">
                <a:solidFill>
                  <a:srgbClr val="6666FF"/>
                </a:solidFill>
              </a:rPr>
              <a:t>IMPLEMENTATION</a:t>
            </a:r>
            <a:endParaRPr lang="en-IN" sz="3200" b="1" dirty="0">
              <a:solidFill>
                <a:srgbClr val="6666FF"/>
              </a:solidFill>
            </a:endParaRPr>
          </a:p>
        </p:txBody>
      </p:sp>
      <p:sp>
        <p:nvSpPr>
          <p:cNvPr id="5" name="TextBox 4"/>
          <p:cNvSpPr txBox="1"/>
          <p:nvPr/>
        </p:nvSpPr>
        <p:spPr>
          <a:xfrm>
            <a:off x="1394013" y="4820314"/>
            <a:ext cx="7995573" cy="1573280"/>
          </a:xfrm>
          <a:prstGeom prst="rect">
            <a:avLst/>
          </a:prstGeom>
          <a:noFill/>
        </p:spPr>
        <p:txBody>
          <a:bodyPr wrap="square" rtlCol="0">
            <a:spAutoFit/>
          </a:bodyPr>
          <a:lstStyle/>
          <a:p>
            <a:pPr algn="just"/>
            <a:endParaRPr lang="en-US" sz="1600"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551330" y="1636636"/>
            <a:ext cx="902297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tensorflow</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as</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tf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keras.applications</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Xception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keras.layers</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Dense, GlobalAveragePooling2D, Dropout, </a:t>
            </a:r>
            <a:r>
              <a:rPr kumimoji="0" lang="en-US" altLang="en-US" sz="16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BatchNormalization,Flatten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keras.models</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Model</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keras.optimizers</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RMSprop</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keras.callbacks</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ReduceLROnPlateau</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EarlyStopping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tensorflow</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as</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tf</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os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tensorflow.keras.preprocessing.image</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ImageDataGenerator</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tensorflow.keras</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layers, models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matplotlib.pyplot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as</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plt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numpy</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as</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np</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sklearn.model_selection</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train_test_split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tensorflow</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keras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sklearn</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preprocessing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keras.utils</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kumimoji="0" lang="en-US" altLang="en-US" sz="1600" b="0" i="0" u="none" strike="noStrike" cap="none" normalizeH="0" baseline="0" dirty="0">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to_categorical</a:t>
            </a: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8743" y="129192"/>
            <a:ext cx="9286993" cy="837046"/>
          </a:xfrm>
        </p:spPr>
        <p:txBody>
          <a:bodyPr>
            <a:normAutofit/>
          </a:bodyPr>
          <a:lstStyle/>
          <a:p>
            <a:pPr marL="0" indent="0" algn="ctr">
              <a:buNone/>
            </a:pPr>
            <a:r>
              <a:rPr lang="en-IN" sz="3200" b="1" dirty="0">
                <a:solidFill>
                  <a:srgbClr val="6666FF"/>
                </a:solidFill>
              </a:rPr>
              <a:t>IMPLEMENTATION</a:t>
            </a:r>
            <a:endParaRPr lang="en-IN" sz="3200" b="1" dirty="0">
              <a:solidFill>
                <a:srgbClr val="6666FF"/>
              </a:solidFill>
            </a:endParaRPr>
          </a:p>
        </p:txBody>
      </p:sp>
      <p:sp>
        <p:nvSpPr>
          <p:cNvPr id="5" name="TextBox 4"/>
          <p:cNvSpPr txBox="1"/>
          <p:nvPr/>
        </p:nvSpPr>
        <p:spPr>
          <a:xfrm>
            <a:off x="1394013" y="4820314"/>
            <a:ext cx="7995573" cy="1573280"/>
          </a:xfrm>
          <a:prstGeom prst="rect">
            <a:avLst/>
          </a:prstGeom>
          <a:noFill/>
        </p:spPr>
        <p:txBody>
          <a:bodyPr wrap="square" rtlCol="0">
            <a:spAutoFit/>
          </a:bodyPr>
          <a:lstStyle/>
          <a:p>
            <a:pPr algn="just"/>
            <a:endParaRPr lang="en-US" sz="1600"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474763" y="1070143"/>
            <a:ext cx="9022976" cy="5591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9pPr>
          </a:lstStyle>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i="1" dirty="0">
                <a:solidFill>
                  <a:srgbClr val="408080"/>
                </a:solidFill>
                <a:effectLst/>
                <a:latin typeface="Times New Roman" panose="02020603050405020304" pitchFamily="18" charset="0"/>
                <a:ea typeface="Times New Roman" panose="02020603050405020304" pitchFamily="18" charset="0"/>
                <a:cs typeface="Times New Roman" panose="02020603050405020304" pitchFamily="18" charset="0"/>
              </a:rPr>
              <a:t># Set your data directories and parameters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train_data_dir</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BA2121"/>
                </a:solidFill>
                <a:effectLst/>
                <a:latin typeface="Times New Roman" panose="02020603050405020304" pitchFamily="18" charset="0"/>
                <a:ea typeface="Times New Roman" panose="02020603050405020304" pitchFamily="18" charset="0"/>
                <a:cs typeface="Times New Roman" panose="02020603050405020304" pitchFamily="18" charset="0"/>
              </a:rPr>
              <a:t>r'D</a:t>
            </a:r>
            <a:r>
              <a:rPr lang="en-IN" sz="1600" dirty="0">
                <a:solidFill>
                  <a:srgbClr val="BA2121"/>
                </a:solidFill>
                <a:effectLst/>
                <a:latin typeface="Times New Roman" panose="02020603050405020304" pitchFamily="18" charset="0"/>
                <a:ea typeface="Times New Roman" panose="02020603050405020304" pitchFamily="18" charset="0"/>
                <a:cs typeface="Times New Roman" panose="02020603050405020304" pitchFamily="18" charset="0"/>
              </a:rPr>
              <a:t>:\new project\New folder (7)\NEW_DATASET\train'</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test_data_dir</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BA2121"/>
                </a:solidFill>
                <a:effectLst/>
                <a:latin typeface="Times New Roman" panose="02020603050405020304" pitchFamily="18" charset="0"/>
                <a:ea typeface="Times New Roman" panose="02020603050405020304" pitchFamily="18" charset="0"/>
                <a:cs typeface="Times New Roman" panose="02020603050405020304" pitchFamily="18" charset="0"/>
              </a:rPr>
              <a:t>r'D</a:t>
            </a:r>
            <a:r>
              <a:rPr lang="en-IN" sz="1600" dirty="0">
                <a:solidFill>
                  <a:srgbClr val="BA2121"/>
                </a:solidFill>
                <a:effectLst/>
                <a:latin typeface="Times New Roman" panose="02020603050405020304" pitchFamily="18" charset="0"/>
                <a:ea typeface="Times New Roman" panose="02020603050405020304" pitchFamily="18" charset="0"/>
                <a:cs typeface="Times New Roman" panose="02020603050405020304" pitchFamily="18" charset="0"/>
              </a:rPr>
              <a:t>:\new project\New folder (7)\NEW_DATASET\test'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48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val_data_dir</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BA2121"/>
                </a:solidFill>
                <a:effectLst/>
                <a:latin typeface="Times New Roman" panose="02020603050405020304" pitchFamily="18" charset="0"/>
                <a:ea typeface="Times New Roman" panose="02020603050405020304" pitchFamily="18" charset="0"/>
                <a:cs typeface="Times New Roman" panose="02020603050405020304" pitchFamily="18" charset="0"/>
              </a:rPr>
              <a:t>r'D</a:t>
            </a:r>
            <a:r>
              <a:rPr lang="en-IN" sz="1600" dirty="0">
                <a:solidFill>
                  <a:srgbClr val="BA2121"/>
                </a:solidFill>
                <a:effectLst/>
                <a:latin typeface="Times New Roman" panose="02020603050405020304" pitchFamily="18" charset="0"/>
                <a:ea typeface="Times New Roman" panose="02020603050405020304" pitchFamily="18" charset="0"/>
                <a:cs typeface="Times New Roman" panose="02020603050405020304" pitchFamily="18" charset="0"/>
              </a:rPr>
              <a:t>:\new project\New folder (7)\NEW_DATASET\validation'</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r">
              <a:lnSpc>
                <a:spcPts val="1455"/>
              </a:lnSpc>
              <a:spcAft>
                <a:spcPts val="1000"/>
              </a:spcAft>
            </a:pPr>
            <a:r>
              <a:rPr lang="en-IN" sz="1600" dirty="0">
                <a:solidFill>
                  <a:srgbClr val="303F9F"/>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i="1" dirty="0">
                <a:solidFill>
                  <a:srgbClr val="408080"/>
                </a:solidFill>
                <a:effectLst/>
                <a:latin typeface="Times New Roman" panose="02020603050405020304" pitchFamily="18" charset="0"/>
                <a:ea typeface="Times New Roman" panose="02020603050405020304" pitchFamily="18" charset="0"/>
                <a:cs typeface="Times New Roman" panose="02020603050405020304" pitchFamily="18" charset="0"/>
              </a:rPr>
              <a:t># Data augmentation for training</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train_datagen</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ImageDataGenerator</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rescale</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=1.0/255</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rotation_range</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=45</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width_shift_range</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=0.2</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height_shift_range</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=0.2</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horizontal_flip</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b="1"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True</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vertical_flip</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b="1"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True</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zoom_range</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=0.2</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fill_mode</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BA2121"/>
                </a:solidFill>
                <a:effectLst/>
                <a:latin typeface="Times New Roman" panose="02020603050405020304" pitchFamily="18" charset="0"/>
                <a:ea typeface="Times New Roman" panose="02020603050405020304" pitchFamily="18" charset="0"/>
                <a:cs typeface="Times New Roman" panose="02020603050405020304" pitchFamily="18" charset="0"/>
              </a:rPr>
              <a:t>'nearest'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2503" y="0"/>
            <a:ext cx="9286993" cy="657219"/>
          </a:xfrm>
        </p:spPr>
        <p:txBody>
          <a:bodyPr>
            <a:normAutofit/>
          </a:bodyPr>
          <a:lstStyle/>
          <a:p>
            <a:pPr marL="0" indent="0" algn="ctr">
              <a:buNone/>
            </a:pPr>
            <a:r>
              <a:rPr lang="en-IN" sz="3200" b="1" dirty="0">
                <a:solidFill>
                  <a:srgbClr val="6666FF"/>
                </a:solidFill>
              </a:rPr>
              <a:t>IMPLEMENTATION</a:t>
            </a:r>
            <a:endParaRPr lang="en-IN" sz="3200" b="1" dirty="0">
              <a:solidFill>
                <a:srgbClr val="6666FF"/>
              </a:solidFill>
            </a:endParaRPr>
          </a:p>
        </p:txBody>
      </p:sp>
      <p:sp>
        <p:nvSpPr>
          <p:cNvPr id="5" name="TextBox 4"/>
          <p:cNvSpPr txBox="1"/>
          <p:nvPr/>
        </p:nvSpPr>
        <p:spPr>
          <a:xfrm>
            <a:off x="1394013" y="4820314"/>
            <a:ext cx="7995573" cy="1573280"/>
          </a:xfrm>
          <a:prstGeom prst="rect">
            <a:avLst/>
          </a:prstGeom>
          <a:noFill/>
        </p:spPr>
        <p:txBody>
          <a:bodyPr wrap="square" rtlCol="0">
            <a:spAutoFit/>
          </a:bodyPr>
          <a:lstStyle/>
          <a:p>
            <a:pPr algn="just"/>
            <a:endParaRPr lang="en-US" sz="1600"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484094" y="759856"/>
            <a:ext cx="9022976" cy="6604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9pPr>
          </a:lstStyle>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b="1"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b="1" dirty="0" err="1">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matplotlib.pyplot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b="1"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as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b="1" dirty="0" err="1">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plt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b="1"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b="1"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seaborn</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b="1"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as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b="1" dirty="0" err="1">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sns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b="1"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b="1" dirty="0" err="1">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numpy</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b="1"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as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b="1"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np</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b="1"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b="1"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pandas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b="1"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as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b="1"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pd</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i="1" dirty="0">
                <a:solidFill>
                  <a:srgbClr val="408080"/>
                </a:solidFill>
                <a:effectLst/>
                <a:latin typeface="Times New Roman" panose="02020603050405020304" pitchFamily="18" charset="0"/>
                <a:ea typeface="Times New Roman" panose="02020603050405020304" pitchFamily="18" charset="0"/>
                <a:cs typeface="Times New Roman" panose="02020603050405020304" pitchFamily="18" charset="0"/>
              </a:rPr>
              <a:t># Make Predictions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y_pred</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final</a:t>
            </a:r>
            <a:r>
              <a:rPr lang="en-IN" sz="1600" dirty="0" err="1">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predict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test_generator</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dirty="0">
                <a:solidFill>
                  <a:srgbClr val="408080"/>
                </a:solidFill>
                <a:effectLst/>
                <a:latin typeface="Times New Roman" panose="02020603050405020304" pitchFamily="18" charset="0"/>
                <a:ea typeface="Times New Roman" panose="02020603050405020304" pitchFamily="18" charset="0"/>
                <a:cs typeface="Times New Roman" panose="02020603050405020304" pitchFamily="18" charset="0"/>
              </a:rPr>
              <a:t># Convert Predictions and True Labels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y_pred_classes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np</a:t>
            </a:r>
            <a:r>
              <a:rPr lang="en-IN" sz="1600" dirty="0" err="1">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argmax</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y_pred</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axis</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y_true_classes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test_generator</a:t>
            </a:r>
            <a:r>
              <a:rPr lang="en-IN" sz="1600" dirty="0" err="1">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classes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dirty="0">
                <a:solidFill>
                  <a:srgbClr val="408080"/>
                </a:solidFill>
                <a:effectLst/>
                <a:latin typeface="Times New Roman" panose="02020603050405020304" pitchFamily="18" charset="0"/>
                <a:ea typeface="Times New Roman" panose="02020603050405020304" pitchFamily="18" charset="0"/>
                <a:cs typeface="Times New Roman" panose="02020603050405020304" pitchFamily="18" charset="0"/>
              </a:rPr>
              <a:t># Create the Confusion Matrix</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cm </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confusion_matrix</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y_true_classes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y_pred_classes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dirty="0">
                <a:solidFill>
                  <a:srgbClr val="408080"/>
                </a:solidFill>
                <a:effectLst/>
                <a:latin typeface="Times New Roman" panose="02020603050405020304" pitchFamily="18" charset="0"/>
                <a:ea typeface="Times New Roman" panose="02020603050405020304" pitchFamily="18" charset="0"/>
                <a:cs typeface="Times New Roman" panose="02020603050405020304" pitchFamily="18" charset="0"/>
              </a:rPr>
              <a:t># Create a dictionary to map class indices to class names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class_indices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test_generator</a:t>
            </a:r>
            <a:r>
              <a:rPr lang="en-IN" sz="1600" dirty="0" err="1">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class_indices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class_names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{v: k </a:t>
            </a:r>
            <a:r>
              <a:rPr lang="en-IN" sz="1600" b="1"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for</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k, v </a:t>
            </a:r>
            <a:r>
              <a:rPr lang="en-IN" sz="1600" b="1" dirty="0">
                <a:solidFill>
                  <a:srgbClr val="AA22FF"/>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class_indices</a:t>
            </a:r>
            <a:r>
              <a:rPr lang="en-IN" sz="1600" dirty="0" err="1">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items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i="1" dirty="0">
                <a:solidFill>
                  <a:srgbClr val="408080"/>
                </a:solidFill>
                <a:effectLst/>
                <a:latin typeface="Times New Roman" panose="02020603050405020304" pitchFamily="18" charset="0"/>
                <a:ea typeface="Times New Roman" panose="02020603050405020304" pitchFamily="18" charset="0"/>
                <a:cs typeface="Times New Roman" panose="02020603050405020304" pitchFamily="18" charset="0"/>
              </a:rPr>
              <a:t># Calculate precision, recall, and F1 score for each class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precision </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precision_score</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y_true_classes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y_pred_classes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average</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b="1"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None</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recall </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recall_score</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y_true_classes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y_pred_classes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average</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b="1"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None</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f1 </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f1_score(</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y_true_classes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y_pred_classes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average</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b="1"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None</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IN" sz="3200" b="1" dirty="0">
                <a:solidFill>
                  <a:srgbClr val="6666FF"/>
                </a:solidFill>
              </a:rPr>
              <a:t>IMPLEMENTATION</a:t>
            </a:r>
            <a:endParaRPr lang="en-IN" sz="3200" b="1" dirty="0">
              <a:solidFill>
                <a:srgbClr val="6666FF"/>
              </a:solidFill>
            </a:endParaRPr>
          </a:p>
        </p:txBody>
      </p:sp>
      <p:sp>
        <p:nvSpPr>
          <p:cNvPr id="5" name="TextBox 4"/>
          <p:cNvSpPr txBox="1"/>
          <p:nvPr/>
        </p:nvSpPr>
        <p:spPr>
          <a:xfrm>
            <a:off x="1394013" y="4820314"/>
            <a:ext cx="7995573" cy="1573280"/>
          </a:xfrm>
          <a:prstGeom prst="rect">
            <a:avLst/>
          </a:prstGeom>
          <a:noFill/>
        </p:spPr>
        <p:txBody>
          <a:bodyPr wrap="square" rtlCol="0">
            <a:spAutoFit/>
          </a:bodyPr>
          <a:lstStyle/>
          <a:p>
            <a:pPr algn="just"/>
            <a:endParaRPr lang="en-US" sz="1600"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366610" y="1569516"/>
            <a:ext cx="9022976" cy="37189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9pPr>
          </a:lstStyle>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i="1" dirty="0">
                <a:solidFill>
                  <a:srgbClr val="408080"/>
                </a:solidFill>
                <a:effectLst/>
                <a:latin typeface="Times New Roman" panose="02020603050405020304" pitchFamily="18" charset="0"/>
                <a:ea typeface="Times New Roman" panose="02020603050405020304" pitchFamily="18" charset="0"/>
                <a:cs typeface="Times New Roman" panose="02020603050405020304" pitchFamily="18" charset="0"/>
              </a:rPr>
              <a:t># Visualize the Confusion Matrix</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plt</a:t>
            </a:r>
            <a:r>
              <a:rPr lang="en-IN" sz="1600" dirty="0" err="1">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figure</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figsize</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10</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8</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sns</a:t>
            </a:r>
            <a:r>
              <a:rPr lang="en-IN" sz="1600" dirty="0" err="1">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heatmap</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(cm,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annot</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b="1" dirty="0">
                <a:solidFill>
                  <a:srgbClr val="008000"/>
                </a:solidFill>
                <a:effectLst/>
                <a:latin typeface="Times New Roman" panose="02020603050405020304" pitchFamily="18" charset="0"/>
                <a:ea typeface="Times New Roman" panose="02020603050405020304" pitchFamily="18" charset="0"/>
                <a:cs typeface="Times New Roman" panose="02020603050405020304" pitchFamily="18" charset="0"/>
              </a:rPr>
              <a:t>True</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fmt</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BA2121"/>
                </a:solidFill>
                <a:effectLst/>
                <a:latin typeface="Times New Roman" panose="02020603050405020304" pitchFamily="18" charset="0"/>
                <a:ea typeface="Times New Roman" panose="02020603050405020304" pitchFamily="18" charset="0"/>
                <a:cs typeface="Times New Roman" panose="02020603050405020304" pitchFamily="18" charset="0"/>
              </a:rPr>
              <a:t>'d'</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cmap</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BA2121"/>
                </a:solidFill>
                <a:effectLst/>
                <a:latin typeface="Times New Roman" panose="02020603050405020304" pitchFamily="18" charset="0"/>
                <a:ea typeface="Times New Roman" panose="02020603050405020304" pitchFamily="18" charset="0"/>
                <a:cs typeface="Times New Roman" panose="02020603050405020304" pitchFamily="18" charset="0"/>
              </a:rPr>
              <a:t>'Blues'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xticklabels</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test_generator</a:t>
            </a:r>
            <a:r>
              <a:rPr lang="en-IN" sz="1600" dirty="0" err="1">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class_indices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yticklabels</a:t>
            </a:r>
            <a:r>
              <a:rPr lang="en-IN" sz="1600" dirty="0">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test_generator</a:t>
            </a:r>
            <a:r>
              <a:rPr lang="en-IN" sz="1600" dirty="0" err="1">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class_indices</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plt</a:t>
            </a:r>
            <a:r>
              <a:rPr lang="en-IN" sz="1600" dirty="0" err="1">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xlabel</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BA2121"/>
                </a:solidFill>
                <a:effectLst/>
                <a:latin typeface="Times New Roman" panose="02020603050405020304" pitchFamily="18" charset="0"/>
                <a:ea typeface="Times New Roman" panose="02020603050405020304" pitchFamily="18" charset="0"/>
                <a:cs typeface="Times New Roman" panose="02020603050405020304" pitchFamily="18" charset="0"/>
              </a:rPr>
              <a:t>'Predicted'</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plt</a:t>
            </a:r>
            <a:r>
              <a:rPr lang="en-IN" sz="1600" dirty="0" err="1">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ylabel</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BA2121"/>
                </a:solidFill>
                <a:effectLst/>
                <a:latin typeface="Times New Roman" panose="02020603050405020304" pitchFamily="18" charset="0"/>
                <a:ea typeface="Times New Roman" panose="02020603050405020304" pitchFamily="18" charset="0"/>
                <a:cs typeface="Times New Roman" panose="02020603050405020304" pitchFamily="18" charset="0"/>
              </a:rPr>
              <a:t>'True'</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plt</a:t>
            </a:r>
            <a:r>
              <a:rPr lang="en-IN" sz="1600" dirty="0" err="1">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title</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a:solidFill>
                  <a:srgbClr val="BA2121"/>
                </a:solidFill>
                <a:effectLst/>
                <a:latin typeface="Times New Roman" panose="02020603050405020304" pitchFamily="18" charset="0"/>
                <a:ea typeface="Times New Roman" panose="02020603050405020304" pitchFamily="18" charset="0"/>
                <a:cs typeface="Times New Roman" panose="02020603050405020304" pitchFamily="18" charset="0"/>
              </a:rPr>
              <a:t>'Confusion Matrix'</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plt</a:t>
            </a:r>
            <a:r>
              <a:rPr lang="en-IN" sz="1600" dirty="0" err="1">
                <a:solidFill>
                  <a:srgbClr val="666666"/>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6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show</a:t>
            </a: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atinLnBrk="1">
              <a:lnSpc>
                <a:spcPts val="1455"/>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8302" y="900692"/>
            <a:ext cx="9286993" cy="837046"/>
          </a:xfrm>
        </p:spPr>
        <p:txBody>
          <a:bodyPr>
            <a:normAutofit/>
          </a:bodyPr>
          <a:lstStyle/>
          <a:p>
            <a:pPr marL="0" indent="0" algn="ctr">
              <a:buNone/>
            </a:pPr>
            <a:r>
              <a:rPr lang="en-IN" sz="3200" b="1" dirty="0">
                <a:solidFill>
                  <a:srgbClr val="6666FF"/>
                </a:solidFill>
              </a:rPr>
              <a:t>TESTING</a:t>
            </a:r>
            <a:endParaRPr lang="en-IN" sz="3200" b="1" dirty="0">
              <a:solidFill>
                <a:srgbClr val="6666FF"/>
              </a:solidFill>
            </a:endParaRPr>
          </a:p>
        </p:txBody>
      </p:sp>
      <p:sp>
        <p:nvSpPr>
          <p:cNvPr id="3" name="Rectangle 1"/>
          <p:cNvSpPr>
            <a:spLocks noChangeArrowheads="1"/>
          </p:cNvSpPr>
          <p:nvPr/>
        </p:nvSpPr>
        <p:spPr bwMode="auto">
          <a:xfrm>
            <a:off x="366610" y="2274837"/>
            <a:ext cx="1141301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9pPr>
          </a:lstStyle>
          <a:p>
            <a:pPr algn="just"/>
            <a:r>
              <a:rPr lang="en-US" dirty="0">
                <a:solidFill>
                  <a:srgbClr val="000099"/>
                </a:solidFill>
                <a:latin typeface="Times New Roman" panose="02020603050405020304" pitchFamily="18" charset="0"/>
                <a:cs typeface="Times New Roman" panose="02020603050405020304" pitchFamily="18" charset="0"/>
              </a:rPr>
              <a:t>The Testing phase plays a crucial role in ensuring the reliability and effectiveness of the system. The Testing approach encompasses various key aspects aimed at validating the system's performance, security, and functionality.</a:t>
            </a:r>
            <a:endParaRPr lang="en-US" dirty="0">
              <a:solidFill>
                <a:srgbClr val="000099"/>
              </a:solidFill>
              <a:latin typeface="Times New Roman" panose="02020603050405020304" pitchFamily="18" charset="0"/>
              <a:cs typeface="Times New Roman" panose="02020603050405020304" pitchFamily="18" charset="0"/>
            </a:endParaRPr>
          </a:p>
          <a:p>
            <a:pPr algn="just"/>
            <a:endParaRPr lang="en-US" dirty="0">
              <a:solidFill>
                <a:srgbClr val="000099"/>
              </a:solidFill>
              <a:latin typeface="Times New Roman" panose="02020603050405020304" pitchFamily="18" charset="0"/>
              <a:cs typeface="Times New Roman" panose="02020603050405020304" pitchFamily="18" charset="0"/>
            </a:endParaRPr>
          </a:p>
          <a:p>
            <a:pPr algn="just"/>
            <a:r>
              <a:rPr lang="en-US" sz="2400" b="1" dirty="0">
                <a:solidFill>
                  <a:srgbClr val="C00000"/>
                </a:solidFill>
                <a:latin typeface="Times New Roman" panose="02020603050405020304" pitchFamily="18" charset="0"/>
                <a:cs typeface="Times New Roman" panose="02020603050405020304" pitchFamily="18" charset="0"/>
              </a:rPr>
              <a:t>Testing Objectives:</a:t>
            </a:r>
            <a:endParaRPr lang="en-US" b="1" dirty="0">
              <a:solidFill>
                <a:srgbClr val="C00000"/>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dirty="0">
                <a:solidFill>
                  <a:srgbClr val="000099"/>
                </a:solidFill>
                <a:latin typeface="Times New Roman" panose="02020603050405020304" pitchFamily="18" charset="0"/>
                <a:cs typeface="Times New Roman" panose="02020603050405020304" pitchFamily="18" charset="0"/>
              </a:rPr>
              <a:t>Verify the uniqueness and immutability of product identifiers generated using the system.</a:t>
            </a:r>
            <a:endParaRPr lang="en-US" dirty="0">
              <a:solidFill>
                <a:srgbClr val="000099"/>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dirty="0">
                <a:solidFill>
                  <a:srgbClr val="000099"/>
                </a:solidFill>
                <a:latin typeface="Times New Roman" panose="02020603050405020304" pitchFamily="18" charset="0"/>
                <a:cs typeface="Times New Roman" panose="02020603050405020304" pitchFamily="18" charset="0"/>
              </a:rPr>
              <a:t>Testing various data type while inputting the data.</a:t>
            </a:r>
            <a:endParaRPr lang="en-US" dirty="0">
              <a:solidFill>
                <a:srgbClr val="000099"/>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dirty="0">
                <a:solidFill>
                  <a:srgbClr val="000099"/>
                </a:solidFill>
                <a:latin typeface="Times New Roman" panose="02020603050405020304" pitchFamily="18" charset="0"/>
                <a:cs typeface="Times New Roman" panose="02020603050405020304" pitchFamily="18" charset="0"/>
              </a:rPr>
              <a:t>Test the system's ability to detect and reject counterfeit products.</a:t>
            </a:r>
            <a:endParaRPr lang="en-US" dirty="0">
              <a:solidFill>
                <a:srgbClr val="000099"/>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dirty="0">
                <a:solidFill>
                  <a:srgbClr val="000099"/>
                </a:solidFill>
                <a:latin typeface="Times New Roman" panose="02020603050405020304" pitchFamily="18" charset="0"/>
                <a:cs typeface="Times New Roman" panose="02020603050405020304" pitchFamily="18" charset="0"/>
              </a:rPr>
              <a:t>Assess the performance of the system under various load conditions.</a:t>
            </a:r>
            <a:endParaRPr lang="en-US" dirty="0">
              <a:solidFill>
                <a:srgbClr val="000099"/>
              </a:solidFill>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6106" y="325135"/>
            <a:ext cx="9286993" cy="837046"/>
          </a:xfrm>
        </p:spPr>
        <p:txBody>
          <a:bodyPr>
            <a:normAutofit/>
          </a:bodyPr>
          <a:lstStyle/>
          <a:p>
            <a:pPr marL="0" indent="0" algn="ctr">
              <a:buNone/>
            </a:pPr>
            <a:r>
              <a:rPr lang="en-IN" sz="3200" b="1" dirty="0">
                <a:solidFill>
                  <a:srgbClr val="6666FF"/>
                </a:solidFill>
              </a:rPr>
              <a:t>TESTING</a:t>
            </a:r>
            <a:endParaRPr lang="en-IN" sz="3200" b="1" dirty="0">
              <a:solidFill>
                <a:srgbClr val="6666FF"/>
              </a:solidFill>
            </a:endParaRPr>
          </a:p>
        </p:txBody>
      </p:sp>
      <p:sp>
        <p:nvSpPr>
          <p:cNvPr id="5" name="TextBox 4"/>
          <p:cNvSpPr txBox="1"/>
          <p:nvPr/>
        </p:nvSpPr>
        <p:spPr>
          <a:xfrm>
            <a:off x="1394013" y="4820314"/>
            <a:ext cx="7995573" cy="1573280"/>
          </a:xfrm>
          <a:prstGeom prst="rect">
            <a:avLst/>
          </a:prstGeom>
          <a:noFill/>
        </p:spPr>
        <p:txBody>
          <a:bodyPr wrap="square" rtlCol="0">
            <a:spAutoFit/>
          </a:bodyPr>
          <a:lstStyle/>
          <a:p>
            <a:pPr algn="just"/>
            <a:endParaRPr lang="en-US" sz="1600"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366610" y="1351508"/>
            <a:ext cx="11413014"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9p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rPr>
              <a:t>		To ensure the system's effectiveness and reliability, we have conducted comprehensive testing across various aspects, as detailed below:</a:t>
            </a:r>
            <a:endPar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Data Accuracy and Completeness:</a:t>
            </a:r>
            <a:endPar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rPr>
              <a:t>Test various data types (text, numbers, images) for accuracy.</a:t>
            </a:r>
            <a:endPar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rPr>
              <a:t>Verify data consistency across different access points (e.g., manufacturer, consumer).</a:t>
            </a:r>
            <a:endPar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rPr>
              <a:t>Check for missing or incomplete information that could impact trust.</a:t>
            </a:r>
            <a:endPar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endParaRPr>
          </a:p>
          <a:p>
            <a:pPr marR="0" lvl="0" algn="just" defTabSz="457200" rtl="0" eaLnBrk="1" fontAlgn="auto" latinLnBrk="0" hangingPunct="1">
              <a:lnSpc>
                <a:spcPct val="150000"/>
              </a:lnSpc>
              <a:spcBef>
                <a:spcPts val="0"/>
              </a:spcBef>
              <a:spcAft>
                <a:spcPts val="0"/>
              </a:spcAft>
              <a:buClrTx/>
              <a:buSzTx/>
              <a:defRPr/>
            </a:pPr>
            <a:r>
              <a:rPr kumimoji="0" 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User Experience (UX):</a:t>
            </a:r>
            <a:endPar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rPr>
              <a:t>Test on diverse devices with different operating systems and screen sizes.</a:t>
            </a:r>
            <a:endPar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rPr>
              <a:t>Evaluate scanning speed and success rate under various lighting conditions.</a:t>
            </a:r>
            <a:endPar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rPr>
              <a:t>Assess clarity and intuitiveness of the verification process and information display.</a:t>
            </a:r>
            <a:endPar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Performance and Scalability:</a:t>
            </a:r>
            <a:endParaRPr kumimoji="0" 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rPr>
              <a:t>Measure response times and resource utilization under load.</a:t>
            </a:r>
            <a:endPar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sz="18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rPr>
              <a:t>Evaluate system's ability to scale horizontally or vertically to meet demand.</a:t>
            </a:r>
            <a:endParaRPr kumimoji="0" lang="en-US" sz="200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832" y="903633"/>
            <a:ext cx="9286993" cy="837046"/>
          </a:xfrm>
        </p:spPr>
        <p:txBody>
          <a:bodyPr>
            <a:normAutofit/>
          </a:bodyPr>
          <a:lstStyle/>
          <a:p>
            <a:pPr marL="0" indent="0" algn="ctr">
              <a:buNone/>
            </a:pPr>
            <a:r>
              <a:rPr lang="en-IN" sz="3200" b="1" dirty="0">
                <a:solidFill>
                  <a:srgbClr val="6666FF"/>
                </a:solidFill>
              </a:rPr>
              <a:t>TESTING</a:t>
            </a:r>
            <a:endParaRPr lang="en-IN" sz="3200" b="1" dirty="0">
              <a:solidFill>
                <a:srgbClr val="6666FF"/>
              </a:solidFill>
            </a:endParaRPr>
          </a:p>
        </p:txBody>
      </p:sp>
      <p:sp>
        <p:nvSpPr>
          <p:cNvPr id="3" name="Rectangle 1"/>
          <p:cNvSpPr>
            <a:spLocks noChangeArrowheads="1"/>
          </p:cNvSpPr>
          <p:nvPr/>
        </p:nvSpPr>
        <p:spPr bwMode="auto">
          <a:xfrm>
            <a:off x="366610" y="2290225"/>
            <a:ext cx="11413014"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defRPr>
            </a:lvl9p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Functional Testing:</a:t>
            </a:r>
            <a:endPar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4572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rPr>
              <a:t>		Functional testing focuses on verifying that each component of the system performs its intended functions accurately. </a:t>
            </a:r>
            <a:endParaRPr kumimoji="0" lang="en-US" sz="1800" b="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457200" rtl="0" eaLnBrk="1" fontAlgn="auto" latinLnBrk="0" hangingPunct="1">
              <a:lnSpc>
                <a:spcPct val="100000"/>
              </a:lnSpc>
              <a:spcBef>
                <a:spcPts val="0"/>
              </a:spcBef>
              <a:spcAft>
                <a:spcPts val="0"/>
              </a:spcAft>
              <a:buClrTx/>
              <a:buSzTx/>
              <a:buFontTx/>
              <a:buNone/>
              <a:defRPr/>
            </a:pPr>
            <a:r>
              <a:rPr kumimoji="0" 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Security Testing:</a:t>
            </a:r>
            <a:endPar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4572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rPr>
              <a:t>		Security testing is essential to identify and mitigate potential vulnerabilities within the system that could compromise product authenticity and consumer trust. This involves conducting penetration testing and vulnerability assessments to detect and address any security loopholes. Security testing ensures that the system is robust and resistant to unauthorized access or tampering.</a:t>
            </a:r>
            <a:endParaRPr kumimoji="0" lang="en-US" sz="1800" b="0" i="0" u="none" strike="noStrike" kern="1200" cap="none" spc="0" normalizeH="0" baseline="0" noProof="0" dirty="0">
              <a:ln>
                <a:noFill/>
              </a:ln>
              <a:solidFill>
                <a:srgbClr val="000099"/>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0710" y="356589"/>
            <a:ext cx="9286993" cy="837046"/>
          </a:xfrm>
        </p:spPr>
        <p:txBody>
          <a:bodyPr>
            <a:normAutofit/>
          </a:bodyPr>
          <a:lstStyle/>
          <a:p>
            <a:pPr marL="0" indent="0" algn="ctr">
              <a:buNone/>
            </a:pPr>
            <a:r>
              <a:rPr lang="en-IN" sz="3200" b="1" dirty="0">
                <a:solidFill>
                  <a:srgbClr val="6666FF"/>
                </a:solidFill>
              </a:rPr>
              <a:t>RESULTS</a:t>
            </a:r>
            <a:endParaRPr lang="en-IN" sz="3200" b="1" dirty="0">
              <a:solidFill>
                <a:srgbClr val="6666FF"/>
              </a:solidFill>
            </a:endParaRPr>
          </a:p>
        </p:txBody>
      </p:sp>
      <p:sp>
        <p:nvSpPr>
          <p:cNvPr id="5" name="TextBox 4"/>
          <p:cNvSpPr txBox="1"/>
          <p:nvPr/>
        </p:nvSpPr>
        <p:spPr>
          <a:xfrm>
            <a:off x="1394013" y="4820314"/>
            <a:ext cx="7995573" cy="1573280"/>
          </a:xfrm>
          <a:prstGeom prst="rect">
            <a:avLst/>
          </a:prstGeom>
          <a:noFill/>
        </p:spPr>
        <p:txBody>
          <a:bodyPr wrap="square" rtlCol="0">
            <a:spAutoFit/>
          </a:bodyPr>
          <a:lstStyle/>
          <a:p>
            <a:pPr algn="just"/>
            <a:endParaRPr lang="en-US" sz="1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2428582" y="1301452"/>
            <a:ext cx="7204206" cy="5199959"/>
          </a:xfrm>
          <a:prstGeom prst="rect">
            <a:avLst/>
          </a:prstGeom>
        </p:spPr>
      </p:pic>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8702" y="166515"/>
            <a:ext cx="9286993" cy="837046"/>
          </a:xfrm>
        </p:spPr>
        <p:txBody>
          <a:bodyPr>
            <a:normAutofit/>
          </a:bodyPr>
          <a:lstStyle/>
          <a:p>
            <a:pPr marL="0" indent="0" algn="ctr">
              <a:buNone/>
            </a:pPr>
            <a:r>
              <a:rPr lang="en-IN" sz="3200" b="1" dirty="0">
                <a:solidFill>
                  <a:srgbClr val="6666FF"/>
                </a:solidFill>
              </a:rPr>
              <a:t>RESULTS</a:t>
            </a:r>
            <a:endParaRPr lang="en-IN" sz="3200" b="1" dirty="0">
              <a:solidFill>
                <a:srgbClr val="6666FF"/>
              </a:solidFill>
            </a:endParaRPr>
          </a:p>
        </p:txBody>
      </p:sp>
      <p:sp>
        <p:nvSpPr>
          <p:cNvPr id="5" name="TextBox 4"/>
          <p:cNvSpPr txBox="1"/>
          <p:nvPr/>
        </p:nvSpPr>
        <p:spPr>
          <a:xfrm>
            <a:off x="1394013" y="4820314"/>
            <a:ext cx="7995573" cy="1573280"/>
          </a:xfrm>
          <a:prstGeom prst="rect">
            <a:avLst/>
          </a:prstGeom>
          <a:noFill/>
        </p:spPr>
        <p:txBody>
          <a:bodyPr wrap="square" rtlCol="0">
            <a:spAutoFit/>
          </a:bodyPr>
          <a:lstStyle/>
          <a:p>
            <a:pPr algn="just"/>
            <a:endParaRPr lang="en-US" sz="16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3248242" y="961469"/>
            <a:ext cx="5943600" cy="5730016"/>
          </a:xfrm>
          <a:prstGeom prst="rect">
            <a:avLst/>
          </a:prstGeom>
        </p:spPr>
      </p:pic>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735" y="292506"/>
            <a:ext cx="9286993" cy="837046"/>
          </a:xfrm>
        </p:spPr>
        <p:txBody>
          <a:bodyPr>
            <a:normAutofit/>
          </a:bodyPr>
          <a:lstStyle/>
          <a:p>
            <a:pPr marL="0" indent="0" algn="ctr">
              <a:buNone/>
            </a:pPr>
            <a:r>
              <a:rPr lang="en-IN" sz="3200" b="1" dirty="0">
                <a:solidFill>
                  <a:srgbClr val="6666FF"/>
                </a:solidFill>
              </a:rPr>
              <a:t>RESULTS</a:t>
            </a:r>
            <a:endParaRPr lang="en-IN" sz="3200" b="1" dirty="0">
              <a:solidFill>
                <a:srgbClr val="6666FF"/>
              </a:solidFill>
            </a:endParaRPr>
          </a:p>
        </p:txBody>
      </p:sp>
      <p:sp>
        <p:nvSpPr>
          <p:cNvPr id="5" name="TextBox 4"/>
          <p:cNvSpPr txBox="1"/>
          <p:nvPr/>
        </p:nvSpPr>
        <p:spPr>
          <a:xfrm>
            <a:off x="1394013" y="4820314"/>
            <a:ext cx="7995573" cy="1573280"/>
          </a:xfrm>
          <a:prstGeom prst="rect">
            <a:avLst/>
          </a:prstGeom>
          <a:noFill/>
        </p:spPr>
        <p:txBody>
          <a:bodyPr wrap="square" rtlCol="0">
            <a:spAutoFit/>
          </a:bodyPr>
          <a:lstStyle/>
          <a:p>
            <a:pPr algn="just"/>
            <a:endParaRPr lang="en-US" sz="1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3124200" y="1129553"/>
            <a:ext cx="5943600" cy="5435942"/>
          </a:xfrm>
          <a:prstGeom prst="rect">
            <a:avLst/>
          </a:prstGeom>
        </p:spPr>
      </p:pic>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013" y="244960"/>
            <a:ext cx="9286993" cy="837046"/>
          </a:xfrm>
        </p:spPr>
        <p:txBody>
          <a:bodyPr>
            <a:normAutofit/>
          </a:bodyPr>
          <a:lstStyle/>
          <a:p>
            <a:pPr marL="0" indent="0" algn="ctr">
              <a:buNone/>
            </a:pPr>
            <a:r>
              <a:rPr lang="en-IN" sz="3200" b="1" dirty="0">
                <a:solidFill>
                  <a:srgbClr val="6666FF"/>
                </a:solidFill>
              </a:rPr>
              <a:t>RESULTS</a:t>
            </a:r>
            <a:endParaRPr lang="en-IN" sz="3200" b="1" dirty="0">
              <a:solidFill>
                <a:srgbClr val="6666FF"/>
              </a:solidFill>
            </a:endParaRPr>
          </a:p>
        </p:txBody>
      </p:sp>
      <p:sp>
        <p:nvSpPr>
          <p:cNvPr id="5" name="TextBox 4"/>
          <p:cNvSpPr txBox="1"/>
          <p:nvPr/>
        </p:nvSpPr>
        <p:spPr>
          <a:xfrm>
            <a:off x="1394013" y="4820314"/>
            <a:ext cx="7995573" cy="1573280"/>
          </a:xfrm>
          <a:prstGeom prst="rect">
            <a:avLst/>
          </a:prstGeom>
          <a:noFill/>
        </p:spPr>
        <p:txBody>
          <a:bodyPr wrap="square" rtlCol="0">
            <a:spAutoFit/>
          </a:bodyPr>
          <a:lstStyle/>
          <a:p>
            <a:pPr algn="just"/>
            <a:endParaRPr lang="en-US" sz="16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3737610" y="1196788"/>
            <a:ext cx="4716780" cy="5311588"/>
          </a:xfrm>
          <a:prstGeom prst="rect">
            <a:avLst/>
          </a:prstGeom>
        </p:spPr>
      </p:pic>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013" y="213168"/>
            <a:ext cx="9286993" cy="837046"/>
          </a:xfrm>
        </p:spPr>
        <p:txBody>
          <a:bodyPr>
            <a:normAutofit/>
          </a:bodyPr>
          <a:lstStyle/>
          <a:p>
            <a:pPr marL="0" indent="0" algn="ctr">
              <a:buNone/>
            </a:pPr>
            <a:r>
              <a:rPr lang="en-IN" sz="3200" b="1" dirty="0">
                <a:solidFill>
                  <a:srgbClr val="6666FF"/>
                </a:solidFill>
              </a:rPr>
              <a:t>RESULTS</a:t>
            </a:r>
            <a:endParaRPr lang="en-IN" sz="3200" b="1" dirty="0">
              <a:solidFill>
                <a:srgbClr val="6666FF"/>
              </a:solidFill>
            </a:endParaRPr>
          </a:p>
        </p:txBody>
      </p:sp>
      <p:sp>
        <p:nvSpPr>
          <p:cNvPr id="5" name="TextBox 4"/>
          <p:cNvSpPr txBox="1"/>
          <p:nvPr/>
        </p:nvSpPr>
        <p:spPr>
          <a:xfrm>
            <a:off x="1394013" y="4820314"/>
            <a:ext cx="7995573" cy="1573280"/>
          </a:xfrm>
          <a:prstGeom prst="rect">
            <a:avLst/>
          </a:prstGeom>
          <a:noFill/>
        </p:spPr>
        <p:txBody>
          <a:bodyPr wrap="square" rtlCol="0">
            <a:spAutoFit/>
          </a:bodyPr>
          <a:lstStyle/>
          <a:p>
            <a:pPr algn="just"/>
            <a:endParaRPr lang="en-US" sz="1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3124200" y="1210234"/>
            <a:ext cx="5943600" cy="5532195"/>
          </a:xfrm>
          <a:prstGeom prst="rect">
            <a:avLst/>
          </a:prstGeom>
        </p:spPr>
      </p:pic>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013" y="255494"/>
            <a:ext cx="9286993" cy="837046"/>
          </a:xfrm>
        </p:spPr>
        <p:txBody>
          <a:bodyPr>
            <a:normAutofit/>
          </a:bodyPr>
          <a:lstStyle/>
          <a:p>
            <a:pPr marL="0" indent="0" algn="ctr">
              <a:buNone/>
            </a:pPr>
            <a:r>
              <a:rPr lang="en-IN" sz="3200" b="1" dirty="0">
                <a:solidFill>
                  <a:srgbClr val="6666FF"/>
                </a:solidFill>
              </a:rPr>
              <a:t>RESULTS</a:t>
            </a:r>
            <a:endParaRPr lang="en-IN" sz="3200" b="1" dirty="0">
              <a:solidFill>
                <a:srgbClr val="6666FF"/>
              </a:solidFill>
            </a:endParaRPr>
          </a:p>
        </p:txBody>
      </p:sp>
      <p:sp>
        <p:nvSpPr>
          <p:cNvPr id="5" name="TextBox 4"/>
          <p:cNvSpPr txBox="1"/>
          <p:nvPr/>
        </p:nvSpPr>
        <p:spPr>
          <a:xfrm>
            <a:off x="1394013" y="4820314"/>
            <a:ext cx="7995573" cy="1573280"/>
          </a:xfrm>
          <a:prstGeom prst="rect">
            <a:avLst/>
          </a:prstGeom>
          <a:noFill/>
        </p:spPr>
        <p:txBody>
          <a:bodyPr wrap="square" rtlCol="0">
            <a:spAutoFit/>
          </a:bodyPr>
          <a:lstStyle/>
          <a:p>
            <a:pPr algn="just"/>
            <a:endParaRPr lang="en-US" sz="16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3124200" y="1237129"/>
            <a:ext cx="5943600" cy="5365377"/>
          </a:xfrm>
          <a:prstGeom prst="rect">
            <a:avLst/>
          </a:prstGeom>
        </p:spPr>
      </p:pic>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609600" y="989045"/>
            <a:ext cx="11152094" cy="5579706"/>
          </a:xfrm>
        </p:spPr>
        <p:txBody>
          <a:bodyPr>
            <a:noAutofit/>
          </a:bodyPr>
          <a:lstStyle/>
          <a:p>
            <a:pPr marL="45720" indent="0" algn="just">
              <a:lnSpc>
                <a:spcPct val="150000"/>
              </a:lnSpc>
              <a:buNone/>
            </a:pPr>
            <a:r>
              <a:rPr lang="en-US" sz="1800" dirty="0">
                <a:latin typeface="Times New Roman" panose="02020603050405020304" pitchFamily="18" charset="0"/>
                <a:cs typeface="Times New Roman" panose="02020603050405020304" pitchFamily="18" charset="0"/>
              </a:rPr>
              <a:t>In conclusion, the novel web framework for cervical cancer detection powered by machine learning represents a significant breakthrough in early diagnosis and healthcare accessibility. By integrating advanced machine learning algorithms with a user-friendly web interface, this system enhances the accuracy and efficiency of cervical cancer detection, reducing the dependency on traditional, time-consuming diagnostic methods. The framework’s ability to process and analyze medical data swiftly enables timely interventions, ultimately improving patient outcomes. Additionally, its web-based nature ensures wider accessibility, allowing healthcare professionals and patients from remote or underserved areas to benefit from advanced diagnostic tools. The incorporation of automation minimizes human error, making the detection process more reliable. As technology continues to evolve, this system can be further optimized with deep learning advancements and integration with electronic health records for seamless medical assessments</a:t>
            </a:r>
            <a:endParaRPr lang="en-US" sz="1800" dirty="0">
              <a:latin typeface="Times New Roman" panose="02020603050405020304" pitchFamily="18" charset="0"/>
              <a:cs typeface="Times New Roman" panose="02020603050405020304" pitchFamily="18" charset="0"/>
            </a:endParaRPr>
          </a:p>
          <a:p>
            <a:pPr marL="4572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45720"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sp>
        <p:nvSpPr>
          <p:cNvPr id="4" name="Title 1"/>
          <p:cNvSpPr txBox="1"/>
          <p:nvPr/>
        </p:nvSpPr>
        <p:spPr>
          <a:xfrm>
            <a:off x="0" y="111967"/>
            <a:ext cx="11555505" cy="809798"/>
          </a:xfrm>
          <a:prstGeom prst="rect">
            <a:avLst/>
          </a:prstGeom>
          <a:effectLst/>
        </p:spPr>
        <p:txBody>
          <a:bodyPr vert="horz" lIns="91440" tIns="45720" rIns="91440" bIns="45720" rtlCol="0" anchor="t" anchorCtr="0">
            <a:no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ctr">
              <a:buFont typeface="Georgia" panose="02040502050405020303" pitchFamily="18" charset="0"/>
              <a:buNone/>
            </a:pPr>
            <a:r>
              <a:rPr lang="en-IN" sz="3600" dirty="0"/>
              <a:t>Conclusion</a:t>
            </a:r>
            <a:endParaRPr lang="en-IN" sz="3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976381"/>
            <a:ext cx="12060000" cy="4653646"/>
          </a:xfrm>
          <a:prstGeom prst="rect">
            <a:avLst/>
          </a:prstGeom>
          <a:noFill/>
          <a:ln w="3175">
            <a:solidFill>
              <a:schemeClr val="accent1"/>
            </a:solidFill>
          </a:ln>
        </p:spPr>
        <p:txBody>
          <a:bodyPr wrap="square" numCol="1" rtlCol="0">
            <a:spAutoFit/>
          </a:bodyPr>
          <a:lstStyle/>
          <a:p>
            <a:pPr marL="457200" indent="-457200" algn="just">
              <a:lnSpc>
                <a:spcPct val="150000"/>
              </a:lnSpc>
              <a:buFont typeface="+mj-lt"/>
              <a:buAutoNum type="arabicPeriod"/>
            </a:pPr>
            <a:r>
              <a:rPr lang="en-US" spc="0" dirty="0">
                <a:effectLst/>
                <a:latin typeface="Times New Roman" panose="02020603050405020304" pitchFamily="18" charset="0"/>
                <a:ea typeface="Times New Roman" panose="02020603050405020304" pitchFamily="18" charset="0"/>
                <a:cs typeface="Times New Roman" panose="02020603050405020304" pitchFamily="18" charset="0"/>
              </a:rPr>
              <a:t>A. Gupta, P. Sharma, and R. Kumar, “Deep learning-based cervical cancer diagnosis: A comprehensive review,” </a:t>
            </a:r>
            <a:r>
              <a:rPr lang="en-US" i="1" spc="0" dirty="0">
                <a:effectLst/>
                <a:latin typeface="Times New Roman" panose="02020603050405020304" pitchFamily="18" charset="0"/>
                <a:ea typeface="Times New Roman" panose="02020603050405020304" pitchFamily="18" charset="0"/>
                <a:cs typeface="Times New Roman" panose="02020603050405020304" pitchFamily="18" charset="0"/>
              </a:rPr>
              <a:t>Journal of Medical Imaging and Health Informatics</a:t>
            </a:r>
            <a:r>
              <a:rPr lang="en-US" spc="0" dirty="0">
                <a:effectLst/>
                <a:latin typeface="Times New Roman" panose="02020603050405020304" pitchFamily="18" charset="0"/>
                <a:ea typeface="Times New Roman" panose="02020603050405020304" pitchFamily="18" charset="0"/>
                <a:cs typeface="Times New Roman" panose="02020603050405020304" pitchFamily="18" charset="0"/>
              </a:rPr>
              <a:t>, vol. 11, no. 2, pp. 45–60, 2021.</a:t>
            </a:r>
            <a:endParaRPr lang="en-US" spc="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US" spc="0" dirty="0">
                <a:effectLst/>
                <a:latin typeface="Times New Roman" panose="02020603050405020304" pitchFamily="18" charset="0"/>
                <a:ea typeface="Times New Roman" panose="02020603050405020304" pitchFamily="18" charset="0"/>
                <a:cs typeface="Times New Roman" panose="02020603050405020304" pitchFamily="18" charset="0"/>
              </a:rPr>
              <a:t>S. Patel and M. Banerjee, “Hybrid machine learning approach for cervical cancer detection using feature selection,” </a:t>
            </a:r>
            <a:r>
              <a:rPr lang="en-US" i="1" spc="0" dirty="0">
                <a:effectLst/>
                <a:latin typeface="Times New Roman" panose="02020603050405020304" pitchFamily="18" charset="0"/>
                <a:ea typeface="Times New Roman" panose="02020603050405020304" pitchFamily="18" charset="0"/>
                <a:cs typeface="Times New Roman" panose="02020603050405020304" pitchFamily="18" charset="0"/>
              </a:rPr>
              <a:t>International Journal of Data Science and Analytics</a:t>
            </a:r>
            <a:r>
              <a:rPr lang="en-US" spc="0" dirty="0">
                <a:effectLst/>
                <a:latin typeface="Times New Roman" panose="02020603050405020304" pitchFamily="18" charset="0"/>
                <a:ea typeface="Times New Roman" panose="02020603050405020304" pitchFamily="18" charset="0"/>
                <a:cs typeface="Times New Roman" panose="02020603050405020304" pitchFamily="18" charset="0"/>
              </a:rPr>
              <a:t>, vol. 9, no. 3, pp. 150–162, 2020.</a:t>
            </a:r>
            <a:endParaRPr lang="en-US" spc="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US" spc="0" dirty="0">
                <a:effectLst/>
                <a:latin typeface="Times New Roman" panose="02020603050405020304" pitchFamily="18" charset="0"/>
                <a:ea typeface="Times New Roman" panose="02020603050405020304" pitchFamily="18" charset="0"/>
                <a:cs typeface="Times New Roman" panose="02020603050405020304" pitchFamily="18" charset="0"/>
              </a:rPr>
              <a:t>K. Lee, T. Nguyen, and A. Smith, “Web-based cervical cancer prediction system using ensemble learning techniques,” in </a:t>
            </a:r>
            <a:r>
              <a:rPr lang="en-US" i="1" spc="0" dirty="0">
                <a:effectLst/>
                <a:latin typeface="Times New Roman" panose="02020603050405020304" pitchFamily="18" charset="0"/>
                <a:ea typeface="Times New Roman" panose="02020603050405020304" pitchFamily="18" charset="0"/>
                <a:cs typeface="Times New Roman" panose="02020603050405020304" pitchFamily="18" charset="0"/>
              </a:rPr>
              <a:t>Proceedings of the ACM Symposium on Health Informatics</a:t>
            </a:r>
            <a:r>
              <a:rPr lang="en-US" spc="0" dirty="0">
                <a:effectLst/>
                <a:latin typeface="Times New Roman" panose="02020603050405020304" pitchFamily="18" charset="0"/>
                <a:ea typeface="Times New Roman" panose="02020603050405020304" pitchFamily="18" charset="0"/>
                <a:cs typeface="Times New Roman" panose="02020603050405020304" pitchFamily="18" charset="0"/>
              </a:rPr>
              <a:t>, pp. 123–134, 2022.</a:t>
            </a:r>
            <a:endParaRPr lang="en-US" spc="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US" spc="0" dirty="0">
                <a:effectLst/>
                <a:latin typeface="Times New Roman" panose="02020603050405020304" pitchFamily="18" charset="0"/>
                <a:ea typeface="Times New Roman" panose="02020603050405020304" pitchFamily="18" charset="0"/>
                <a:cs typeface="Times New Roman" panose="02020603050405020304" pitchFamily="18" charset="0"/>
              </a:rPr>
              <a:t>R. Ahmed, L. Wang, and X. Zhao, “Automated cervical cancer detection using transfer learning on pre-trained networks,” </a:t>
            </a:r>
            <a:r>
              <a:rPr lang="en-US" i="1" spc="0" dirty="0">
                <a:effectLst/>
                <a:latin typeface="Times New Roman" panose="02020603050405020304" pitchFamily="18" charset="0"/>
                <a:ea typeface="Times New Roman" panose="02020603050405020304" pitchFamily="18" charset="0"/>
                <a:cs typeface="Times New Roman" panose="02020603050405020304" pitchFamily="18" charset="0"/>
              </a:rPr>
              <a:t>IEEE Access</a:t>
            </a:r>
            <a:r>
              <a:rPr lang="en-US" spc="0" dirty="0">
                <a:effectLst/>
                <a:latin typeface="Times New Roman" panose="02020603050405020304" pitchFamily="18" charset="0"/>
                <a:ea typeface="Times New Roman" panose="02020603050405020304" pitchFamily="18" charset="0"/>
                <a:cs typeface="Times New Roman" panose="02020603050405020304" pitchFamily="18" charset="0"/>
              </a:rPr>
              <a:t>, vol. 9, pp. 11234–11247, 2021.</a:t>
            </a:r>
            <a:endParaRPr lang="en-US" spc="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US" spc="0" dirty="0">
                <a:effectLst/>
                <a:latin typeface="Times New Roman" panose="02020603050405020304" pitchFamily="18" charset="0"/>
                <a:ea typeface="Times New Roman" panose="02020603050405020304" pitchFamily="18" charset="0"/>
                <a:cs typeface="Times New Roman" panose="02020603050405020304" pitchFamily="18" charset="0"/>
              </a:rPr>
              <a:t>J. David, H. Kim, and S. Clark, “AI-powered mobile application for cervical cancer risk assessment,” </a:t>
            </a:r>
            <a:r>
              <a:rPr lang="en-US" i="1" spc="0" dirty="0">
                <a:effectLst/>
                <a:latin typeface="Times New Roman" panose="02020603050405020304" pitchFamily="18" charset="0"/>
                <a:ea typeface="Times New Roman" panose="02020603050405020304" pitchFamily="18" charset="0"/>
                <a:cs typeface="Times New Roman" panose="02020603050405020304" pitchFamily="18" charset="0"/>
              </a:rPr>
              <a:t>Mobile Health Technology Journal</a:t>
            </a:r>
            <a:r>
              <a:rPr lang="en-US" spc="0" dirty="0">
                <a:effectLst/>
                <a:latin typeface="Times New Roman" panose="02020603050405020304" pitchFamily="18" charset="0"/>
                <a:ea typeface="Times New Roman" panose="02020603050405020304" pitchFamily="18" charset="0"/>
                <a:cs typeface="Times New Roman" panose="02020603050405020304" pitchFamily="18" charset="0"/>
              </a:rPr>
              <a:t>, vol. 7, no. 4, pp. 321–334, 2020.</a:t>
            </a:r>
            <a:endParaRPr lang="en-US" spc="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81280" y="77833"/>
            <a:ext cx="12029440" cy="705287"/>
          </a:xfrm>
          <a:prstGeom prst="rect">
            <a:avLst/>
          </a:prstGeom>
          <a:ln w="3175">
            <a:solidFill>
              <a:schemeClr val="accent1"/>
            </a:solidFill>
          </a:ln>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l">
              <a:buFont typeface="Georgia" panose="02040502050405020303" pitchFamily="18" charset="0"/>
              <a:buNone/>
            </a:pPr>
            <a:r>
              <a:rPr lang="en-US" sz="3200" dirty="0">
                <a:solidFill>
                  <a:srgbClr val="6666FF"/>
                </a:solidFill>
              </a:rPr>
              <a:t> </a:t>
            </a:r>
            <a:r>
              <a:rPr lang="en-US" sz="2800" dirty="0">
                <a:solidFill>
                  <a:schemeClr val="bg2">
                    <a:lumMod val="50000"/>
                  </a:schemeClr>
                </a:solidFill>
              </a:rPr>
              <a:t>REFERENCES</a:t>
            </a:r>
            <a:endParaRPr lang="en-IN" sz="3200" dirty="0">
              <a:solidFill>
                <a:schemeClr val="bg2">
                  <a:lumMod val="50000"/>
                </a:schemeClr>
              </a:solidFill>
            </a:endParaRPr>
          </a:p>
        </p:txBody>
      </p:sp>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827998"/>
            <a:ext cx="12192000" cy="92333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Any Queries?</a:t>
            </a:r>
            <a:endPar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57139" y="2707386"/>
            <a:ext cx="12192000" cy="92333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5400" b="1" cap="none" spc="0" dirty="0">
                <a:ln w="11430"/>
                <a:solidFill>
                  <a:schemeClr val="bg2">
                    <a:lumMod val="50000"/>
                  </a:schemeClr>
                </a:solidFill>
                <a:effectLst>
                  <a:outerShdw blurRad="80000" dist="40000" dir="5040000" algn="tl">
                    <a:srgbClr val="000000">
                      <a:alpha val="30000"/>
                    </a:srgbClr>
                  </a:outerShdw>
                </a:effectLst>
              </a:rPr>
              <a:t>														</a:t>
            </a:r>
            <a:r>
              <a:rPr lang="en-US" sz="5400" b="1" dirty="0">
                <a:ln w="11430"/>
                <a:solidFill>
                  <a:schemeClr val="bg2">
                    <a:lumMod val="50000"/>
                  </a:schemeClr>
                </a:solidFill>
                <a:effectLst>
                  <a:outerShdw blurRad="80000" dist="40000" dir="5040000" algn="tl">
                    <a:srgbClr val="000000">
                      <a:alpha val="30000"/>
                    </a:srgbClr>
                  </a:outerShdw>
                </a:effectLst>
              </a:rPr>
              <a:t> </a:t>
            </a:r>
            <a:r>
              <a:rPr lang="en-US" sz="5400" b="1" cap="none" spc="0" dirty="0">
                <a:ln w="11430"/>
                <a:solidFill>
                  <a:schemeClr val="bg2">
                    <a:lumMod val="50000"/>
                  </a:schemeClr>
                </a:solidFill>
                <a:effectLst>
                  <a:outerShdw blurRad="80000" dist="40000" dir="5040000" algn="tl">
                    <a:srgbClr val="000000">
                      <a:alpha val="30000"/>
                    </a:srgbClr>
                  </a:outerShdw>
                </a:effectLst>
              </a:rPr>
              <a:t>Thanking You</a:t>
            </a:r>
            <a:endParaRPr lang="en-US" sz="5400" b="1" cap="none" spc="0" dirty="0">
              <a:ln w="11430"/>
              <a:solidFill>
                <a:schemeClr val="bg2">
                  <a:lumMod val="50000"/>
                </a:schemeClr>
              </a:solidFill>
              <a:effectLst>
                <a:outerShdw blurRad="80000" dist="40000" dir="5040000" algn="tl">
                  <a:srgbClr val="000000">
                    <a:alpha val="30000"/>
                  </a:srgbClr>
                </a:outerShdw>
              </a:effectLst>
            </a:endParaRPr>
          </a:p>
        </p:txBody>
      </p:sp>
      <p:sp>
        <p:nvSpPr>
          <p:cNvPr id="2" name="TextBox 1"/>
          <p:cNvSpPr txBox="1"/>
          <p:nvPr/>
        </p:nvSpPr>
        <p:spPr>
          <a:xfrm>
            <a:off x="355002" y="403422"/>
            <a:ext cx="11381591" cy="6051166"/>
          </a:xfrm>
          <a:prstGeom prst="rect">
            <a:avLst/>
          </a:prstGeom>
          <a:noFill/>
          <a:ln w="12700">
            <a:solidFill>
              <a:schemeClr val="accent1"/>
            </a:solidFill>
          </a:ln>
        </p:spPr>
        <p:txBody>
          <a:bodyPr wrap="square" rtlCol="0">
            <a:spAutoFit/>
          </a:bodyPr>
          <a:lstStyle/>
          <a:p>
            <a:endParaRPr lang="en-IN" dirty="0"/>
          </a:p>
        </p:txBody>
      </p:sp>
    </p:spTree>
  </p:cSld>
  <p:clrMapOvr>
    <a:masterClrMapping/>
  </p:clrMapOvr>
  <p:transition spd="slow">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aveform">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AITS</Template>
  <TotalTime>0</TotalTime>
  <Words>14936</Words>
  <Application>WPS Slides</Application>
  <PresentationFormat>Widescreen</PresentationFormat>
  <Paragraphs>506</Paragraphs>
  <Slides>38</Slides>
  <Notes>0</Notes>
  <HiddenSlides>0</HiddenSlides>
  <MMClips>0</MMClips>
  <ScaleCrop>false</ScaleCrop>
  <HeadingPairs>
    <vt:vector size="6" baseType="variant">
      <vt:variant>
        <vt:lpstr>已用的字体</vt:lpstr>
      </vt:variant>
      <vt:variant>
        <vt:i4>20</vt:i4>
      </vt:variant>
      <vt:variant>
        <vt:lpstr>主题</vt:lpstr>
      </vt:variant>
      <vt:variant>
        <vt:i4>5</vt:i4>
      </vt:variant>
      <vt:variant>
        <vt:lpstr>幻灯片标题</vt:lpstr>
      </vt:variant>
      <vt:variant>
        <vt:i4>38</vt:i4>
      </vt:variant>
    </vt:vector>
  </HeadingPairs>
  <TitlesOfParts>
    <vt:vector size="63" baseType="lpstr">
      <vt:lpstr>Arial</vt:lpstr>
      <vt:lpstr>SimSun</vt:lpstr>
      <vt:lpstr>Wingdings</vt:lpstr>
      <vt:lpstr>Wingdings</vt:lpstr>
      <vt:lpstr>Wingdings 2</vt:lpstr>
      <vt:lpstr>Wingdings 3</vt:lpstr>
      <vt:lpstr>Symbol</vt:lpstr>
      <vt:lpstr>Georgia</vt:lpstr>
      <vt:lpstr>Algerian</vt:lpstr>
      <vt:lpstr>Arial Black</vt:lpstr>
      <vt:lpstr>Times New Roman</vt:lpstr>
      <vt:lpstr>Calibri</vt:lpstr>
      <vt:lpstr>Tahoma</vt:lpstr>
      <vt:lpstr>Trebuchet MS</vt:lpstr>
      <vt:lpstr>Microsoft YaHei</vt:lpstr>
      <vt:lpstr>Arial Unicode MS</vt:lpstr>
      <vt:lpstr>Corbel</vt:lpstr>
      <vt:lpstr>Consolas</vt:lpstr>
      <vt:lpstr>Arial Narrow</vt:lpstr>
      <vt:lpstr>Candara</vt:lpstr>
      <vt:lpstr>Metro</vt:lpstr>
      <vt:lpstr>Horizon</vt:lpstr>
      <vt:lpstr>Civic</vt:lpstr>
      <vt:lpstr>Waveform</vt:lpstr>
      <vt:lpstr>Slipstream</vt:lpstr>
      <vt:lpstr>ANNAMACHARYA INSTITUTE OF TECHNOLOGY AND SCIENCES::TIRUPATI (AUTONOMOUS) Department of Artificial Intelligence A.Y.: 2024-2025 FINAL REVIEW   A Novel Web Framework for Cervical Cancer Detection System A Machine Learning Breakthrough   </vt:lpstr>
      <vt:lpstr> ABSTRACT</vt:lpstr>
      <vt:lpstr>PowerPoint 演示文稿</vt:lpstr>
      <vt:lpstr> RELATED WORKS (EXISTING)</vt:lpstr>
      <vt:lpstr> RELATED WORKS (EXISTING)   Continue… </vt:lpstr>
      <vt:lpstr>PowerPoint 演示文稿</vt:lpstr>
      <vt:lpstr>PowerPoint 演示文稿</vt:lpstr>
      <vt:lpstr>PowerPoint 演示文稿</vt:lpstr>
      <vt:lpstr>ANALYSIS AND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IMPLEMENTATION</vt:lpstr>
      <vt:lpstr>IMPLEMENTATION</vt:lpstr>
      <vt:lpstr>IMPLEMENTATION</vt:lpstr>
      <vt:lpstr>IMPLEMENTATION</vt:lpstr>
      <vt:lpstr>TESTING</vt:lpstr>
      <vt:lpstr>TESTING</vt:lpstr>
      <vt:lpstr>TESTING</vt:lpstr>
      <vt:lpstr>RESULTS</vt:lpstr>
      <vt:lpstr>RESULTS</vt:lpstr>
      <vt:lpstr>RESULTS</vt:lpstr>
      <vt:lpstr>RESULTS</vt:lpstr>
      <vt:lpstr>RESULTS</vt:lpstr>
      <vt:lpstr>RESULTS</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sasi kumar</dc:creator>
  <cp:lastModifiedBy>Alagani Pavithra</cp:lastModifiedBy>
  <cp:revision>168</cp:revision>
  <dcterms:created xsi:type="dcterms:W3CDTF">2021-12-20T13:54:00Z</dcterms:created>
  <dcterms:modified xsi:type="dcterms:W3CDTF">2025-05-09T15:22:11Z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143138F11CD549A5B1636A3C4748758E_12</vt:lpwstr>
  </property>
  <property fmtid="{D5CDD505-2E9C-101B-9397-08002B2CF9AE}" pid="3" name="KSOProductBuildVer">
    <vt:lpwstr>1033-12.2.0.20795</vt:lpwstr>
  </property>
</Properties>
</file>